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 showSpecialPlsOnTitleSld="0">
  <p:sldMasterIdLst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715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80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80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4372d1c2f2_0_0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" name="Google Shape;42;g4372d1c2f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f561627ef_0_0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" name="Google Shape;47;g3f561627e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43dcc2b8e7_0_41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43dcc2b8e7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43dcc2b8e7_0_82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43dcc2b8e7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f561627ef_0_257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f561627ef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867cea07_1_0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f867cea0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Fomentado pela Tableau Research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867cea07_1_11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f867cea07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Fomentado pela Tableau Research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867cea07_1_19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f867cea07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Fomentado pela Tableau Research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867cea07_1_27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f867cea07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Fomentado pela Tableau Research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867cea07_1_35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f867cea07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Fomentado pela Tableau Research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867cea07_1_51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f867cea07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Fomentado pela Tableau Research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867cea07_1_43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f867cea07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Fomentado pela Tableau Research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867cea07_1_60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867cea07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Fomentado pela Tableau Research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867cea07_1_77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f867cea07_1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Fomentado pela Tableau Research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867cea07_1_68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f867cea07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Fomentado pela Tableau Research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43dcc2b8e7_0_95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43dcc2b8e7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 1">
  <p:cSld name="TITLE_1">
    <p:bg>
      <p:bgPr>
        <a:noFill/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Google Shape;9;p2"/>
          <p:cNvCxnSpPr/>
          <p:nvPr/>
        </p:nvCxnSpPr>
        <p:spPr>
          <a:xfrm>
            <a:off x="0" y="1333144"/>
            <a:ext cx="91440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" name="Google Shape;10;p2"/>
          <p:cNvSpPr txBox="1"/>
          <p:nvPr>
            <p:ph type="ctrTitle"/>
          </p:nvPr>
        </p:nvSpPr>
        <p:spPr>
          <a:xfrm>
            <a:off x="150300" y="511874"/>
            <a:ext cx="8843400" cy="8244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50300" y="1420500"/>
            <a:ext cx="8332800" cy="33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None/>
              <a:defRPr b="1" sz="2000">
                <a:solidFill>
                  <a:srgbClr val="43434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738800" y="5380333"/>
            <a:ext cx="4053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434343"/>
                </a:solidFill>
              </a:defRPr>
            </a:lvl1pPr>
            <a:lvl2pPr lvl="1" rtl="0">
              <a:buNone/>
              <a:defRPr>
                <a:solidFill>
                  <a:srgbClr val="434343"/>
                </a:solidFill>
              </a:defRPr>
            </a:lvl2pPr>
            <a:lvl3pPr lvl="2" rtl="0">
              <a:buNone/>
              <a:defRPr>
                <a:solidFill>
                  <a:srgbClr val="434343"/>
                </a:solidFill>
              </a:defRPr>
            </a:lvl3pPr>
            <a:lvl4pPr lvl="3" rtl="0">
              <a:buNone/>
              <a:defRPr>
                <a:solidFill>
                  <a:srgbClr val="434343"/>
                </a:solidFill>
              </a:defRPr>
            </a:lvl4pPr>
            <a:lvl5pPr lvl="4" rtl="0">
              <a:buNone/>
              <a:defRPr>
                <a:solidFill>
                  <a:srgbClr val="434343"/>
                </a:solidFill>
              </a:defRPr>
            </a:lvl5pPr>
            <a:lvl6pPr lvl="5" rtl="0">
              <a:buNone/>
              <a:defRPr>
                <a:solidFill>
                  <a:srgbClr val="434343"/>
                </a:solidFill>
              </a:defRPr>
            </a:lvl6pPr>
            <a:lvl7pPr lvl="6" rtl="0">
              <a:buNone/>
              <a:defRPr>
                <a:solidFill>
                  <a:srgbClr val="434343"/>
                </a:solidFill>
              </a:defRPr>
            </a:lvl7pPr>
            <a:lvl8pPr lvl="7" rtl="0">
              <a:buNone/>
              <a:defRPr>
                <a:solidFill>
                  <a:srgbClr val="434343"/>
                </a:solidFill>
              </a:defRPr>
            </a:lvl8pPr>
            <a:lvl9pPr lvl="8" rtl="0">
              <a:buNone/>
              <a:defRPr>
                <a:solidFill>
                  <a:srgbClr val="434343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3" name="Google Shape;13;p2"/>
          <p:cNvPicPr preferRelativeResize="0"/>
          <p:nvPr/>
        </p:nvPicPr>
        <p:blipFill rotWithShape="1">
          <a:blip r:embed="rId2">
            <a:alphaModFix amt="50000"/>
          </a:blip>
          <a:srcRect b="19432" l="17725" r="1629" t="0"/>
          <a:stretch/>
        </p:blipFill>
        <p:spPr>
          <a:xfrm>
            <a:off x="5512825" y="4057300"/>
            <a:ext cx="3631174" cy="165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 rotWithShape="1">
          <a:blip r:embed="rId3">
            <a:alphaModFix amt="50000"/>
          </a:blip>
          <a:srcRect b="3217" l="0" r="0" t="22121"/>
          <a:stretch/>
        </p:blipFill>
        <p:spPr>
          <a:xfrm rot="10800000">
            <a:off x="0" y="3953472"/>
            <a:ext cx="4502250" cy="176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50625" y="4898376"/>
            <a:ext cx="1793468" cy="82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 rotWithShape="1">
          <a:blip r:embed="rId5">
            <a:alphaModFix amt="50000"/>
          </a:blip>
          <a:srcRect b="-411" l="0" r="19" t="0"/>
          <a:stretch/>
        </p:blipFill>
        <p:spPr>
          <a:xfrm rot="251502">
            <a:off x="2206440" y="4010317"/>
            <a:ext cx="3931074" cy="2018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 1 1">
  <p:cSld name="TITLE_1_1">
    <p:bg>
      <p:bgPr>
        <a:noFill/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Google Shape;18;p3"/>
          <p:cNvCxnSpPr/>
          <p:nvPr/>
        </p:nvCxnSpPr>
        <p:spPr>
          <a:xfrm>
            <a:off x="0" y="3542944"/>
            <a:ext cx="91440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ctrTitle"/>
          </p:nvPr>
        </p:nvSpPr>
        <p:spPr>
          <a:xfrm>
            <a:off x="300800" y="2718575"/>
            <a:ext cx="8843400" cy="8244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300800" y="3613175"/>
            <a:ext cx="8332800" cy="33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None/>
              <a:defRPr b="1" sz="2000">
                <a:solidFill>
                  <a:srgbClr val="43434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738800" y="5481728"/>
            <a:ext cx="405300" cy="2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434343"/>
                </a:solidFill>
              </a:defRPr>
            </a:lvl1pPr>
            <a:lvl2pPr lvl="1" rtl="0">
              <a:buNone/>
              <a:defRPr>
                <a:solidFill>
                  <a:srgbClr val="434343"/>
                </a:solidFill>
              </a:defRPr>
            </a:lvl2pPr>
            <a:lvl3pPr lvl="2" rtl="0">
              <a:buNone/>
              <a:defRPr>
                <a:solidFill>
                  <a:srgbClr val="434343"/>
                </a:solidFill>
              </a:defRPr>
            </a:lvl3pPr>
            <a:lvl4pPr lvl="3" rtl="0">
              <a:buNone/>
              <a:defRPr>
                <a:solidFill>
                  <a:srgbClr val="434343"/>
                </a:solidFill>
              </a:defRPr>
            </a:lvl4pPr>
            <a:lvl5pPr lvl="4" rtl="0">
              <a:buNone/>
              <a:defRPr>
                <a:solidFill>
                  <a:srgbClr val="434343"/>
                </a:solidFill>
              </a:defRPr>
            </a:lvl5pPr>
            <a:lvl6pPr lvl="5" rtl="0">
              <a:buNone/>
              <a:defRPr>
                <a:solidFill>
                  <a:srgbClr val="434343"/>
                </a:solidFill>
              </a:defRPr>
            </a:lvl6pPr>
            <a:lvl7pPr lvl="6" rtl="0">
              <a:buNone/>
              <a:defRPr>
                <a:solidFill>
                  <a:srgbClr val="434343"/>
                </a:solidFill>
              </a:defRPr>
            </a:lvl7pPr>
            <a:lvl8pPr lvl="7" rtl="0">
              <a:buNone/>
              <a:defRPr>
                <a:solidFill>
                  <a:srgbClr val="434343"/>
                </a:solidFill>
              </a:defRPr>
            </a:lvl8pPr>
            <a:lvl9pPr lvl="8" rtl="0">
              <a:buNone/>
              <a:defRPr>
                <a:solidFill>
                  <a:srgbClr val="434343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2">
            <a:alphaModFix amt="55000"/>
          </a:blip>
          <a:srcRect b="0" l="0" r="0" t="23564"/>
          <a:stretch/>
        </p:blipFill>
        <p:spPr>
          <a:xfrm>
            <a:off x="3117975" y="-1"/>
            <a:ext cx="6026026" cy="242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 1">
  <p:cSld name="TITLE_AND_BODY_1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8753_paginas.jpg" id="24" name="Google Shape;24;p4"/>
          <p:cNvPicPr preferRelativeResize="0"/>
          <p:nvPr/>
        </p:nvPicPr>
        <p:blipFill rotWithShape="1">
          <a:blip r:embed="rId2">
            <a:alphaModFix/>
          </a:blip>
          <a:srcRect b="0" l="0" r="97196" t="0"/>
          <a:stretch/>
        </p:blipFill>
        <p:spPr>
          <a:xfrm>
            <a:off x="-13855" y="0"/>
            <a:ext cx="213581" cy="5715002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199750" y="784900"/>
            <a:ext cx="8944200" cy="42915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buNone/>
              <a:defRPr b="1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l">
              <a:buNone/>
              <a:defRPr b="1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 algn="l">
              <a:buNone/>
              <a:defRPr b="1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 algn="l">
              <a:buNone/>
              <a:defRPr b="1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 algn="l">
              <a:buNone/>
              <a:defRPr b="1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rtl="0" algn="l">
              <a:buNone/>
              <a:defRPr b="1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rtl="0" algn="l">
              <a:buNone/>
              <a:defRPr b="1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rtl="0" algn="l">
              <a:buNone/>
              <a:defRPr b="1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rtl="0" algn="l">
              <a:buNone/>
              <a:defRPr b="1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28" name="Google Shape;28;p4"/>
          <p:cNvCxnSpPr/>
          <p:nvPr/>
        </p:nvCxnSpPr>
        <p:spPr>
          <a:xfrm>
            <a:off x="-13855" y="484380"/>
            <a:ext cx="9185700" cy="6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8753_paginas.jpg" id="29" name="Google Shape;29;p4"/>
          <p:cNvPicPr preferRelativeResize="0"/>
          <p:nvPr/>
        </p:nvPicPr>
        <p:blipFill rotWithShape="1">
          <a:blip r:embed="rId2">
            <a:alphaModFix/>
          </a:blip>
          <a:srcRect b="4140" l="74950" r="3830" t="84520"/>
          <a:stretch/>
        </p:blipFill>
        <p:spPr>
          <a:xfrm>
            <a:off x="8305825" y="5378975"/>
            <a:ext cx="838177" cy="336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 1 1">
  <p:cSld name="TITLE_AND_BODY_1_1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buNone/>
              <a:defRPr b="1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l">
              <a:buNone/>
              <a:defRPr b="1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 algn="l">
              <a:buNone/>
              <a:defRPr b="1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 algn="l">
              <a:buNone/>
              <a:defRPr b="1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 algn="l">
              <a:buNone/>
              <a:defRPr b="1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rtl="0" algn="l">
              <a:buNone/>
              <a:defRPr b="1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rtl="0" algn="l">
              <a:buNone/>
              <a:defRPr b="1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rtl="0" algn="l">
              <a:buNone/>
              <a:defRPr b="1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rtl="0" algn="l">
              <a:buNone/>
              <a:defRPr b="1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33" name="Google Shape;33;p5"/>
          <p:cNvCxnSpPr/>
          <p:nvPr/>
        </p:nvCxnSpPr>
        <p:spPr>
          <a:xfrm>
            <a:off x="-13855" y="484380"/>
            <a:ext cx="9185700" cy="6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ustom Layout 1">
  <p:cSld name="CUSTOM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56784" y="527761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Layout Facens - DataViz2018.1">
  <p:cSld name="CUSTOM_1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8595300" y="5543125"/>
            <a:ext cx="5487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Sem título-4.jpg" id="38" name="Google Shape;38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7614741" cy="57150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em título-4.jpg" id="39" name="Google Shape;39;p7"/>
          <p:cNvPicPr preferRelativeResize="0"/>
          <p:nvPr/>
        </p:nvPicPr>
        <p:blipFill rotWithShape="1">
          <a:blip r:embed="rId2">
            <a:alphaModFix/>
          </a:blip>
          <a:srcRect b="0" l="79110" r="0" t="0"/>
          <a:stretch/>
        </p:blipFill>
        <p:spPr>
          <a:xfrm>
            <a:off x="7553293" y="0"/>
            <a:ext cx="1590701" cy="5715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99750" y="0"/>
            <a:ext cx="8944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hyperlink" Target="https://vega.github.io/voyager2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hyperlink" Target="https://vega.github.io/voyager2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hyperlink" Target="https://vega.github.io/voyager2/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hyperlink" Target="https://vega.github.io/voyager2/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hyperlink" Target="https://vega.github.io/voyager2/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hyperlink" Target="https://vega.github.io/voyager2/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hyperlink" Target="https://vega.github.io/voyager2/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hyperlink" Target="https://vega.github.io/voyager2/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hyperlink" Target="https://vega.github.io/voyager2/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vega.github.io/voyager2/" TargetMode="External"/><Relationship Id="rId4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95300" y="5543125"/>
            <a:ext cx="548700" cy="17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800"/>
              <a:t>‹#›</a:t>
            </a:fld>
            <a:endParaRPr sz="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 txBox="1"/>
          <p:nvPr>
            <p:ph type="ctrTitle"/>
          </p:nvPr>
        </p:nvSpPr>
        <p:spPr>
          <a:xfrm>
            <a:off x="150300" y="511874"/>
            <a:ext cx="8843400" cy="82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Data Viz Tools</a:t>
            </a:r>
            <a:endParaRPr/>
          </a:p>
        </p:txBody>
      </p:sp>
      <p:sp>
        <p:nvSpPr>
          <p:cNvPr id="50" name="Google Shape;50;p9"/>
          <p:cNvSpPr txBox="1"/>
          <p:nvPr>
            <p:ph idx="1" type="subTitle"/>
          </p:nvPr>
        </p:nvSpPr>
        <p:spPr>
          <a:xfrm>
            <a:off x="150300" y="1420500"/>
            <a:ext cx="8332800" cy="33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738800" y="5380333"/>
            <a:ext cx="405300" cy="33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Nesta aula veremos:</a:t>
            </a:r>
            <a:endParaRPr/>
          </a:p>
        </p:txBody>
      </p:sp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199750" y="784900"/>
            <a:ext cx="8944200" cy="429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pt-BR" sz="1600" strike="sngStrike">
                <a:latin typeface="Calibri"/>
                <a:ea typeface="Calibri"/>
                <a:cs typeface="Calibri"/>
                <a:sym typeface="Calibri"/>
              </a:rPr>
              <a:t>Pandas.plot()</a:t>
            </a:r>
            <a:endParaRPr sz="1600" strike="sngStrike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pt-BR" sz="1600" strike="sngStrike">
                <a:latin typeface="Calibri"/>
                <a:ea typeface="Calibri"/>
                <a:cs typeface="Calibri"/>
                <a:sym typeface="Calibri"/>
              </a:rPr>
              <a:t>Mais sobre variáveis quantitativas contínuas</a:t>
            </a:r>
            <a:endParaRPr sz="1600" strike="sngStrike">
              <a:latin typeface="Calibri"/>
              <a:ea typeface="Calibri"/>
              <a:cs typeface="Calibri"/>
              <a:sym typeface="Calibri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○"/>
            </a:pPr>
            <a:r>
              <a:rPr lang="pt-BR" sz="1600" strike="sngStrike">
                <a:latin typeface="Calibri"/>
                <a:ea typeface="Calibri"/>
                <a:cs typeface="Calibri"/>
                <a:sym typeface="Calibri"/>
              </a:rPr>
              <a:t>Estratégias para definição de classes</a:t>
            </a:r>
            <a:endParaRPr sz="1600" strike="sngStrike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pt-BR" sz="1600" strike="sngStrike">
                <a:latin typeface="Calibri"/>
                <a:ea typeface="Calibri"/>
                <a:cs typeface="Calibri"/>
                <a:sym typeface="Calibri"/>
              </a:rPr>
              <a:t>Tipos de gráficos e elementos de visualização</a:t>
            </a:r>
            <a:endParaRPr sz="1600" strike="sngStrike">
              <a:latin typeface="Calibri"/>
              <a:ea typeface="Calibri"/>
              <a:cs typeface="Calibri"/>
              <a:sym typeface="Calibri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○"/>
            </a:pPr>
            <a:r>
              <a:rPr lang="pt-BR" sz="1600" strike="sngStrike">
                <a:latin typeface="Calibri"/>
                <a:ea typeface="Calibri"/>
                <a:cs typeface="Calibri"/>
                <a:sym typeface="Calibri"/>
              </a:rPr>
              <a:t>Histograma, Curva Densidade, Gráfico de Caixa, Barras de Erro</a:t>
            </a:r>
            <a:endParaRPr sz="1600" strike="sngStrike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pt-BR" sz="1600">
                <a:latin typeface="Calibri"/>
                <a:ea typeface="Calibri"/>
                <a:cs typeface="Calibri"/>
                <a:sym typeface="Calibri"/>
              </a:rPr>
              <a:t>Introdução a Grafos e GDBs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○"/>
            </a:pPr>
            <a:r>
              <a:rPr lang="pt-BR" sz="1600">
                <a:latin typeface="Calibri"/>
                <a:ea typeface="Calibri"/>
                <a:cs typeface="Calibri"/>
                <a:sym typeface="Calibri"/>
              </a:rPr>
              <a:t>Demo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pt-BR" sz="1600">
                <a:latin typeface="Calibri"/>
                <a:ea typeface="Calibri"/>
                <a:cs typeface="Calibri"/>
                <a:sym typeface="Calibri"/>
              </a:rPr>
              <a:t>Ferramentas de visualização parte 1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○"/>
            </a:pPr>
            <a:r>
              <a:rPr lang="pt-BR" sz="1600">
                <a:latin typeface="Calibri"/>
                <a:ea typeface="Calibri"/>
                <a:cs typeface="Calibri"/>
                <a:sym typeface="Calibri"/>
              </a:rPr>
              <a:t>Análise Exploratória: Data Voyager 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○"/>
            </a:pPr>
            <a:r>
              <a:rPr lang="pt-BR" sz="1600">
                <a:latin typeface="Calibri"/>
                <a:ea typeface="Calibri"/>
                <a:cs typeface="Calibri"/>
                <a:sym typeface="Calibri"/>
              </a:rPr>
              <a:t>Streaming: Grafana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pt-BR" sz="1600">
                <a:latin typeface="Calibri"/>
                <a:ea typeface="Calibri"/>
                <a:cs typeface="Calibri"/>
                <a:sym typeface="Calibri"/>
              </a:rPr>
              <a:t>Exercício para casa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"/>
          <p:cNvSpPr txBox="1"/>
          <p:nvPr>
            <p:ph type="ctrTitle"/>
          </p:nvPr>
        </p:nvSpPr>
        <p:spPr>
          <a:xfrm>
            <a:off x="300800" y="2718575"/>
            <a:ext cx="8843400" cy="82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Introdução a Grafos </a:t>
            </a:r>
            <a:endParaRPr/>
          </a:p>
        </p:txBody>
      </p:sp>
      <p:sp>
        <p:nvSpPr>
          <p:cNvPr id="64" name="Google Shape;64;p11"/>
          <p:cNvSpPr txBox="1"/>
          <p:nvPr>
            <p:ph idx="1" type="subTitle"/>
          </p:nvPr>
        </p:nvSpPr>
        <p:spPr>
          <a:xfrm>
            <a:off x="300800" y="3613175"/>
            <a:ext cx="8332800" cy="33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Demo 1  -  neo4j</a:t>
            </a:r>
            <a:endParaRPr/>
          </a:p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738800" y="5481728"/>
            <a:ext cx="405300" cy="23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4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4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 txBox="1"/>
          <p:nvPr>
            <p:ph type="ctrTitle"/>
          </p:nvPr>
        </p:nvSpPr>
        <p:spPr>
          <a:xfrm>
            <a:off x="300800" y="2718575"/>
            <a:ext cx="8843400" cy="82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/>
              <a:t>Data Viz Tools - Voyager 2</a:t>
            </a:r>
            <a:endParaRPr sz="4000"/>
          </a:p>
        </p:txBody>
      </p:sp>
      <p:sp>
        <p:nvSpPr>
          <p:cNvPr id="71" name="Google Shape;71;p12"/>
          <p:cNvSpPr txBox="1"/>
          <p:nvPr>
            <p:ph idx="1" type="subTitle"/>
          </p:nvPr>
        </p:nvSpPr>
        <p:spPr>
          <a:xfrm>
            <a:off x="300800" y="3613175"/>
            <a:ext cx="8332800" cy="33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Demo 2</a:t>
            </a:r>
            <a:endParaRPr/>
          </a:p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8738800" y="5481728"/>
            <a:ext cx="405300" cy="23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solidFill>
                  <a:srgbClr val="434343"/>
                </a:solidFill>
              </a:rPr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Voyager 2</a:t>
            </a:r>
            <a:endParaRPr/>
          </a:p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sz="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" name="Google Shape;79;p13"/>
          <p:cNvPicPr preferRelativeResize="0"/>
          <p:nvPr/>
        </p:nvPicPr>
        <p:blipFill rotWithShape="1">
          <a:blip r:embed="rId3">
            <a:alphaModFix/>
          </a:blip>
          <a:srcRect b="0" l="0" r="0" t="11378"/>
          <a:stretch/>
        </p:blipFill>
        <p:spPr>
          <a:xfrm>
            <a:off x="199725" y="793137"/>
            <a:ext cx="8932496" cy="445034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0" name="Google Shape;80;p13"/>
          <p:cNvSpPr txBox="1"/>
          <p:nvPr/>
        </p:nvSpPr>
        <p:spPr>
          <a:xfrm>
            <a:off x="0" y="484475"/>
            <a:ext cx="91440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4"/>
              </a:rPr>
              <a:t>https://vega.github.io/voyager2/</a:t>
            </a:r>
            <a:r>
              <a:rPr lang="pt-BR"/>
              <a:t>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Voyager 2 - Data Panel</a:t>
            </a:r>
            <a:endParaRPr/>
          </a:p>
        </p:txBody>
      </p:sp>
      <p:sp>
        <p:nvSpPr>
          <p:cNvPr id="86" name="Google Shape;86;p14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sz="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14"/>
          <p:cNvPicPr preferRelativeResize="0"/>
          <p:nvPr/>
        </p:nvPicPr>
        <p:blipFill rotWithShape="1">
          <a:blip r:embed="rId3">
            <a:alphaModFix/>
          </a:blip>
          <a:srcRect b="0" l="0" r="0" t="11378"/>
          <a:stretch/>
        </p:blipFill>
        <p:spPr>
          <a:xfrm>
            <a:off x="199725" y="793137"/>
            <a:ext cx="8932496" cy="445034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8" name="Google Shape;88;p14"/>
          <p:cNvSpPr txBox="1"/>
          <p:nvPr/>
        </p:nvSpPr>
        <p:spPr>
          <a:xfrm>
            <a:off x="0" y="484475"/>
            <a:ext cx="91440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4"/>
              </a:rPr>
              <a:t>https://vega.github.io/voyager2/</a:t>
            </a:r>
            <a:r>
              <a:rPr lang="pt-BR"/>
              <a:t> </a:t>
            </a:r>
            <a:endParaRPr/>
          </a:p>
        </p:txBody>
      </p:sp>
      <p:sp>
        <p:nvSpPr>
          <p:cNvPr id="89" name="Google Shape;89;p14"/>
          <p:cNvSpPr/>
          <p:nvPr/>
        </p:nvSpPr>
        <p:spPr>
          <a:xfrm>
            <a:off x="185300" y="785725"/>
            <a:ext cx="956100" cy="19791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Voyager 2 - Wildcards (parallel charting)</a:t>
            </a:r>
            <a:endParaRPr/>
          </a:p>
        </p:txBody>
      </p:sp>
      <p:sp>
        <p:nvSpPr>
          <p:cNvPr id="95" name="Google Shape;95;p15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sz="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15"/>
          <p:cNvPicPr preferRelativeResize="0"/>
          <p:nvPr/>
        </p:nvPicPr>
        <p:blipFill rotWithShape="1">
          <a:blip r:embed="rId3">
            <a:alphaModFix/>
          </a:blip>
          <a:srcRect b="0" l="0" r="0" t="11378"/>
          <a:stretch/>
        </p:blipFill>
        <p:spPr>
          <a:xfrm>
            <a:off x="199725" y="793137"/>
            <a:ext cx="8932496" cy="445034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7" name="Google Shape;97;p15"/>
          <p:cNvSpPr txBox="1"/>
          <p:nvPr/>
        </p:nvSpPr>
        <p:spPr>
          <a:xfrm>
            <a:off x="0" y="484475"/>
            <a:ext cx="91440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4"/>
              </a:rPr>
              <a:t>https://vega.github.io/voyager2/</a:t>
            </a:r>
            <a:r>
              <a:rPr lang="pt-BR"/>
              <a:t> </a:t>
            </a:r>
            <a:endParaRPr/>
          </a:p>
        </p:txBody>
      </p:sp>
      <p:sp>
        <p:nvSpPr>
          <p:cNvPr id="98" name="Google Shape;98;p15"/>
          <p:cNvSpPr/>
          <p:nvPr/>
        </p:nvSpPr>
        <p:spPr>
          <a:xfrm>
            <a:off x="185300" y="2750025"/>
            <a:ext cx="956100" cy="5631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5"/>
          <p:cNvSpPr/>
          <p:nvPr/>
        </p:nvSpPr>
        <p:spPr>
          <a:xfrm>
            <a:off x="1141400" y="2575950"/>
            <a:ext cx="1134300" cy="3087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Voyager 2 - Specified view (target)</a:t>
            </a:r>
            <a:endParaRPr/>
          </a:p>
        </p:txBody>
      </p:sp>
      <p:sp>
        <p:nvSpPr>
          <p:cNvPr id="105" name="Google Shape;105;p16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sz="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16"/>
          <p:cNvPicPr preferRelativeResize="0"/>
          <p:nvPr/>
        </p:nvPicPr>
        <p:blipFill rotWithShape="1">
          <a:blip r:embed="rId3">
            <a:alphaModFix/>
          </a:blip>
          <a:srcRect b="0" l="0" r="0" t="11378"/>
          <a:stretch/>
        </p:blipFill>
        <p:spPr>
          <a:xfrm>
            <a:off x="199725" y="793137"/>
            <a:ext cx="8932496" cy="445034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7" name="Google Shape;107;p16"/>
          <p:cNvSpPr txBox="1"/>
          <p:nvPr/>
        </p:nvSpPr>
        <p:spPr>
          <a:xfrm>
            <a:off x="0" y="484475"/>
            <a:ext cx="91440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4"/>
              </a:rPr>
              <a:t>https://vega.github.io/voyager2/</a:t>
            </a:r>
            <a:r>
              <a:rPr lang="pt-BR"/>
              <a:t> </a:t>
            </a:r>
            <a:endParaRPr/>
          </a:p>
        </p:txBody>
      </p:sp>
      <p:sp>
        <p:nvSpPr>
          <p:cNvPr id="108" name="Google Shape;108;p16"/>
          <p:cNvSpPr/>
          <p:nvPr/>
        </p:nvSpPr>
        <p:spPr>
          <a:xfrm>
            <a:off x="2253375" y="1022925"/>
            <a:ext cx="6819600" cy="11118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Voyager 2 - Univariate Summaries to Begin With</a:t>
            </a:r>
            <a:endParaRPr/>
          </a:p>
        </p:txBody>
      </p:sp>
      <p:sp>
        <p:nvSpPr>
          <p:cNvPr id="114" name="Google Shape;114;p17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sz="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Google Shape;115;p17"/>
          <p:cNvPicPr preferRelativeResize="0"/>
          <p:nvPr/>
        </p:nvPicPr>
        <p:blipFill rotWithShape="1">
          <a:blip r:embed="rId3">
            <a:alphaModFix/>
          </a:blip>
          <a:srcRect b="0" l="0" r="0" t="11378"/>
          <a:stretch/>
        </p:blipFill>
        <p:spPr>
          <a:xfrm>
            <a:off x="199725" y="793137"/>
            <a:ext cx="8932496" cy="445034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6" name="Google Shape;116;p17"/>
          <p:cNvSpPr txBox="1"/>
          <p:nvPr/>
        </p:nvSpPr>
        <p:spPr>
          <a:xfrm>
            <a:off x="0" y="484475"/>
            <a:ext cx="91440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4"/>
              </a:rPr>
              <a:t>https://vega.github.io/voyager2/</a:t>
            </a:r>
            <a:r>
              <a:rPr lang="pt-BR"/>
              <a:t> </a:t>
            </a:r>
            <a:endParaRPr/>
          </a:p>
        </p:txBody>
      </p:sp>
      <p:sp>
        <p:nvSpPr>
          <p:cNvPr id="117" name="Google Shape;117;p17"/>
          <p:cNvSpPr/>
          <p:nvPr/>
        </p:nvSpPr>
        <p:spPr>
          <a:xfrm>
            <a:off x="2253375" y="2208900"/>
            <a:ext cx="6819600" cy="30984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Voyager 2 - Related views (suggested)</a:t>
            </a:r>
            <a:endParaRPr/>
          </a:p>
        </p:txBody>
      </p:sp>
      <p:sp>
        <p:nvSpPr>
          <p:cNvPr id="123" name="Google Shape;123;p18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sz="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18"/>
          <p:cNvPicPr preferRelativeResize="0"/>
          <p:nvPr/>
        </p:nvPicPr>
        <p:blipFill rotWithShape="1">
          <a:blip r:embed="rId3">
            <a:alphaModFix/>
          </a:blip>
          <a:srcRect b="0" l="0" r="0" t="11378"/>
          <a:stretch/>
        </p:blipFill>
        <p:spPr>
          <a:xfrm>
            <a:off x="199725" y="793137"/>
            <a:ext cx="8932496" cy="445034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5" name="Google Shape;125;p18"/>
          <p:cNvSpPr txBox="1"/>
          <p:nvPr/>
        </p:nvSpPr>
        <p:spPr>
          <a:xfrm>
            <a:off x="0" y="484475"/>
            <a:ext cx="91440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4"/>
              </a:rPr>
              <a:t>https://vega.github.io/voyager2/</a:t>
            </a:r>
            <a:r>
              <a:rPr lang="pt-BR"/>
              <a:t> </a:t>
            </a:r>
            <a:endParaRPr/>
          </a:p>
        </p:txBody>
      </p:sp>
      <p:sp>
        <p:nvSpPr>
          <p:cNvPr id="126" name="Google Shape;126;p18"/>
          <p:cNvSpPr/>
          <p:nvPr/>
        </p:nvSpPr>
        <p:spPr>
          <a:xfrm>
            <a:off x="2253375" y="2208900"/>
            <a:ext cx="6819600" cy="30984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Voyager 2 - Encoding (Visual “Programming”)</a:t>
            </a:r>
            <a:endParaRPr/>
          </a:p>
        </p:txBody>
      </p:sp>
      <p:sp>
        <p:nvSpPr>
          <p:cNvPr id="132" name="Google Shape;132;p19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sz="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19"/>
          <p:cNvPicPr preferRelativeResize="0"/>
          <p:nvPr/>
        </p:nvPicPr>
        <p:blipFill rotWithShape="1">
          <a:blip r:embed="rId3">
            <a:alphaModFix/>
          </a:blip>
          <a:srcRect b="0" l="0" r="0" t="11378"/>
          <a:stretch/>
        </p:blipFill>
        <p:spPr>
          <a:xfrm>
            <a:off x="199725" y="793137"/>
            <a:ext cx="8932496" cy="445034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4" name="Google Shape;134;p19"/>
          <p:cNvSpPr txBox="1"/>
          <p:nvPr/>
        </p:nvSpPr>
        <p:spPr>
          <a:xfrm>
            <a:off x="0" y="484475"/>
            <a:ext cx="91440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4"/>
              </a:rPr>
              <a:t>https://vega.github.io/voyager2/</a:t>
            </a:r>
            <a:r>
              <a:rPr lang="pt-BR"/>
              <a:t> </a:t>
            </a:r>
            <a:endParaRPr/>
          </a:p>
        </p:txBody>
      </p:sp>
      <p:sp>
        <p:nvSpPr>
          <p:cNvPr id="135" name="Google Shape;135;p19"/>
          <p:cNvSpPr/>
          <p:nvPr/>
        </p:nvSpPr>
        <p:spPr>
          <a:xfrm>
            <a:off x="1139975" y="1037750"/>
            <a:ext cx="1143000" cy="18198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Voyager 2 - Filter (common strategies)</a:t>
            </a:r>
            <a:endParaRPr/>
          </a:p>
        </p:txBody>
      </p:sp>
      <p:sp>
        <p:nvSpPr>
          <p:cNvPr id="141" name="Google Shape;141;p20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sz="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20"/>
          <p:cNvPicPr preferRelativeResize="0"/>
          <p:nvPr/>
        </p:nvPicPr>
        <p:blipFill rotWithShape="1">
          <a:blip r:embed="rId3">
            <a:alphaModFix/>
          </a:blip>
          <a:srcRect b="0" l="0" r="0" t="11378"/>
          <a:stretch/>
        </p:blipFill>
        <p:spPr>
          <a:xfrm>
            <a:off x="199725" y="793137"/>
            <a:ext cx="8932496" cy="445034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3" name="Google Shape;143;p20"/>
          <p:cNvSpPr txBox="1"/>
          <p:nvPr/>
        </p:nvSpPr>
        <p:spPr>
          <a:xfrm>
            <a:off x="0" y="484475"/>
            <a:ext cx="91440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4"/>
              </a:rPr>
              <a:t>https://vega.github.io/voyager2/</a:t>
            </a:r>
            <a:r>
              <a:rPr lang="pt-BR"/>
              <a:t> </a:t>
            </a:r>
            <a:endParaRPr/>
          </a:p>
        </p:txBody>
      </p:sp>
      <p:sp>
        <p:nvSpPr>
          <p:cNvPr id="144" name="Google Shape;144;p20"/>
          <p:cNvSpPr/>
          <p:nvPr/>
        </p:nvSpPr>
        <p:spPr>
          <a:xfrm>
            <a:off x="1139975" y="2857500"/>
            <a:ext cx="1143000" cy="7821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1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Voyager 2 - Filter (common strategies)</a:t>
            </a:r>
            <a:endParaRPr/>
          </a:p>
        </p:txBody>
      </p:sp>
      <p:sp>
        <p:nvSpPr>
          <p:cNvPr id="150" name="Google Shape;150;p21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sz="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" name="Google Shape;151;p21"/>
          <p:cNvPicPr preferRelativeResize="0"/>
          <p:nvPr/>
        </p:nvPicPr>
        <p:blipFill rotWithShape="1">
          <a:blip r:embed="rId3">
            <a:alphaModFix/>
          </a:blip>
          <a:srcRect b="0" l="0" r="0" t="11378"/>
          <a:stretch/>
        </p:blipFill>
        <p:spPr>
          <a:xfrm>
            <a:off x="199725" y="793137"/>
            <a:ext cx="8932496" cy="445034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2" name="Google Shape;152;p21"/>
          <p:cNvSpPr txBox="1"/>
          <p:nvPr/>
        </p:nvSpPr>
        <p:spPr>
          <a:xfrm>
            <a:off x="0" y="484475"/>
            <a:ext cx="91440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4"/>
              </a:rPr>
              <a:t>https://vega.github.io/voyager2/</a:t>
            </a:r>
            <a:r>
              <a:rPr lang="pt-BR"/>
              <a:t> </a:t>
            </a:r>
            <a:endParaRPr/>
          </a:p>
        </p:txBody>
      </p:sp>
      <p:sp>
        <p:nvSpPr>
          <p:cNvPr id="153" name="Google Shape;153;p21"/>
          <p:cNvSpPr/>
          <p:nvPr/>
        </p:nvSpPr>
        <p:spPr>
          <a:xfrm>
            <a:off x="4049800" y="3639225"/>
            <a:ext cx="522300" cy="2862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1"/>
          <p:cNvSpPr/>
          <p:nvPr/>
        </p:nvSpPr>
        <p:spPr>
          <a:xfrm>
            <a:off x="7360575" y="2175700"/>
            <a:ext cx="1433400" cy="2862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1"/>
          <p:cNvSpPr/>
          <p:nvPr/>
        </p:nvSpPr>
        <p:spPr>
          <a:xfrm>
            <a:off x="1338400" y="793125"/>
            <a:ext cx="1433400" cy="2862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2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Voyager 2 - Good News!</a:t>
            </a:r>
            <a:endParaRPr/>
          </a:p>
        </p:txBody>
      </p:sp>
      <p:sp>
        <p:nvSpPr>
          <p:cNvPr id="161" name="Google Shape;161;p22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sz="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2"/>
          <p:cNvSpPr txBox="1"/>
          <p:nvPr/>
        </p:nvSpPr>
        <p:spPr>
          <a:xfrm>
            <a:off x="0" y="484475"/>
            <a:ext cx="91440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https://vega.github.io/voyager2/</a:t>
            </a:r>
            <a:r>
              <a:rPr lang="pt-BR"/>
              <a:t> </a:t>
            </a:r>
            <a:endParaRPr/>
          </a:p>
        </p:txBody>
      </p:sp>
      <p:pic>
        <p:nvPicPr>
          <p:cNvPr id="163" name="Google Shape;16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741" y="945575"/>
            <a:ext cx="7821787" cy="46170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3"/>
          <p:cNvSpPr txBox="1"/>
          <p:nvPr>
            <p:ph type="ctrTitle"/>
          </p:nvPr>
        </p:nvSpPr>
        <p:spPr>
          <a:xfrm>
            <a:off x="300800" y="2718575"/>
            <a:ext cx="8843400" cy="82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Visualising Streaming Data</a:t>
            </a:r>
            <a:endParaRPr/>
          </a:p>
        </p:txBody>
      </p:sp>
      <p:sp>
        <p:nvSpPr>
          <p:cNvPr id="169" name="Google Shape;169;p23"/>
          <p:cNvSpPr txBox="1"/>
          <p:nvPr>
            <p:ph idx="1" type="subTitle"/>
          </p:nvPr>
        </p:nvSpPr>
        <p:spPr>
          <a:xfrm>
            <a:off x="300800" y="3613175"/>
            <a:ext cx="8332800" cy="33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Demo 3 - Grafana dashboarding</a:t>
            </a:r>
            <a:endParaRPr/>
          </a:p>
        </p:txBody>
      </p:sp>
      <p:sp>
        <p:nvSpPr>
          <p:cNvPr id="170" name="Google Shape;170;p23"/>
          <p:cNvSpPr txBox="1"/>
          <p:nvPr>
            <p:ph idx="12" type="sldNum"/>
          </p:nvPr>
        </p:nvSpPr>
        <p:spPr>
          <a:xfrm>
            <a:off x="8738800" y="5481728"/>
            <a:ext cx="405300" cy="23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4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4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heus - Preferido p/ Clean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