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 txBox="1"/>
          <p:nvPr/>
        </p:nvSpPr>
        <p:spPr>
          <a:xfrm>
            <a:off x="0" y="0"/>
            <a:ext cx="72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:notes"/>
          <p:cNvSpPr txBox="1"/>
          <p:nvPr/>
        </p:nvSpPr>
        <p:spPr>
          <a:xfrm>
            <a:off x="36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:notes"/>
          <p:cNvSpPr txBox="1"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:notes"/>
          <p:cNvSpPr txBox="1"/>
          <p:nvPr/>
        </p:nvSpPr>
        <p:spPr>
          <a:xfrm>
            <a:off x="0" y="0"/>
            <a:ext cx="72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:notes"/>
          <p:cNvSpPr txBox="1"/>
          <p:nvPr/>
        </p:nvSpPr>
        <p:spPr>
          <a:xfrm>
            <a:off x="0" y="0"/>
            <a:ext cx="72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:notes"/>
          <p:cNvSpPr txBox="1"/>
          <p:nvPr/>
        </p:nvSpPr>
        <p:spPr>
          <a:xfrm>
            <a:off x="36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79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79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2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8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2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8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2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3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4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6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7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8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9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59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9:notes"/>
          <p:cNvSpPr txBox="1"/>
          <p:nvPr/>
        </p:nvSpPr>
        <p:spPr>
          <a:xfrm>
            <a:off x="36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p60:notes"/>
          <p:cNvSpPr txBox="1"/>
          <p:nvPr>
            <p:ph idx="1"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0:notes"/>
          <p:cNvSpPr txBox="1"/>
          <p:nvPr/>
        </p:nvSpPr>
        <p:spPr>
          <a:xfrm>
            <a:off x="36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61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50400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515268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90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20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804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20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804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50400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515268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"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515268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3" type="body"/>
          </p:nvPr>
        </p:nvSpPr>
        <p:spPr>
          <a:xfrm>
            <a:off x="50400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504000" y="1769040"/>
            <a:ext cx="442692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3" type="body"/>
          </p:nvPr>
        </p:nvSpPr>
        <p:spPr>
          <a:xfrm>
            <a:off x="515268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3"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504000" y="17690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50400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2" type="body"/>
          </p:nvPr>
        </p:nvSpPr>
        <p:spPr>
          <a:xfrm>
            <a:off x="5152680" y="17690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3" type="body"/>
          </p:nvPr>
        </p:nvSpPr>
        <p:spPr>
          <a:xfrm>
            <a:off x="50400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4" type="body"/>
          </p:nvPr>
        </p:nvSpPr>
        <p:spPr>
          <a:xfrm>
            <a:off x="5152680" y="43750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50400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357120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body"/>
          </p:nvPr>
        </p:nvSpPr>
        <p:spPr>
          <a:xfrm>
            <a:off x="6638040" y="176904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body"/>
          </p:nvPr>
        </p:nvSpPr>
        <p:spPr>
          <a:xfrm>
            <a:off x="50400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5" type="body"/>
          </p:nvPr>
        </p:nvSpPr>
        <p:spPr>
          <a:xfrm>
            <a:off x="357120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6" type="body"/>
          </p:nvPr>
        </p:nvSpPr>
        <p:spPr>
          <a:xfrm>
            <a:off x="6638040" y="4375080"/>
            <a:ext cx="292068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50400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nicolewhite.github.io/neo4j-jupyter/hello-world.html" TargetMode="External"/><Relationship Id="rId4" Type="http://schemas.openxmlformats.org/officeDocument/2006/relationships/hyperlink" Target="https://nicolewhite.github.io/neo4j-jupyter/panama.html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Relationship Id="rId4" Type="http://schemas.openxmlformats.org/officeDocument/2006/relationships/image" Target="../media/image4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gif"/><Relationship Id="rId4" Type="http://schemas.openxmlformats.org/officeDocument/2006/relationships/hyperlink" Target="http://www.arxiv.org/abs/cond-mat/0205380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/>
        </p:nvSpPr>
        <p:spPr>
          <a:xfrm>
            <a:off x="468360" y="262440"/>
            <a:ext cx="907164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/>
            </a:br>
            <a:br>
              <a:rPr b="0" i="0" lang="en-US" sz="1800" u="none" cap="none" strike="noStrike"/>
            </a:br>
            <a:r>
              <a:rPr b="0" i="0" lang="en-US" sz="3600" u="none" cap="none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Graphs &amp; Graph Databases</a:t>
            </a:r>
            <a:br>
              <a:rPr b="0" i="0" lang="en-US" sz="1800" u="none" cap="none" strike="noStrike"/>
            </a:br>
            <a:r>
              <a:rPr b="0" i="0" lang="en-US" sz="2800" u="none" cap="none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Foundations</a:t>
            </a:r>
            <a:endParaRPr b="0" i="0" sz="2800" u="none" cap="none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27"/>
          <p:cNvSpPr/>
          <p:nvPr/>
        </p:nvSpPr>
        <p:spPr>
          <a:xfrm rot="-5400000">
            <a:off x="6317280" y="3624120"/>
            <a:ext cx="7070760" cy="337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Picture by Jeremy Hiebert [http://www.flickr.com/photos/jeremyhiebert/]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504000" y="31489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Why Graphs?</a:t>
            </a:r>
            <a:endParaRPr b="0" i="0" sz="2800" u="none" cap="none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/>
        </p:nvSpPr>
        <p:spPr>
          <a:xfrm>
            <a:off x="5760000" y="301320"/>
            <a:ext cx="3815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Wikipedia</a:t>
            </a:r>
            <a:endParaRPr b="0" i="0" sz="4400" u="none" cap="none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3" name="Google Shape;1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268560"/>
            <a:ext cx="4680000" cy="34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000" y="3055320"/>
            <a:ext cx="2876040" cy="2542680"/>
          </a:xfrm>
          <a:prstGeom prst="rect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9"/>
          <p:cNvSpPr txBox="1"/>
          <p:nvPr/>
        </p:nvSpPr>
        <p:spPr>
          <a:xfrm>
            <a:off x="1980000" y="5791320"/>
            <a:ext cx="1533960" cy="5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Trebuchet MS"/>
                <a:ea typeface="Trebuchet MS"/>
                <a:cs typeface="Trebuchet MS"/>
                <a:sym typeface="Trebuchet MS"/>
              </a:rPr>
              <a:t>Infobox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0000" y="2307600"/>
            <a:ext cx="4680000" cy="34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/>
          <p:nvPr/>
        </p:nvSpPr>
        <p:spPr>
          <a:xfrm>
            <a:off x="3600000" y="558000"/>
            <a:ext cx="2880360" cy="2880360"/>
          </a:xfrm>
          <a:custGeom>
            <a:rect b="b" l="l" r="r" t="t"/>
            <a:pathLst>
              <a:path extrusionOk="0" h="8001" w="8001">
                <a:moveTo>
                  <a:pt x="0" y="8000"/>
                </a:moveTo>
                <a:cubicBezTo>
                  <a:pt x="4500" y="0"/>
                  <a:pt x="8000" y="4500"/>
                  <a:pt x="8000" y="4500"/>
                </a:cubicBezTo>
              </a:path>
            </a:pathLst>
          </a:custGeom>
          <a:noFill/>
          <a:ln cap="flat" cmpd="sng" w="72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0360" y="4158000"/>
            <a:ext cx="2609640" cy="3095280"/>
          </a:xfrm>
          <a:prstGeom prst="rect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29"/>
          <p:cNvSpPr/>
          <p:nvPr/>
        </p:nvSpPr>
        <p:spPr>
          <a:xfrm>
            <a:off x="4500000" y="3798000"/>
            <a:ext cx="2520360" cy="2160360"/>
          </a:xfrm>
          <a:custGeom>
            <a:rect b="b" l="l" r="r" t="t"/>
            <a:pathLst>
              <a:path extrusionOk="0" h="6001" w="7001">
                <a:moveTo>
                  <a:pt x="7000" y="3000"/>
                </a:moveTo>
                <a:cubicBezTo>
                  <a:pt x="1000" y="6000"/>
                  <a:pt x="0" y="0"/>
                  <a:pt x="0" y="0"/>
                </a:cubicBezTo>
              </a:path>
            </a:pathLst>
          </a:custGeom>
          <a:noFill/>
          <a:ln cap="flat" cmpd="sng" w="720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9"/>
          <p:cNvSpPr/>
          <p:nvPr/>
        </p:nvSpPr>
        <p:spPr>
          <a:xfrm>
            <a:off x="7380000" y="5058000"/>
            <a:ext cx="2160360" cy="1080360"/>
          </a:xfrm>
          <a:custGeom>
            <a:rect b="b" l="l" r="r" t="t"/>
            <a:pathLst>
              <a:path extrusionOk="0" h="3001" w="6001">
                <a:moveTo>
                  <a:pt x="0" y="0"/>
                </a:moveTo>
                <a:cubicBezTo>
                  <a:pt x="4000" y="0"/>
                  <a:pt x="6000" y="3000"/>
                  <a:pt x="6000" y="3000"/>
                </a:cubicBezTo>
              </a:path>
            </a:pathLst>
          </a:custGeom>
          <a:noFill/>
          <a:ln cap="flat" cmpd="sng" w="72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9"/>
          <p:cNvSpPr/>
          <p:nvPr/>
        </p:nvSpPr>
        <p:spPr>
          <a:xfrm>
            <a:off x="7740000" y="5598000"/>
            <a:ext cx="1800360" cy="1620360"/>
          </a:xfrm>
          <a:custGeom>
            <a:rect b="b" l="l" r="r" t="t"/>
            <a:pathLst>
              <a:path extrusionOk="0" h="4501" w="5001">
                <a:moveTo>
                  <a:pt x="0" y="0"/>
                </a:moveTo>
                <a:cubicBezTo>
                  <a:pt x="3500" y="1500"/>
                  <a:pt x="5000" y="4500"/>
                  <a:pt x="5000" y="4500"/>
                </a:cubicBezTo>
              </a:path>
            </a:pathLst>
          </a:custGeom>
          <a:noFill/>
          <a:ln cap="flat" cmpd="sng" w="72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9"/>
          <p:cNvSpPr/>
          <p:nvPr/>
        </p:nvSpPr>
        <p:spPr>
          <a:xfrm>
            <a:off x="8892000" y="5922000"/>
            <a:ext cx="108000" cy="10800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9"/>
          <p:cNvSpPr/>
          <p:nvPr/>
        </p:nvSpPr>
        <p:spPr>
          <a:xfrm>
            <a:off x="8892000" y="6138000"/>
            <a:ext cx="108000" cy="10800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9"/>
          <p:cNvSpPr/>
          <p:nvPr/>
        </p:nvSpPr>
        <p:spPr>
          <a:xfrm>
            <a:off x="8892000" y="5706000"/>
            <a:ext cx="108000" cy="10800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DBPedia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0" name="Google Shape;1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760" y="1815120"/>
            <a:ext cx="6224400" cy="43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DBPedia (URIs)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6" name="Google Shape;1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60" y="1817280"/>
            <a:ext cx="9334440" cy="430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DBPedia – English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504000" y="1769040"/>
            <a:ext cx="9071640" cy="51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1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4 million things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3.22 million classified in a consistent ontology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832,000 persons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639,000 places (427,000 populated)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372,000 creative works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7999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rebuchet MS"/>
              <a:buChar char="◦"/>
            </a:pPr>
            <a:r>
              <a:rPr b="0" i="0" lang="en-US" sz="24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116,000 music albums; 78,000 films; 18,500 video games</a:t>
            </a:r>
            <a:endParaRPr b="0" i="0" sz="24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209,000 organizations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226,000 species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5,600 diseases.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DBPedia – International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119 languages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24.9 million things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16.8 million interlinked with English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12.6 million unique things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05/2007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200" y="1557000"/>
            <a:ext cx="6194520" cy="384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4"/>
          <p:cNvSpPr/>
          <p:nvPr/>
        </p:nvSpPr>
        <p:spPr>
          <a:xfrm>
            <a:off x="6367680" y="526428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11/2007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760" y="1073520"/>
            <a:ext cx="8021520" cy="572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5"/>
          <p:cNvSpPr/>
          <p:nvPr/>
        </p:nvSpPr>
        <p:spPr>
          <a:xfrm>
            <a:off x="6808320" y="644544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5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00" y="868680"/>
            <a:ext cx="7559640" cy="58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>
            <a:off x="8395920" y="608184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/>
          <p:nvPr/>
        </p:nvSpPr>
        <p:spPr>
          <a:xfrm>
            <a:off x="504000" y="275040"/>
            <a:ext cx="9071640" cy="65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2009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120" y="1001520"/>
            <a:ext cx="794304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7"/>
          <p:cNvSpPr/>
          <p:nvPr/>
        </p:nvSpPr>
        <p:spPr>
          <a:xfrm>
            <a:off x="8255160" y="600264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7"/>
          <p:cNvSpPr txBox="1"/>
          <p:nvPr/>
        </p:nvSpPr>
        <p:spPr>
          <a:xfrm>
            <a:off x="504000" y="275040"/>
            <a:ext cx="9071640" cy="65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2010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80" y="888120"/>
            <a:ext cx="9094680" cy="592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8"/>
          <p:cNvSpPr/>
          <p:nvPr/>
        </p:nvSpPr>
        <p:spPr>
          <a:xfrm>
            <a:off x="8255160" y="616140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504000" y="275040"/>
            <a:ext cx="9071640" cy="65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/>
          <p:nvPr/>
        </p:nvSpPr>
        <p:spPr>
          <a:xfrm>
            <a:off x="1467720" y="6786000"/>
            <a:ext cx="7143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Datasets published following Linked Data ‘format’: 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60" y="898920"/>
            <a:ext cx="8739000" cy="5761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9"/>
          <p:cNvSpPr txBox="1"/>
          <p:nvPr/>
        </p:nvSpPr>
        <p:spPr>
          <a:xfrm>
            <a:off x="504000" y="185040"/>
            <a:ext cx="9071640" cy="65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40" y="1309320"/>
            <a:ext cx="8993880" cy="5890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/>
          <p:nvPr/>
        </p:nvSpPr>
        <p:spPr>
          <a:xfrm>
            <a:off x="614160" y="6840000"/>
            <a:ext cx="172296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http://lod-cloud.net/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Linked Data</a:t>
            </a:r>
            <a:br>
              <a:rPr lang="en-US" sz="1800"/>
            </a:b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04/2014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/>
        </p:nvSpPr>
        <p:spPr>
          <a:xfrm>
            <a:off x="504000" y="31489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Graph Models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/>
        </p:nvSpPr>
        <p:spPr>
          <a:xfrm>
            <a:off x="540000" y="18000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Graph Models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9" name="Google Shape;2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960" y="1440000"/>
            <a:ext cx="4343040" cy="231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60" y="1685880"/>
            <a:ext cx="4325040" cy="281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1520" y="4420080"/>
            <a:ext cx="3228480" cy="259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/>
        </p:nvSpPr>
        <p:spPr>
          <a:xfrm>
            <a:off x="504000" y="31489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Graph Model</a:t>
            </a:r>
            <a:br>
              <a:rPr lang="en-US" sz="1800"/>
            </a:b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44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44"/>
          <p:cNvSpPr/>
          <p:nvPr/>
        </p:nvSpPr>
        <p:spPr>
          <a:xfrm>
            <a:off x="2520000" y="1800000"/>
            <a:ext cx="1343520" cy="46368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node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45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Nodes can have properties</a:t>
            </a:r>
            <a:br>
              <a:rPr b="0" i="0" lang="en-US" sz="1800" u="none" cap="none" strike="noStrike"/>
            </a:b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{ property: value }</a:t>
            </a: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45"/>
          <p:cNvSpPr/>
          <p:nvPr/>
        </p:nvSpPr>
        <p:spPr>
          <a:xfrm>
            <a:off x="2520000" y="1800000"/>
            <a:ext cx="1343520" cy="46368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node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45"/>
          <p:cNvGrpSpPr/>
          <p:nvPr/>
        </p:nvGrpSpPr>
        <p:grpSpPr>
          <a:xfrm>
            <a:off x="6300000" y="2217240"/>
            <a:ext cx="2041200" cy="1130760"/>
            <a:chOff x="6300000" y="2217240"/>
            <a:chExt cx="2041200" cy="1130760"/>
          </a:xfrm>
        </p:grpSpPr>
        <p:sp>
          <p:nvSpPr>
            <p:cNvPr id="262" name="Google Shape;262;p45"/>
            <p:cNvSpPr/>
            <p:nvPr/>
          </p:nvSpPr>
          <p:spPr>
            <a:xfrm>
              <a:off x="6300000" y="221724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5"/>
            <p:cNvSpPr txBox="1"/>
            <p:nvPr/>
          </p:nvSpPr>
          <p:spPr>
            <a:xfrm>
              <a:off x="6741720" y="2992320"/>
              <a:ext cx="159948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property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value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5"/>
            <p:cNvSpPr/>
            <p:nvPr/>
          </p:nvSpPr>
          <p:spPr>
            <a:xfrm>
              <a:off x="6571080" y="2922480"/>
              <a:ext cx="185040" cy="425520"/>
            </a:xfrm>
            <a:custGeom>
              <a:rect b="b" l="l" r="r" t="t"/>
              <a:pathLst>
                <a:path extrusionOk="0" h="1184" w="516">
                  <a:moveTo>
                    <a:pt x="515" y="0"/>
                  </a:moveTo>
                  <a:cubicBezTo>
                    <a:pt x="386" y="0"/>
                    <a:pt x="257" y="49"/>
                    <a:pt x="257" y="98"/>
                  </a:cubicBezTo>
                  <a:lnTo>
                    <a:pt x="257" y="492"/>
                  </a:lnTo>
                  <a:cubicBezTo>
                    <a:pt x="257" y="542"/>
                    <a:pt x="128" y="591"/>
                    <a:pt x="0" y="591"/>
                  </a:cubicBezTo>
                  <a:cubicBezTo>
                    <a:pt x="128" y="591"/>
                    <a:pt x="257" y="640"/>
                    <a:pt x="257" y="690"/>
                  </a:cubicBezTo>
                  <a:lnTo>
                    <a:pt x="257" y="1084"/>
                  </a:lnTo>
                  <a:cubicBezTo>
                    <a:pt x="257" y="1133"/>
                    <a:pt x="386" y="1183"/>
                    <a:pt x="515" y="1183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5"/>
            <p:cNvSpPr/>
            <p:nvPr/>
          </p:nvSpPr>
          <p:spPr>
            <a:xfrm>
              <a:off x="6354000" y="2594520"/>
              <a:ext cx="227880" cy="540720"/>
            </a:xfrm>
            <a:custGeom>
              <a:rect b="b" l="l" r="r" t="t"/>
              <a:pathLst>
                <a:path extrusionOk="0" h="1502" w="633">
                  <a:moveTo>
                    <a:pt x="0" y="0"/>
                  </a:moveTo>
                  <a:lnTo>
                    <a:pt x="0" y="1501"/>
                  </a:lnTo>
                  <a:lnTo>
                    <a:pt x="632" y="1501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46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Nodes can have properties</a:t>
            </a:r>
            <a:br>
              <a:rPr b="0" i="0" lang="en-US" sz="1800" u="none" cap="none" strike="noStrike"/>
            </a:b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{ property: value }</a:t>
            </a: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92859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Trebuchet MS"/>
              <a:buNone/>
            </a:pPr>
            <a:r>
              <a:t/>
            </a:r>
            <a:endParaRPr b="0" sz="28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(node)-[edge]-&gt;(node)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46"/>
          <p:cNvSpPr/>
          <p:nvPr/>
        </p:nvSpPr>
        <p:spPr>
          <a:xfrm>
            <a:off x="2520000" y="1800000"/>
            <a:ext cx="1343520" cy="46368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node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46"/>
          <p:cNvGrpSpPr/>
          <p:nvPr/>
        </p:nvGrpSpPr>
        <p:grpSpPr>
          <a:xfrm>
            <a:off x="6300000" y="2217240"/>
            <a:ext cx="2041200" cy="1130760"/>
            <a:chOff x="6300000" y="2217240"/>
            <a:chExt cx="2041200" cy="1130760"/>
          </a:xfrm>
        </p:grpSpPr>
        <p:sp>
          <p:nvSpPr>
            <p:cNvPr id="274" name="Google Shape;274;p46"/>
            <p:cNvSpPr/>
            <p:nvPr/>
          </p:nvSpPr>
          <p:spPr>
            <a:xfrm>
              <a:off x="6300000" y="221724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6"/>
            <p:cNvSpPr txBox="1"/>
            <p:nvPr/>
          </p:nvSpPr>
          <p:spPr>
            <a:xfrm>
              <a:off x="6741720" y="2992320"/>
              <a:ext cx="159948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property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value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6"/>
            <p:cNvSpPr/>
            <p:nvPr/>
          </p:nvSpPr>
          <p:spPr>
            <a:xfrm>
              <a:off x="6571080" y="2922480"/>
              <a:ext cx="185040" cy="425520"/>
            </a:xfrm>
            <a:custGeom>
              <a:rect b="b" l="l" r="r" t="t"/>
              <a:pathLst>
                <a:path extrusionOk="0" h="1184" w="516">
                  <a:moveTo>
                    <a:pt x="515" y="0"/>
                  </a:moveTo>
                  <a:cubicBezTo>
                    <a:pt x="386" y="0"/>
                    <a:pt x="257" y="49"/>
                    <a:pt x="257" y="98"/>
                  </a:cubicBezTo>
                  <a:lnTo>
                    <a:pt x="257" y="492"/>
                  </a:lnTo>
                  <a:cubicBezTo>
                    <a:pt x="257" y="542"/>
                    <a:pt x="128" y="591"/>
                    <a:pt x="0" y="591"/>
                  </a:cubicBezTo>
                  <a:cubicBezTo>
                    <a:pt x="128" y="591"/>
                    <a:pt x="257" y="640"/>
                    <a:pt x="257" y="690"/>
                  </a:cubicBezTo>
                  <a:lnTo>
                    <a:pt x="257" y="1084"/>
                  </a:lnTo>
                  <a:cubicBezTo>
                    <a:pt x="257" y="1133"/>
                    <a:pt x="386" y="1183"/>
                    <a:pt x="515" y="1183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6"/>
            <p:cNvSpPr/>
            <p:nvPr/>
          </p:nvSpPr>
          <p:spPr>
            <a:xfrm>
              <a:off x="6354000" y="2594520"/>
              <a:ext cx="227880" cy="540720"/>
            </a:xfrm>
            <a:custGeom>
              <a:rect b="b" l="l" r="r" t="t"/>
              <a:pathLst>
                <a:path extrusionOk="0" h="1502" w="633">
                  <a:moveTo>
                    <a:pt x="0" y="0"/>
                  </a:moveTo>
                  <a:lnTo>
                    <a:pt x="0" y="1501"/>
                  </a:lnTo>
                  <a:lnTo>
                    <a:pt x="632" y="1501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78" name="Google Shape;278;p46"/>
          <p:cNvGrpSpPr/>
          <p:nvPr/>
        </p:nvGrpSpPr>
        <p:grpSpPr>
          <a:xfrm>
            <a:off x="4338360" y="4356000"/>
            <a:ext cx="4841640" cy="570240"/>
            <a:chOff x="4338360" y="4356000"/>
            <a:chExt cx="4841640" cy="570240"/>
          </a:xfrm>
        </p:grpSpPr>
        <p:sp>
          <p:nvSpPr>
            <p:cNvPr id="279" name="Google Shape;279;p46"/>
            <p:cNvSpPr/>
            <p:nvPr/>
          </p:nvSpPr>
          <p:spPr>
            <a:xfrm>
              <a:off x="4338360" y="446256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" name="Google Shape;280;p46"/>
            <p:cNvCxnSpPr/>
            <p:nvPr/>
          </p:nvCxnSpPr>
          <p:spPr>
            <a:xfrm>
              <a:off x="5737320" y="4688640"/>
              <a:ext cx="207000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81" name="Google Shape;281;p46"/>
            <p:cNvSpPr txBox="1"/>
            <p:nvPr/>
          </p:nvSpPr>
          <p:spPr>
            <a:xfrm>
              <a:off x="6399360" y="4356000"/>
              <a:ext cx="58356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edge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6"/>
            <p:cNvSpPr/>
            <p:nvPr/>
          </p:nvSpPr>
          <p:spPr>
            <a:xfrm>
              <a:off x="7836480" y="444924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8" name="Google Shape;288;p47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Nodes can have properties</a:t>
            </a:r>
            <a:br>
              <a:rPr b="0" i="0" lang="en-US" sz="1800" u="none" cap="none" strike="noStrike"/>
            </a:b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{ property: value }</a:t>
            </a: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92859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Trebuchet MS"/>
              <a:buNone/>
            </a:pPr>
            <a:r>
              <a:t/>
            </a:r>
            <a:endParaRPr b="0" sz="28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Char char="▪"/>
            </a:pPr>
            <a:r>
              <a:rPr b="0" lang="en-US" sz="3200" strike="noStrike">
                <a:solidFill>
                  <a:srgbClr val="4C19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(node)-[edge]-&gt;(node)</a:t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5984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160"/>
              <a:buFont typeface="Trebuchet MS"/>
              <a:buNone/>
            </a:pPr>
            <a:r>
              <a:t/>
            </a:r>
            <a:endParaRPr b="0" sz="3200" strike="noStrike">
              <a:solidFill>
                <a:srgbClr val="4C1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3220"/>
              <a:buFont typeface="Trebuchet MS"/>
              <a:buChar char="▫"/>
            </a:pP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Edges can have properties</a:t>
            </a:r>
            <a:br>
              <a:rPr b="0" i="0" lang="en-US" sz="1800" u="none" cap="none" strike="noStrike"/>
            </a:b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(node)-[edge </a:t>
            </a:r>
            <a:r>
              <a:rPr b="0" i="0" lang="en-US" sz="2800" u="none" cap="none" strike="noStrike">
                <a:solidFill>
                  <a:srgbClr val="6600FF"/>
                </a:solidFill>
                <a:latin typeface="Trebuchet MS"/>
                <a:ea typeface="Trebuchet MS"/>
                <a:cs typeface="Trebuchet MS"/>
                <a:sym typeface="Trebuchet MS"/>
              </a:rPr>
              <a:t>{property:value}</a:t>
            </a:r>
            <a:r>
              <a:rPr b="0" i="0" lang="en-US" sz="2800" u="none" cap="none" strike="noStrike">
                <a:solidFill>
                  <a:srgbClr val="663300"/>
                </a:solidFill>
                <a:latin typeface="Trebuchet MS"/>
                <a:ea typeface="Trebuchet MS"/>
                <a:cs typeface="Trebuchet MS"/>
                <a:sym typeface="Trebuchet MS"/>
              </a:rPr>
              <a:t>]-&gt;(node)</a:t>
            </a:r>
            <a:endParaRPr b="0" i="0" sz="2800" u="none" cap="none" strike="noStrike">
              <a:solidFill>
                <a:srgbClr val="6633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9" name="Google Shape;289;p47"/>
          <p:cNvSpPr/>
          <p:nvPr/>
        </p:nvSpPr>
        <p:spPr>
          <a:xfrm>
            <a:off x="2520000" y="1800000"/>
            <a:ext cx="1343520" cy="46368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node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47"/>
          <p:cNvGrpSpPr/>
          <p:nvPr/>
        </p:nvGrpSpPr>
        <p:grpSpPr>
          <a:xfrm>
            <a:off x="6300000" y="2217240"/>
            <a:ext cx="2041200" cy="1130760"/>
            <a:chOff x="6300000" y="2217240"/>
            <a:chExt cx="2041200" cy="1130760"/>
          </a:xfrm>
        </p:grpSpPr>
        <p:sp>
          <p:nvSpPr>
            <p:cNvPr id="291" name="Google Shape;291;p47"/>
            <p:cNvSpPr/>
            <p:nvPr/>
          </p:nvSpPr>
          <p:spPr>
            <a:xfrm>
              <a:off x="6300000" y="221724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7"/>
            <p:cNvSpPr txBox="1"/>
            <p:nvPr/>
          </p:nvSpPr>
          <p:spPr>
            <a:xfrm>
              <a:off x="6741720" y="2992320"/>
              <a:ext cx="159948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property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value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7"/>
            <p:cNvSpPr/>
            <p:nvPr/>
          </p:nvSpPr>
          <p:spPr>
            <a:xfrm>
              <a:off x="6571080" y="2922480"/>
              <a:ext cx="185040" cy="425520"/>
            </a:xfrm>
            <a:custGeom>
              <a:rect b="b" l="l" r="r" t="t"/>
              <a:pathLst>
                <a:path extrusionOk="0" h="1184" w="516">
                  <a:moveTo>
                    <a:pt x="515" y="0"/>
                  </a:moveTo>
                  <a:cubicBezTo>
                    <a:pt x="386" y="0"/>
                    <a:pt x="257" y="49"/>
                    <a:pt x="257" y="98"/>
                  </a:cubicBezTo>
                  <a:lnTo>
                    <a:pt x="257" y="492"/>
                  </a:lnTo>
                  <a:cubicBezTo>
                    <a:pt x="257" y="542"/>
                    <a:pt x="128" y="591"/>
                    <a:pt x="0" y="591"/>
                  </a:cubicBezTo>
                  <a:cubicBezTo>
                    <a:pt x="128" y="591"/>
                    <a:pt x="257" y="640"/>
                    <a:pt x="257" y="690"/>
                  </a:cubicBezTo>
                  <a:lnTo>
                    <a:pt x="257" y="1084"/>
                  </a:lnTo>
                  <a:cubicBezTo>
                    <a:pt x="257" y="1133"/>
                    <a:pt x="386" y="1183"/>
                    <a:pt x="515" y="1183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7"/>
            <p:cNvSpPr/>
            <p:nvPr/>
          </p:nvSpPr>
          <p:spPr>
            <a:xfrm>
              <a:off x="6354000" y="2594520"/>
              <a:ext cx="227880" cy="540720"/>
            </a:xfrm>
            <a:custGeom>
              <a:rect b="b" l="l" r="r" t="t"/>
              <a:pathLst>
                <a:path extrusionOk="0" h="1502" w="633">
                  <a:moveTo>
                    <a:pt x="0" y="0"/>
                  </a:moveTo>
                  <a:lnTo>
                    <a:pt x="0" y="1501"/>
                  </a:lnTo>
                  <a:lnTo>
                    <a:pt x="632" y="1501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295" name="Google Shape;295;p47"/>
          <p:cNvGrpSpPr/>
          <p:nvPr/>
        </p:nvGrpSpPr>
        <p:grpSpPr>
          <a:xfrm>
            <a:off x="4338360" y="4356000"/>
            <a:ext cx="4841640" cy="570240"/>
            <a:chOff x="4338360" y="4356000"/>
            <a:chExt cx="4841640" cy="570240"/>
          </a:xfrm>
        </p:grpSpPr>
        <p:sp>
          <p:nvSpPr>
            <p:cNvPr id="296" name="Google Shape;296;p47"/>
            <p:cNvSpPr/>
            <p:nvPr/>
          </p:nvSpPr>
          <p:spPr>
            <a:xfrm>
              <a:off x="4338360" y="446256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" name="Google Shape;297;p47"/>
            <p:cNvCxnSpPr/>
            <p:nvPr/>
          </p:nvCxnSpPr>
          <p:spPr>
            <a:xfrm>
              <a:off x="5737320" y="4688640"/>
              <a:ext cx="207000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8" name="Google Shape;298;p47"/>
            <p:cNvSpPr txBox="1"/>
            <p:nvPr/>
          </p:nvSpPr>
          <p:spPr>
            <a:xfrm>
              <a:off x="6399360" y="4356000"/>
              <a:ext cx="58356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edge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7"/>
            <p:cNvSpPr/>
            <p:nvPr/>
          </p:nvSpPr>
          <p:spPr>
            <a:xfrm>
              <a:off x="7836480" y="444924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47"/>
          <p:cNvGrpSpPr/>
          <p:nvPr/>
        </p:nvGrpSpPr>
        <p:grpSpPr>
          <a:xfrm>
            <a:off x="4338360" y="5988240"/>
            <a:ext cx="4841640" cy="1139760"/>
            <a:chOff x="4338360" y="5988240"/>
            <a:chExt cx="4841640" cy="1139760"/>
          </a:xfrm>
        </p:grpSpPr>
        <p:sp>
          <p:nvSpPr>
            <p:cNvPr id="301" name="Google Shape;301;p47"/>
            <p:cNvSpPr/>
            <p:nvPr/>
          </p:nvSpPr>
          <p:spPr>
            <a:xfrm>
              <a:off x="4338360" y="609480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" name="Google Shape;302;p47"/>
            <p:cNvCxnSpPr/>
            <p:nvPr/>
          </p:nvCxnSpPr>
          <p:spPr>
            <a:xfrm>
              <a:off x="5737320" y="6320880"/>
              <a:ext cx="207000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3" name="Google Shape;303;p47"/>
            <p:cNvSpPr txBox="1"/>
            <p:nvPr/>
          </p:nvSpPr>
          <p:spPr>
            <a:xfrm>
              <a:off x="6399360" y="5988240"/>
              <a:ext cx="58356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edge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7"/>
            <p:cNvSpPr txBox="1"/>
            <p:nvPr/>
          </p:nvSpPr>
          <p:spPr>
            <a:xfrm>
              <a:off x="7129440" y="6772320"/>
              <a:ext cx="159948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property</a:t>
              </a:r>
              <a:r>
                <a:rPr b="0" lang="en-US" sz="1800" strike="noStrike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: value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7"/>
            <p:cNvSpPr/>
            <p:nvPr/>
          </p:nvSpPr>
          <p:spPr>
            <a:xfrm>
              <a:off x="6958800" y="6702480"/>
              <a:ext cx="185040" cy="425520"/>
            </a:xfrm>
            <a:custGeom>
              <a:rect b="b" l="l" r="r" t="t"/>
              <a:pathLst>
                <a:path extrusionOk="0" h="1184" w="516">
                  <a:moveTo>
                    <a:pt x="515" y="0"/>
                  </a:moveTo>
                  <a:cubicBezTo>
                    <a:pt x="386" y="0"/>
                    <a:pt x="257" y="49"/>
                    <a:pt x="257" y="98"/>
                  </a:cubicBezTo>
                  <a:lnTo>
                    <a:pt x="257" y="492"/>
                  </a:lnTo>
                  <a:cubicBezTo>
                    <a:pt x="257" y="542"/>
                    <a:pt x="128" y="591"/>
                    <a:pt x="0" y="591"/>
                  </a:cubicBezTo>
                  <a:cubicBezTo>
                    <a:pt x="128" y="591"/>
                    <a:pt x="257" y="640"/>
                    <a:pt x="257" y="690"/>
                  </a:cubicBezTo>
                  <a:lnTo>
                    <a:pt x="257" y="1084"/>
                  </a:lnTo>
                  <a:cubicBezTo>
                    <a:pt x="257" y="1133"/>
                    <a:pt x="386" y="1183"/>
                    <a:pt x="515" y="1183"/>
                  </a:cubicBezTo>
                </a:path>
              </a:pathLst>
            </a:custGeom>
            <a:noFill/>
            <a:ln cap="flat" cmpd="sng" w="36000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7"/>
            <p:cNvSpPr/>
            <p:nvPr/>
          </p:nvSpPr>
          <p:spPr>
            <a:xfrm>
              <a:off x="6741720" y="6374520"/>
              <a:ext cx="227880" cy="540720"/>
            </a:xfrm>
            <a:custGeom>
              <a:rect b="b" l="l" r="r" t="t"/>
              <a:pathLst>
                <a:path extrusionOk="0" h="1502" w="633">
                  <a:moveTo>
                    <a:pt x="0" y="0"/>
                  </a:moveTo>
                  <a:lnTo>
                    <a:pt x="0" y="1501"/>
                  </a:lnTo>
                  <a:lnTo>
                    <a:pt x="632" y="1501"/>
                  </a:lnTo>
                </a:path>
              </a:pathLst>
            </a:custGeom>
            <a:noFill/>
            <a:ln cap="flat" cmpd="sng" w="36000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7" name="Google Shape;307;p47"/>
            <p:cNvSpPr/>
            <p:nvPr/>
          </p:nvSpPr>
          <p:spPr>
            <a:xfrm>
              <a:off x="7836480" y="6081480"/>
              <a:ext cx="1343520" cy="46368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8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Plesiosaurus in a 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48"/>
          <p:cNvSpPr/>
          <p:nvPr/>
        </p:nvSpPr>
        <p:spPr>
          <a:xfrm>
            <a:off x="425160" y="3853440"/>
            <a:ext cx="2757960" cy="95184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MNHN A. C. 8592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40" y="1998720"/>
            <a:ext cx="936000" cy="179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Plesiosaurus in a 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0" name="Google Shape;320;p49"/>
          <p:cNvSpPr/>
          <p:nvPr/>
        </p:nvSpPr>
        <p:spPr>
          <a:xfrm>
            <a:off x="425160" y="3853440"/>
            <a:ext cx="2757960" cy="951840"/>
          </a:xfrm>
          <a:prstGeom prst="ellipse">
            <a:avLst/>
          </a:prstGeom>
          <a:solidFill>
            <a:srgbClr val="FFFFFF"/>
          </a:solidFill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MNHN A. C. 8592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40" y="1998720"/>
            <a:ext cx="936000" cy="179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9"/>
          <p:cNvSpPr txBox="1"/>
          <p:nvPr/>
        </p:nvSpPr>
        <p:spPr>
          <a:xfrm>
            <a:off x="1153800" y="5027400"/>
            <a:ext cx="184176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: 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recognized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: 1830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9"/>
          <p:cNvSpPr/>
          <p:nvPr/>
        </p:nvSpPr>
        <p:spPr>
          <a:xfrm>
            <a:off x="983160" y="4957560"/>
            <a:ext cx="185040" cy="625320"/>
          </a:xfrm>
          <a:custGeom>
            <a:rect b="b" l="l" r="r" t="t"/>
            <a:pathLst>
              <a:path extrusionOk="0" h="1739" w="516">
                <a:moveTo>
                  <a:pt x="515" y="0"/>
                </a:moveTo>
                <a:cubicBezTo>
                  <a:pt x="386" y="0"/>
                  <a:pt x="257" y="72"/>
                  <a:pt x="257" y="144"/>
                </a:cubicBezTo>
                <a:lnTo>
                  <a:pt x="257" y="724"/>
                </a:lnTo>
                <a:cubicBezTo>
                  <a:pt x="257" y="796"/>
                  <a:pt x="128" y="869"/>
                  <a:pt x="0" y="869"/>
                </a:cubicBezTo>
                <a:cubicBezTo>
                  <a:pt x="128" y="869"/>
                  <a:pt x="257" y="941"/>
                  <a:pt x="257" y="1013"/>
                </a:cubicBezTo>
                <a:lnTo>
                  <a:pt x="257" y="1593"/>
                </a:lnTo>
                <a:cubicBezTo>
                  <a:pt x="257" y="1665"/>
                  <a:pt x="386" y="1738"/>
                  <a:pt x="515" y="1738"/>
                </a:cubicBezTo>
              </a:path>
            </a:pathLst>
          </a:cu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9"/>
          <p:cNvSpPr/>
          <p:nvPr/>
        </p:nvSpPr>
        <p:spPr>
          <a:xfrm>
            <a:off x="766080" y="4629600"/>
            <a:ext cx="227880" cy="640080"/>
          </a:xfrm>
          <a:custGeom>
            <a:rect b="b" l="l" r="r" t="t"/>
            <a:pathLst>
              <a:path extrusionOk="0" h="1778" w="633">
                <a:moveTo>
                  <a:pt x="0" y="0"/>
                </a:moveTo>
                <a:lnTo>
                  <a:pt x="0" y="1777"/>
                </a:lnTo>
                <a:lnTo>
                  <a:pt x="632" y="1777"/>
                </a:lnTo>
              </a:path>
            </a:pathLst>
          </a:cu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Plesiosaurus in a 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30" name="Google Shape;330;p50"/>
          <p:cNvGrpSpPr/>
          <p:nvPr/>
        </p:nvGrpSpPr>
        <p:grpSpPr>
          <a:xfrm>
            <a:off x="336240" y="1465920"/>
            <a:ext cx="9334080" cy="4665600"/>
            <a:chOff x="336240" y="1465920"/>
            <a:chExt cx="9334080" cy="4665600"/>
          </a:xfrm>
        </p:grpSpPr>
        <p:sp>
          <p:nvSpPr>
            <p:cNvPr id="331" name="Google Shape;331;p50"/>
            <p:cNvSpPr/>
            <p:nvPr/>
          </p:nvSpPr>
          <p:spPr>
            <a:xfrm>
              <a:off x="425160" y="385344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" name="Google Shape;33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240" y="199872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50"/>
            <p:cNvSpPr/>
            <p:nvPr/>
          </p:nvSpPr>
          <p:spPr>
            <a:xfrm>
              <a:off x="4547880" y="1465920"/>
              <a:ext cx="315540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4" name="Google Shape;334;p50"/>
            <p:cNvCxnSpPr/>
            <p:nvPr/>
          </p:nvCxnSpPr>
          <p:spPr>
            <a:xfrm flipH="1" rot="10800000">
              <a:off x="2657520" y="223236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5" name="Google Shape;335;p50"/>
            <p:cNvSpPr txBox="1"/>
            <p:nvPr/>
          </p:nvSpPr>
          <p:spPr>
            <a:xfrm>
              <a:off x="3226320" y="277272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50"/>
            <p:cNvSpPr/>
            <p:nvPr/>
          </p:nvSpPr>
          <p:spPr>
            <a:xfrm>
              <a:off x="4548600" y="517968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Lyme 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" name="Google Shape;337;p50"/>
            <p:cNvCxnSpPr/>
            <p:nvPr/>
          </p:nvCxnSpPr>
          <p:spPr>
            <a:xfrm>
              <a:off x="3012840" y="4677840"/>
              <a:ext cx="1463760" cy="8334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8" name="Google Shape;338;p50"/>
            <p:cNvSpPr txBox="1"/>
            <p:nvPr/>
          </p:nvSpPr>
          <p:spPr>
            <a:xfrm>
              <a:off x="3475080" y="467064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50"/>
            <p:cNvSpPr/>
            <p:nvPr/>
          </p:nvSpPr>
          <p:spPr>
            <a:xfrm>
              <a:off x="7822800" y="513792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" name="Google Shape;340;p50"/>
            <p:cNvCxnSpPr/>
            <p:nvPr/>
          </p:nvCxnSpPr>
          <p:spPr>
            <a:xfrm>
              <a:off x="6495840" y="5618160"/>
              <a:ext cx="122256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41" name="Google Shape;341;p50"/>
            <p:cNvSpPr txBox="1"/>
            <p:nvPr/>
          </p:nvSpPr>
          <p:spPr>
            <a:xfrm>
              <a:off x="6538320" y="5285520"/>
              <a:ext cx="7491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country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50"/>
            <p:cNvSpPr txBox="1"/>
            <p:nvPr/>
          </p:nvSpPr>
          <p:spPr>
            <a:xfrm>
              <a:off x="1153800" y="5027400"/>
              <a:ext cx="184176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50"/>
            <p:cNvSpPr/>
            <p:nvPr/>
          </p:nvSpPr>
          <p:spPr>
            <a:xfrm>
              <a:off x="983160" y="495756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0"/>
            <p:cNvSpPr/>
            <p:nvPr/>
          </p:nvSpPr>
          <p:spPr>
            <a:xfrm>
              <a:off x="766080" y="462960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LSID Surrogate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0" name="Google Shape;350;p51"/>
          <p:cNvGrpSpPr/>
          <p:nvPr/>
        </p:nvGrpSpPr>
        <p:grpSpPr>
          <a:xfrm>
            <a:off x="345240" y="1465920"/>
            <a:ext cx="9334080" cy="4665600"/>
            <a:chOff x="345240" y="1465920"/>
            <a:chExt cx="9334080" cy="4665600"/>
          </a:xfrm>
        </p:grpSpPr>
        <p:sp>
          <p:nvSpPr>
            <p:cNvPr id="351" name="Google Shape;351;p51"/>
            <p:cNvSpPr/>
            <p:nvPr/>
          </p:nvSpPr>
          <p:spPr>
            <a:xfrm>
              <a:off x="434160" y="385344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2" name="Google Shape;35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5240" y="199872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3" name="Google Shape;353;p51"/>
            <p:cNvCxnSpPr/>
            <p:nvPr/>
          </p:nvCxnSpPr>
          <p:spPr>
            <a:xfrm flipH="1" rot="10800000">
              <a:off x="2666520" y="223236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4" name="Google Shape;354;p51"/>
            <p:cNvSpPr txBox="1"/>
            <p:nvPr/>
          </p:nvSpPr>
          <p:spPr>
            <a:xfrm>
              <a:off x="3235320" y="277272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1"/>
            <p:cNvSpPr/>
            <p:nvPr/>
          </p:nvSpPr>
          <p:spPr>
            <a:xfrm>
              <a:off x="4557600" y="517968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Lyme 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6" name="Google Shape;356;p51"/>
            <p:cNvCxnSpPr/>
            <p:nvPr/>
          </p:nvCxnSpPr>
          <p:spPr>
            <a:xfrm>
              <a:off x="3021840" y="4677840"/>
              <a:ext cx="1463760" cy="8334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7" name="Google Shape;357;p51"/>
            <p:cNvSpPr txBox="1"/>
            <p:nvPr/>
          </p:nvSpPr>
          <p:spPr>
            <a:xfrm>
              <a:off x="3484080" y="467064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1"/>
            <p:cNvSpPr/>
            <p:nvPr/>
          </p:nvSpPr>
          <p:spPr>
            <a:xfrm>
              <a:off x="7831800" y="513792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9" name="Google Shape;359;p51"/>
            <p:cNvCxnSpPr/>
            <p:nvPr/>
          </p:nvCxnSpPr>
          <p:spPr>
            <a:xfrm>
              <a:off x="6504840" y="5618160"/>
              <a:ext cx="122256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0" name="Google Shape;360;p51"/>
            <p:cNvSpPr txBox="1"/>
            <p:nvPr/>
          </p:nvSpPr>
          <p:spPr>
            <a:xfrm>
              <a:off x="6547320" y="5285520"/>
              <a:ext cx="7491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country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51"/>
            <p:cNvSpPr txBox="1"/>
            <p:nvPr/>
          </p:nvSpPr>
          <p:spPr>
            <a:xfrm>
              <a:off x="1162800" y="5027400"/>
              <a:ext cx="184176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51"/>
            <p:cNvSpPr/>
            <p:nvPr/>
          </p:nvSpPr>
          <p:spPr>
            <a:xfrm>
              <a:off x="992160" y="495756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1"/>
            <p:cNvSpPr/>
            <p:nvPr/>
          </p:nvSpPr>
          <p:spPr>
            <a:xfrm>
              <a:off x="775080" y="462960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4" name="Google Shape;364;p51"/>
            <p:cNvSpPr/>
            <p:nvPr/>
          </p:nvSpPr>
          <p:spPr>
            <a:xfrm>
              <a:off x="4556880" y="1465920"/>
              <a:ext cx="21607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LSID:123456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1"/>
            <p:cNvSpPr txBox="1"/>
            <p:nvPr/>
          </p:nvSpPr>
          <p:spPr>
            <a:xfrm>
              <a:off x="5414400" y="2739600"/>
              <a:ext cx="335988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popular@pt-BR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Plesiossauro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1"/>
            <p:cNvSpPr/>
            <p:nvPr/>
          </p:nvSpPr>
          <p:spPr>
            <a:xfrm>
              <a:off x="5243760" y="266976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1"/>
            <p:cNvSpPr/>
            <p:nvPr/>
          </p:nvSpPr>
          <p:spPr>
            <a:xfrm>
              <a:off x="5026680" y="234180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URI Identifiers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3" name="Google Shape;373;p52"/>
          <p:cNvGrpSpPr/>
          <p:nvPr/>
        </p:nvGrpSpPr>
        <p:grpSpPr>
          <a:xfrm>
            <a:off x="345600" y="1467000"/>
            <a:ext cx="9756360" cy="5225400"/>
            <a:chOff x="345600" y="1467000"/>
            <a:chExt cx="9756360" cy="5225400"/>
          </a:xfrm>
        </p:grpSpPr>
        <p:sp>
          <p:nvSpPr>
            <p:cNvPr id="374" name="Google Shape;374;p52"/>
            <p:cNvSpPr/>
            <p:nvPr/>
          </p:nvSpPr>
          <p:spPr>
            <a:xfrm>
              <a:off x="434520" y="385452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5" name="Google Shape;37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5600" y="199980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6" name="Google Shape;376;p52"/>
            <p:cNvCxnSpPr/>
            <p:nvPr/>
          </p:nvCxnSpPr>
          <p:spPr>
            <a:xfrm flipH="1" rot="10800000">
              <a:off x="2666880" y="223344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77" name="Google Shape;377;p52"/>
            <p:cNvSpPr txBox="1"/>
            <p:nvPr/>
          </p:nvSpPr>
          <p:spPr>
            <a:xfrm>
              <a:off x="3235680" y="277380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4557960" y="5180760"/>
              <a:ext cx="211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wiki:Lyme_Regis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52"/>
            <p:cNvCxnSpPr/>
            <p:nvPr/>
          </p:nvCxnSpPr>
          <p:spPr>
            <a:xfrm>
              <a:off x="3022200" y="4678920"/>
              <a:ext cx="1463760" cy="8334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80" name="Google Shape;380;p52"/>
            <p:cNvSpPr txBox="1"/>
            <p:nvPr/>
          </p:nvSpPr>
          <p:spPr>
            <a:xfrm>
              <a:off x="3484440" y="467172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2"/>
            <p:cNvSpPr/>
            <p:nvPr/>
          </p:nvSpPr>
          <p:spPr>
            <a:xfrm>
              <a:off x="8012160" y="513900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wiki:England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52"/>
            <p:cNvCxnSpPr/>
            <p:nvPr/>
          </p:nvCxnSpPr>
          <p:spPr>
            <a:xfrm>
              <a:off x="6757200" y="5619240"/>
              <a:ext cx="1222560" cy="0"/>
            </a:xfrm>
            <a:prstGeom prst="straightConnector1">
              <a:avLst/>
            </a:pr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83" name="Google Shape;383;p52"/>
            <p:cNvSpPr txBox="1"/>
            <p:nvPr/>
          </p:nvSpPr>
          <p:spPr>
            <a:xfrm>
              <a:off x="6799680" y="5286600"/>
              <a:ext cx="7491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country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2"/>
            <p:cNvSpPr txBox="1"/>
            <p:nvPr/>
          </p:nvSpPr>
          <p:spPr>
            <a:xfrm>
              <a:off x="1163160" y="5028480"/>
              <a:ext cx="184176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2"/>
            <p:cNvSpPr/>
            <p:nvPr/>
          </p:nvSpPr>
          <p:spPr>
            <a:xfrm>
              <a:off x="992520" y="495864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775440" y="463068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7" name="Google Shape;387;p52"/>
            <p:cNvSpPr/>
            <p:nvPr/>
          </p:nvSpPr>
          <p:spPr>
            <a:xfrm>
              <a:off x="4557240" y="1467000"/>
              <a:ext cx="21607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LSID:123456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2"/>
            <p:cNvSpPr txBox="1"/>
            <p:nvPr/>
          </p:nvSpPr>
          <p:spPr>
            <a:xfrm>
              <a:off x="5414760" y="2740680"/>
              <a:ext cx="335988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popular@pt-BR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Plesiossauro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5244120" y="267084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5027040" y="234288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1" name="Google Shape;391;p52"/>
            <p:cNvSpPr txBox="1"/>
            <p:nvPr/>
          </p:nvSpPr>
          <p:spPr>
            <a:xfrm>
              <a:off x="5216760" y="6366600"/>
              <a:ext cx="184644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Lyme 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2"/>
            <p:cNvSpPr/>
            <p:nvPr/>
          </p:nvSpPr>
          <p:spPr>
            <a:xfrm>
              <a:off x="5046120" y="6296760"/>
              <a:ext cx="185040" cy="395640"/>
            </a:xfrm>
            <a:custGeom>
              <a:rect b="b" l="l" r="r" t="t"/>
              <a:pathLst>
                <a:path extrusionOk="0" h="1101" w="516">
                  <a:moveTo>
                    <a:pt x="515" y="0"/>
                  </a:moveTo>
                  <a:cubicBezTo>
                    <a:pt x="386" y="0"/>
                    <a:pt x="257" y="45"/>
                    <a:pt x="257" y="91"/>
                  </a:cubicBezTo>
                  <a:lnTo>
                    <a:pt x="257" y="458"/>
                  </a:lnTo>
                  <a:cubicBezTo>
                    <a:pt x="257" y="504"/>
                    <a:pt x="128" y="550"/>
                    <a:pt x="0" y="550"/>
                  </a:cubicBezTo>
                  <a:cubicBezTo>
                    <a:pt x="128" y="550"/>
                    <a:pt x="257" y="595"/>
                    <a:pt x="257" y="641"/>
                  </a:cubicBezTo>
                  <a:lnTo>
                    <a:pt x="257" y="1008"/>
                  </a:lnTo>
                  <a:cubicBezTo>
                    <a:pt x="257" y="1054"/>
                    <a:pt x="386" y="1100"/>
                    <a:pt x="515" y="1100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2"/>
            <p:cNvSpPr/>
            <p:nvPr/>
          </p:nvSpPr>
          <p:spPr>
            <a:xfrm>
              <a:off x="4829040" y="5968800"/>
              <a:ext cx="227880" cy="524880"/>
            </a:xfrm>
            <a:custGeom>
              <a:rect b="b" l="l" r="r" t="t"/>
              <a:pathLst>
                <a:path extrusionOk="0" h="1458" w="633">
                  <a:moveTo>
                    <a:pt x="0" y="0"/>
                  </a:moveTo>
                  <a:lnTo>
                    <a:pt x="0" y="1457"/>
                  </a:lnTo>
                  <a:lnTo>
                    <a:pt x="632" y="1457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4" name="Google Shape;394;p52"/>
            <p:cNvSpPr txBox="1"/>
            <p:nvPr/>
          </p:nvSpPr>
          <p:spPr>
            <a:xfrm>
              <a:off x="8616600" y="6310440"/>
              <a:ext cx="148536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2"/>
            <p:cNvSpPr/>
            <p:nvPr/>
          </p:nvSpPr>
          <p:spPr>
            <a:xfrm>
              <a:off x="8445960" y="6240600"/>
              <a:ext cx="185040" cy="395640"/>
            </a:xfrm>
            <a:custGeom>
              <a:rect b="b" l="l" r="r" t="t"/>
              <a:pathLst>
                <a:path extrusionOk="0" h="1101" w="516">
                  <a:moveTo>
                    <a:pt x="515" y="0"/>
                  </a:moveTo>
                  <a:cubicBezTo>
                    <a:pt x="386" y="0"/>
                    <a:pt x="257" y="45"/>
                    <a:pt x="257" y="91"/>
                  </a:cubicBezTo>
                  <a:lnTo>
                    <a:pt x="257" y="458"/>
                  </a:lnTo>
                  <a:cubicBezTo>
                    <a:pt x="257" y="504"/>
                    <a:pt x="128" y="550"/>
                    <a:pt x="0" y="550"/>
                  </a:cubicBezTo>
                  <a:cubicBezTo>
                    <a:pt x="128" y="550"/>
                    <a:pt x="257" y="595"/>
                    <a:pt x="257" y="641"/>
                  </a:cubicBezTo>
                  <a:lnTo>
                    <a:pt x="257" y="1008"/>
                  </a:lnTo>
                  <a:cubicBezTo>
                    <a:pt x="257" y="1054"/>
                    <a:pt x="386" y="1100"/>
                    <a:pt x="515" y="1100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2"/>
            <p:cNvSpPr/>
            <p:nvPr/>
          </p:nvSpPr>
          <p:spPr>
            <a:xfrm>
              <a:off x="8228880" y="5912640"/>
              <a:ext cx="227880" cy="524880"/>
            </a:xfrm>
            <a:custGeom>
              <a:rect b="b" l="l" r="r" t="t"/>
              <a:pathLst>
                <a:path extrusionOk="0" h="1458" w="633">
                  <a:moveTo>
                    <a:pt x="0" y="0"/>
                  </a:moveTo>
                  <a:lnTo>
                    <a:pt x="0" y="1457"/>
                  </a:lnTo>
                  <a:lnTo>
                    <a:pt x="632" y="1457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Property in the </a:t>
            </a:r>
            <a:r>
              <a:rPr b="0" lang="en-US" sz="4400" strike="noStrike">
                <a:solidFill>
                  <a:srgbClr val="333366"/>
                </a:solidFill>
                <a:latin typeface="Courier New"/>
                <a:ea typeface="Courier New"/>
                <a:cs typeface="Courier New"/>
                <a:sym typeface="Courier New"/>
              </a:rPr>
              <a:t>origin</a:t>
            </a: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 edge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2" name="Google Shape;402;p53"/>
          <p:cNvGrpSpPr/>
          <p:nvPr/>
        </p:nvGrpSpPr>
        <p:grpSpPr>
          <a:xfrm>
            <a:off x="345960" y="1467360"/>
            <a:ext cx="9756360" cy="5225400"/>
            <a:chOff x="345960" y="1467360"/>
            <a:chExt cx="9756360" cy="5225400"/>
          </a:xfrm>
        </p:grpSpPr>
        <p:sp>
          <p:nvSpPr>
            <p:cNvPr id="403" name="Google Shape;403;p53"/>
            <p:cNvSpPr/>
            <p:nvPr/>
          </p:nvSpPr>
          <p:spPr>
            <a:xfrm>
              <a:off x="434880" y="385488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" name="Google Shape;404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5960" y="200016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5" name="Google Shape;405;p53"/>
            <p:cNvCxnSpPr/>
            <p:nvPr/>
          </p:nvCxnSpPr>
          <p:spPr>
            <a:xfrm flipH="1" rot="10800000">
              <a:off x="2667240" y="223380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6" name="Google Shape;406;p53"/>
            <p:cNvSpPr txBox="1"/>
            <p:nvPr/>
          </p:nvSpPr>
          <p:spPr>
            <a:xfrm>
              <a:off x="3236040" y="277416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3"/>
            <p:cNvSpPr/>
            <p:nvPr/>
          </p:nvSpPr>
          <p:spPr>
            <a:xfrm>
              <a:off x="4558320" y="5181120"/>
              <a:ext cx="211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wiki:Lyme_Regis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53"/>
            <p:cNvCxnSpPr/>
            <p:nvPr/>
          </p:nvCxnSpPr>
          <p:spPr>
            <a:xfrm>
              <a:off x="3022560" y="4679280"/>
              <a:ext cx="1463760" cy="8334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9" name="Google Shape;409;p53"/>
            <p:cNvSpPr txBox="1"/>
            <p:nvPr/>
          </p:nvSpPr>
          <p:spPr>
            <a:xfrm>
              <a:off x="3854520" y="487116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3"/>
            <p:cNvSpPr/>
            <p:nvPr/>
          </p:nvSpPr>
          <p:spPr>
            <a:xfrm>
              <a:off x="8012520" y="5139360"/>
              <a:ext cx="18475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wiki:England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1" name="Google Shape;411;p53"/>
            <p:cNvCxnSpPr/>
            <p:nvPr/>
          </p:nvCxnSpPr>
          <p:spPr>
            <a:xfrm>
              <a:off x="6757560" y="5619600"/>
              <a:ext cx="1222560" cy="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12" name="Google Shape;412;p53"/>
            <p:cNvSpPr txBox="1"/>
            <p:nvPr/>
          </p:nvSpPr>
          <p:spPr>
            <a:xfrm>
              <a:off x="6800040" y="5286960"/>
              <a:ext cx="7491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country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3"/>
            <p:cNvSpPr txBox="1"/>
            <p:nvPr/>
          </p:nvSpPr>
          <p:spPr>
            <a:xfrm>
              <a:off x="1163520" y="5028840"/>
              <a:ext cx="184176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: 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3"/>
            <p:cNvSpPr/>
            <p:nvPr/>
          </p:nvSpPr>
          <p:spPr>
            <a:xfrm>
              <a:off x="992880" y="495900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3"/>
            <p:cNvSpPr/>
            <p:nvPr/>
          </p:nvSpPr>
          <p:spPr>
            <a:xfrm>
              <a:off x="775800" y="463104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6" name="Google Shape;416;p53"/>
            <p:cNvSpPr/>
            <p:nvPr/>
          </p:nvSpPr>
          <p:spPr>
            <a:xfrm>
              <a:off x="4557600" y="1467360"/>
              <a:ext cx="21607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LSID:123456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3"/>
            <p:cNvSpPr txBox="1"/>
            <p:nvPr/>
          </p:nvSpPr>
          <p:spPr>
            <a:xfrm>
              <a:off x="5415120" y="2741040"/>
              <a:ext cx="3359880" cy="5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popular@pt-BR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Plesiossauro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3"/>
            <p:cNvSpPr/>
            <p:nvPr/>
          </p:nvSpPr>
          <p:spPr>
            <a:xfrm>
              <a:off x="5244480" y="2671200"/>
              <a:ext cx="185040" cy="625320"/>
            </a:xfrm>
            <a:custGeom>
              <a:rect b="b" l="l" r="r" t="t"/>
              <a:pathLst>
                <a:path extrusionOk="0" h="1739" w="516">
                  <a:moveTo>
                    <a:pt x="515" y="0"/>
                  </a:moveTo>
                  <a:cubicBezTo>
                    <a:pt x="386" y="0"/>
                    <a:pt x="257" y="72"/>
                    <a:pt x="257" y="144"/>
                  </a:cubicBezTo>
                  <a:lnTo>
                    <a:pt x="257" y="724"/>
                  </a:lnTo>
                  <a:cubicBezTo>
                    <a:pt x="257" y="796"/>
                    <a:pt x="128" y="869"/>
                    <a:pt x="0" y="869"/>
                  </a:cubicBezTo>
                  <a:cubicBezTo>
                    <a:pt x="128" y="869"/>
                    <a:pt x="257" y="941"/>
                    <a:pt x="257" y="1013"/>
                  </a:cubicBezTo>
                  <a:lnTo>
                    <a:pt x="257" y="1593"/>
                  </a:lnTo>
                  <a:cubicBezTo>
                    <a:pt x="257" y="1665"/>
                    <a:pt x="386" y="1738"/>
                    <a:pt x="515" y="1738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3"/>
            <p:cNvSpPr/>
            <p:nvPr/>
          </p:nvSpPr>
          <p:spPr>
            <a:xfrm>
              <a:off x="5027400" y="2343240"/>
              <a:ext cx="227880" cy="640080"/>
            </a:xfrm>
            <a:custGeom>
              <a:rect b="b" l="l" r="r" t="t"/>
              <a:pathLst>
                <a:path extrusionOk="0" h="1778" w="633">
                  <a:moveTo>
                    <a:pt x="0" y="0"/>
                  </a:moveTo>
                  <a:lnTo>
                    <a:pt x="0" y="1777"/>
                  </a:lnTo>
                  <a:lnTo>
                    <a:pt x="632" y="177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0" name="Google Shape;420;p53"/>
            <p:cNvSpPr txBox="1"/>
            <p:nvPr/>
          </p:nvSpPr>
          <p:spPr>
            <a:xfrm>
              <a:off x="5217120" y="6366960"/>
              <a:ext cx="184644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Lyme 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3"/>
            <p:cNvSpPr/>
            <p:nvPr/>
          </p:nvSpPr>
          <p:spPr>
            <a:xfrm>
              <a:off x="5046480" y="6297120"/>
              <a:ext cx="185040" cy="395640"/>
            </a:xfrm>
            <a:custGeom>
              <a:rect b="b" l="l" r="r" t="t"/>
              <a:pathLst>
                <a:path extrusionOk="0" h="1101" w="516">
                  <a:moveTo>
                    <a:pt x="515" y="0"/>
                  </a:moveTo>
                  <a:cubicBezTo>
                    <a:pt x="386" y="0"/>
                    <a:pt x="257" y="45"/>
                    <a:pt x="257" y="91"/>
                  </a:cubicBezTo>
                  <a:lnTo>
                    <a:pt x="257" y="458"/>
                  </a:lnTo>
                  <a:cubicBezTo>
                    <a:pt x="257" y="504"/>
                    <a:pt x="128" y="550"/>
                    <a:pt x="0" y="550"/>
                  </a:cubicBezTo>
                  <a:cubicBezTo>
                    <a:pt x="128" y="550"/>
                    <a:pt x="257" y="595"/>
                    <a:pt x="257" y="641"/>
                  </a:cubicBezTo>
                  <a:lnTo>
                    <a:pt x="257" y="1008"/>
                  </a:lnTo>
                  <a:cubicBezTo>
                    <a:pt x="257" y="1054"/>
                    <a:pt x="386" y="1100"/>
                    <a:pt x="515" y="1100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3"/>
            <p:cNvSpPr/>
            <p:nvPr/>
          </p:nvSpPr>
          <p:spPr>
            <a:xfrm>
              <a:off x="4829400" y="5969160"/>
              <a:ext cx="227880" cy="524880"/>
            </a:xfrm>
            <a:custGeom>
              <a:rect b="b" l="l" r="r" t="t"/>
              <a:pathLst>
                <a:path extrusionOk="0" h="1458" w="633">
                  <a:moveTo>
                    <a:pt x="0" y="0"/>
                  </a:moveTo>
                  <a:lnTo>
                    <a:pt x="0" y="1457"/>
                  </a:lnTo>
                  <a:lnTo>
                    <a:pt x="632" y="145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3" name="Google Shape;423;p53"/>
            <p:cNvSpPr txBox="1"/>
            <p:nvPr/>
          </p:nvSpPr>
          <p:spPr>
            <a:xfrm>
              <a:off x="8616960" y="6310800"/>
              <a:ext cx="148536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England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3"/>
            <p:cNvSpPr/>
            <p:nvPr/>
          </p:nvSpPr>
          <p:spPr>
            <a:xfrm>
              <a:off x="8446320" y="6240960"/>
              <a:ext cx="185040" cy="395640"/>
            </a:xfrm>
            <a:custGeom>
              <a:rect b="b" l="l" r="r" t="t"/>
              <a:pathLst>
                <a:path extrusionOk="0" h="1101" w="516">
                  <a:moveTo>
                    <a:pt x="515" y="0"/>
                  </a:moveTo>
                  <a:cubicBezTo>
                    <a:pt x="386" y="0"/>
                    <a:pt x="257" y="45"/>
                    <a:pt x="257" y="91"/>
                  </a:cubicBezTo>
                  <a:lnTo>
                    <a:pt x="257" y="458"/>
                  </a:lnTo>
                  <a:cubicBezTo>
                    <a:pt x="257" y="504"/>
                    <a:pt x="128" y="550"/>
                    <a:pt x="0" y="550"/>
                  </a:cubicBezTo>
                  <a:cubicBezTo>
                    <a:pt x="128" y="550"/>
                    <a:pt x="257" y="595"/>
                    <a:pt x="257" y="641"/>
                  </a:cubicBezTo>
                  <a:lnTo>
                    <a:pt x="257" y="1008"/>
                  </a:lnTo>
                  <a:cubicBezTo>
                    <a:pt x="257" y="1054"/>
                    <a:pt x="386" y="1100"/>
                    <a:pt x="515" y="1100"/>
                  </a:cubicBez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3"/>
            <p:cNvSpPr/>
            <p:nvPr/>
          </p:nvSpPr>
          <p:spPr>
            <a:xfrm>
              <a:off x="8229240" y="5913000"/>
              <a:ext cx="227880" cy="524880"/>
            </a:xfrm>
            <a:custGeom>
              <a:rect b="b" l="l" r="r" t="t"/>
              <a:pathLst>
                <a:path extrusionOk="0" h="1458" w="633">
                  <a:moveTo>
                    <a:pt x="0" y="0"/>
                  </a:moveTo>
                  <a:lnTo>
                    <a:pt x="0" y="1457"/>
                  </a:lnTo>
                  <a:lnTo>
                    <a:pt x="632" y="1457"/>
                  </a:lnTo>
                </a:path>
              </a:pathLst>
            </a:cu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6" name="Google Shape;426;p53"/>
            <p:cNvSpPr txBox="1"/>
            <p:nvPr/>
          </p:nvSpPr>
          <p:spPr>
            <a:xfrm>
              <a:off x="4066560" y="4235400"/>
              <a:ext cx="1840320" cy="2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discovered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: 1824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3"/>
            <p:cNvSpPr/>
            <p:nvPr/>
          </p:nvSpPr>
          <p:spPr>
            <a:xfrm>
              <a:off x="3895920" y="4165560"/>
              <a:ext cx="185040" cy="395640"/>
            </a:xfrm>
            <a:custGeom>
              <a:rect b="b" l="l" r="r" t="t"/>
              <a:pathLst>
                <a:path extrusionOk="0" h="1101" w="516">
                  <a:moveTo>
                    <a:pt x="515" y="0"/>
                  </a:moveTo>
                  <a:cubicBezTo>
                    <a:pt x="386" y="0"/>
                    <a:pt x="257" y="45"/>
                    <a:pt x="257" y="91"/>
                  </a:cubicBezTo>
                  <a:lnTo>
                    <a:pt x="257" y="458"/>
                  </a:lnTo>
                  <a:cubicBezTo>
                    <a:pt x="257" y="504"/>
                    <a:pt x="128" y="550"/>
                    <a:pt x="0" y="550"/>
                  </a:cubicBezTo>
                  <a:cubicBezTo>
                    <a:pt x="128" y="550"/>
                    <a:pt x="257" y="595"/>
                    <a:pt x="257" y="641"/>
                  </a:cubicBezTo>
                  <a:lnTo>
                    <a:pt x="257" y="1008"/>
                  </a:lnTo>
                  <a:cubicBezTo>
                    <a:pt x="257" y="1054"/>
                    <a:pt x="386" y="1100"/>
                    <a:pt x="515" y="1100"/>
                  </a:cubicBez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3"/>
            <p:cNvSpPr/>
            <p:nvPr/>
          </p:nvSpPr>
          <p:spPr>
            <a:xfrm>
              <a:off x="3678840" y="4362120"/>
              <a:ext cx="227880" cy="710280"/>
            </a:xfrm>
            <a:custGeom>
              <a:rect b="b" l="l" r="r" t="t"/>
              <a:pathLst>
                <a:path extrusionOk="0" h="1973" w="633">
                  <a:moveTo>
                    <a:pt x="0" y="1972"/>
                  </a:moveTo>
                  <a:lnTo>
                    <a:pt x="0" y="0"/>
                  </a:lnTo>
                  <a:lnTo>
                    <a:pt x="632" y="0"/>
                  </a:lnTo>
                </a:path>
              </a:pathLst>
            </a:cu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Back to the Property Graph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34" name="Google Shape;434;p54"/>
          <p:cNvGrpSpPr/>
          <p:nvPr/>
        </p:nvGrpSpPr>
        <p:grpSpPr>
          <a:xfrm>
            <a:off x="251640" y="1215720"/>
            <a:ext cx="10008360" cy="6200280"/>
            <a:chOff x="251640" y="1215720"/>
            <a:chExt cx="10008360" cy="6200280"/>
          </a:xfrm>
        </p:grpSpPr>
        <p:sp>
          <p:nvSpPr>
            <p:cNvPr id="435" name="Google Shape;435;p54"/>
            <p:cNvSpPr/>
            <p:nvPr/>
          </p:nvSpPr>
          <p:spPr>
            <a:xfrm>
              <a:off x="340560" y="439848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6" name="Google Shape;436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640" y="254376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7" name="Google Shape;437;p54"/>
            <p:cNvCxnSpPr/>
            <p:nvPr/>
          </p:nvCxnSpPr>
          <p:spPr>
            <a:xfrm flipH="1" rot="10800000">
              <a:off x="3212280" y="3895560"/>
              <a:ext cx="2032920" cy="8388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8" name="Google Shape;438;p54"/>
            <p:cNvSpPr/>
            <p:nvPr/>
          </p:nvSpPr>
          <p:spPr>
            <a:xfrm>
              <a:off x="5330160" y="3687480"/>
              <a:ext cx="61164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4"/>
            <p:cNvSpPr txBox="1"/>
            <p:nvPr/>
          </p:nvSpPr>
          <p:spPr>
            <a:xfrm>
              <a:off x="3984120" y="4023000"/>
              <a:ext cx="406080" cy="284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4"/>
            <p:cNvSpPr/>
            <p:nvPr/>
          </p:nvSpPr>
          <p:spPr>
            <a:xfrm>
              <a:off x="4463280" y="2010960"/>
              <a:ext cx="21607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LSID:123456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" name="Google Shape;441;p54"/>
            <p:cNvCxnSpPr/>
            <p:nvPr/>
          </p:nvCxnSpPr>
          <p:spPr>
            <a:xfrm flipH="1" rot="10800000">
              <a:off x="2572920" y="277740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2" name="Google Shape;442;p54"/>
            <p:cNvSpPr txBox="1"/>
            <p:nvPr/>
          </p:nvSpPr>
          <p:spPr>
            <a:xfrm>
              <a:off x="3141720" y="331776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4"/>
            <p:cNvSpPr/>
            <p:nvPr/>
          </p:nvSpPr>
          <p:spPr>
            <a:xfrm>
              <a:off x="2985120" y="6464160"/>
              <a:ext cx="26863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wiki:</a:t>
              </a: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Lyme_Regis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" name="Google Shape;444;p54"/>
            <p:cNvCxnSpPr/>
            <p:nvPr/>
          </p:nvCxnSpPr>
          <p:spPr>
            <a:xfrm>
              <a:off x="2928240" y="5222880"/>
              <a:ext cx="482760" cy="1373400"/>
            </a:xfrm>
            <a:prstGeom prst="straightConnector1">
              <a:avLst/>
            </a:pr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5" name="Google Shape;445;p54"/>
            <p:cNvSpPr txBox="1"/>
            <p:nvPr/>
          </p:nvSpPr>
          <p:spPr>
            <a:xfrm>
              <a:off x="3333240" y="575568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4"/>
            <p:cNvSpPr/>
            <p:nvPr/>
          </p:nvSpPr>
          <p:spPr>
            <a:xfrm>
              <a:off x="5316840" y="5280840"/>
              <a:ext cx="93780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7" name="Google Shape;447;p54"/>
            <p:cNvCxnSpPr/>
            <p:nvPr/>
          </p:nvCxnSpPr>
          <p:spPr>
            <a:xfrm>
              <a:off x="3226680" y="4947480"/>
              <a:ext cx="1933200" cy="5400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8" name="Google Shape;448;p54"/>
            <p:cNvSpPr txBox="1"/>
            <p:nvPr/>
          </p:nvSpPr>
          <p:spPr>
            <a:xfrm>
              <a:off x="3823560" y="4876560"/>
              <a:ext cx="1114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4"/>
            <p:cNvSpPr/>
            <p:nvPr/>
          </p:nvSpPr>
          <p:spPr>
            <a:xfrm>
              <a:off x="7247880" y="1215720"/>
              <a:ext cx="301212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0" name="Google Shape;450;p54"/>
            <p:cNvCxnSpPr/>
            <p:nvPr/>
          </p:nvCxnSpPr>
          <p:spPr>
            <a:xfrm flipH="1" rot="10800000">
              <a:off x="6268680" y="1464120"/>
              <a:ext cx="895680" cy="6112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1" name="Google Shape;451;p54"/>
            <p:cNvSpPr txBox="1"/>
            <p:nvPr/>
          </p:nvSpPr>
          <p:spPr>
            <a:xfrm>
              <a:off x="6197760" y="1549440"/>
              <a:ext cx="4809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label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4"/>
            <p:cNvSpPr/>
            <p:nvPr/>
          </p:nvSpPr>
          <p:spPr>
            <a:xfrm>
              <a:off x="8159040" y="3292200"/>
              <a:ext cx="157860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Plesiossauro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3" name="Google Shape;453;p54"/>
            <p:cNvCxnSpPr/>
            <p:nvPr/>
          </p:nvCxnSpPr>
          <p:spPr>
            <a:xfrm>
              <a:off x="6453720" y="2828880"/>
              <a:ext cx="1663200" cy="7110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4" name="Google Shape;454;p54"/>
            <p:cNvSpPr txBox="1"/>
            <p:nvPr/>
          </p:nvSpPr>
          <p:spPr>
            <a:xfrm>
              <a:off x="6809040" y="2715120"/>
              <a:ext cx="14713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popular: pt-BR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/>
        </p:nvSpPr>
        <p:spPr>
          <a:xfrm>
            <a:off x="504000" y="259920"/>
            <a:ext cx="4176000" cy="134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Two properties for </a:t>
            </a:r>
            <a:r>
              <a:rPr b="0" lang="en-US" sz="4400" strike="noStrike">
                <a:solidFill>
                  <a:srgbClr val="333366"/>
                </a:solidFill>
                <a:latin typeface="Courier New"/>
                <a:ea typeface="Courier New"/>
                <a:cs typeface="Courier New"/>
                <a:sym typeface="Courier New"/>
              </a:rPr>
              <a:t>origin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60" name="Google Shape;460;p55"/>
          <p:cNvGrpSpPr/>
          <p:nvPr/>
        </p:nvGrpSpPr>
        <p:grpSpPr>
          <a:xfrm>
            <a:off x="261000" y="743760"/>
            <a:ext cx="10008360" cy="6709320"/>
            <a:chOff x="261000" y="743760"/>
            <a:chExt cx="10008360" cy="6709320"/>
          </a:xfrm>
        </p:grpSpPr>
        <p:sp>
          <p:nvSpPr>
            <p:cNvPr id="461" name="Google Shape;461;p55"/>
            <p:cNvSpPr/>
            <p:nvPr/>
          </p:nvSpPr>
          <p:spPr>
            <a:xfrm>
              <a:off x="349920" y="3926520"/>
              <a:ext cx="275796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MNHN A. C. 8592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2" name="Google Shape;462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1000" y="2071800"/>
              <a:ext cx="936000" cy="17967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3" name="Google Shape;463;p55"/>
            <p:cNvCxnSpPr/>
            <p:nvPr/>
          </p:nvCxnSpPr>
          <p:spPr>
            <a:xfrm flipH="1" rot="10800000">
              <a:off x="3221640" y="3423600"/>
              <a:ext cx="2032920" cy="8388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4" name="Google Shape;464;p55"/>
            <p:cNvSpPr/>
            <p:nvPr/>
          </p:nvSpPr>
          <p:spPr>
            <a:xfrm>
              <a:off x="5339520" y="3215520"/>
              <a:ext cx="61164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5"/>
            <p:cNvSpPr txBox="1"/>
            <p:nvPr/>
          </p:nvSpPr>
          <p:spPr>
            <a:xfrm>
              <a:off x="3993480" y="3551040"/>
              <a:ext cx="406080" cy="284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5"/>
            <p:cNvSpPr/>
            <p:nvPr/>
          </p:nvSpPr>
          <p:spPr>
            <a:xfrm>
              <a:off x="4472640" y="1539000"/>
              <a:ext cx="21607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LSID:123456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55"/>
            <p:cNvCxnSpPr/>
            <p:nvPr/>
          </p:nvCxnSpPr>
          <p:spPr>
            <a:xfrm flipH="1" rot="10800000">
              <a:off x="2582280" y="2305440"/>
              <a:ext cx="1962000" cy="16066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8" name="Google Shape;468;p55"/>
            <p:cNvSpPr txBox="1"/>
            <p:nvPr/>
          </p:nvSpPr>
          <p:spPr>
            <a:xfrm>
              <a:off x="3151080" y="2845800"/>
              <a:ext cx="355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is 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5"/>
            <p:cNvSpPr/>
            <p:nvPr/>
          </p:nvSpPr>
          <p:spPr>
            <a:xfrm>
              <a:off x="4885560" y="5253480"/>
              <a:ext cx="2686320" cy="951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wiki:Lyme_Regis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5"/>
            <p:cNvSpPr/>
            <p:nvPr/>
          </p:nvSpPr>
          <p:spPr>
            <a:xfrm>
              <a:off x="5340240" y="4524480"/>
              <a:ext cx="93780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1830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1" name="Google Shape;471;p55"/>
            <p:cNvCxnSpPr/>
            <p:nvPr/>
          </p:nvCxnSpPr>
          <p:spPr>
            <a:xfrm>
              <a:off x="3236040" y="4475520"/>
              <a:ext cx="2004120" cy="2556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2" name="Google Shape;472;p55"/>
            <p:cNvSpPr txBox="1"/>
            <p:nvPr/>
          </p:nvSpPr>
          <p:spPr>
            <a:xfrm>
              <a:off x="3889800" y="4290840"/>
              <a:ext cx="1114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recognized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5"/>
            <p:cNvSpPr/>
            <p:nvPr/>
          </p:nvSpPr>
          <p:spPr>
            <a:xfrm>
              <a:off x="7257240" y="743760"/>
              <a:ext cx="301212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Plesiosaurus dolichodeirus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4" name="Google Shape;474;p55"/>
            <p:cNvCxnSpPr/>
            <p:nvPr/>
          </p:nvCxnSpPr>
          <p:spPr>
            <a:xfrm flipH="1" rot="10800000">
              <a:off x="6278040" y="992160"/>
              <a:ext cx="895680" cy="61128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5" name="Google Shape;475;p55"/>
            <p:cNvSpPr txBox="1"/>
            <p:nvPr/>
          </p:nvSpPr>
          <p:spPr>
            <a:xfrm>
              <a:off x="6207120" y="1077480"/>
              <a:ext cx="48096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label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5"/>
            <p:cNvSpPr/>
            <p:nvPr/>
          </p:nvSpPr>
          <p:spPr>
            <a:xfrm>
              <a:off x="8168400" y="2820240"/>
              <a:ext cx="157860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Plesiossauro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7" name="Google Shape;477;p55"/>
            <p:cNvCxnSpPr/>
            <p:nvPr/>
          </p:nvCxnSpPr>
          <p:spPr>
            <a:xfrm>
              <a:off x="6463080" y="2356920"/>
              <a:ext cx="1663200" cy="711000"/>
            </a:xfrm>
            <a:prstGeom prst="straightConnector1">
              <a:avLst/>
            </a:prstGeom>
            <a:noFill/>
            <a:ln cap="flat" cmpd="sng" w="360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8" name="Google Shape;478;p55"/>
            <p:cNvSpPr txBox="1"/>
            <p:nvPr/>
          </p:nvSpPr>
          <p:spPr>
            <a:xfrm>
              <a:off x="6818400" y="2243160"/>
              <a:ext cx="14713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popular: pt-BR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55"/>
            <p:cNvCxnSpPr/>
            <p:nvPr/>
          </p:nvCxnSpPr>
          <p:spPr>
            <a:xfrm>
              <a:off x="2721600" y="4750920"/>
              <a:ext cx="440640" cy="932760"/>
            </a:xfrm>
            <a:prstGeom prst="straightConnector1">
              <a:avLst/>
            </a:pr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0" name="Google Shape;480;p55"/>
            <p:cNvSpPr txBox="1"/>
            <p:nvPr/>
          </p:nvSpPr>
          <p:spPr>
            <a:xfrm>
              <a:off x="2998800" y="4885920"/>
              <a:ext cx="55692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5"/>
            <p:cNvSpPr/>
            <p:nvPr/>
          </p:nvSpPr>
          <p:spPr>
            <a:xfrm>
              <a:off x="3062520" y="5769000"/>
              <a:ext cx="639720" cy="582840"/>
            </a:xfrm>
            <a:prstGeom prst="ellipse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2" name="Google Shape;482;p55"/>
            <p:cNvCxnSpPr/>
            <p:nvPr/>
          </p:nvCxnSpPr>
          <p:spPr>
            <a:xfrm flipH="1" rot="10800000">
              <a:off x="3759120" y="5769000"/>
              <a:ext cx="1026000" cy="383760"/>
            </a:xfrm>
            <a:prstGeom prst="straightConnector1">
              <a:avLst/>
            </a:pr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3" name="Google Shape;483;p55"/>
            <p:cNvSpPr txBox="1"/>
            <p:nvPr/>
          </p:nvSpPr>
          <p:spPr>
            <a:xfrm>
              <a:off x="3831120" y="5688720"/>
              <a:ext cx="544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place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5"/>
            <p:cNvSpPr/>
            <p:nvPr/>
          </p:nvSpPr>
          <p:spPr>
            <a:xfrm>
              <a:off x="4912200" y="6984360"/>
              <a:ext cx="937800" cy="468720"/>
            </a:xfrm>
            <a:prstGeom prst="rect">
              <a:avLst/>
            </a:prstGeom>
            <a:solidFill>
              <a:srgbClr val="FFFFFF"/>
            </a:solidFill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1824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485;p55"/>
            <p:cNvCxnSpPr/>
            <p:nvPr/>
          </p:nvCxnSpPr>
          <p:spPr>
            <a:xfrm>
              <a:off x="3662640" y="6337800"/>
              <a:ext cx="1207800" cy="781920"/>
            </a:xfrm>
            <a:prstGeom prst="straightConnector1">
              <a:avLst/>
            </a:prstGeom>
            <a:noFill/>
            <a:ln cap="flat" cmpd="sng" w="360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6" name="Google Shape;486;p55"/>
            <p:cNvSpPr txBox="1"/>
            <p:nvPr/>
          </p:nvSpPr>
          <p:spPr>
            <a:xfrm>
              <a:off x="4060440" y="6309000"/>
              <a:ext cx="1102680" cy="25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discovered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800" y="1971360"/>
            <a:ext cx="379440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77" name="Google Shape;57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00" y="1980000"/>
            <a:ext cx="9153000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83" name="Google Shape;58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1847880"/>
            <a:ext cx="9209160" cy="4272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5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viz tools for graphs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9" name="Google Shape;589;p75"/>
          <p:cNvSpPr txBox="1"/>
          <p:nvPr/>
        </p:nvSpPr>
        <p:spPr>
          <a:xfrm>
            <a:off x="540000" y="1800000"/>
            <a:ext cx="88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Gephi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800" y="2340000"/>
            <a:ext cx="7864200" cy="485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6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viz tools for graphs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6" name="Google Shape;596;p76"/>
          <p:cNvSpPr txBox="1"/>
          <p:nvPr/>
        </p:nvSpPr>
        <p:spPr>
          <a:xfrm>
            <a:off x="540000" y="1620000"/>
            <a:ext cx="88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Gephi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000" y="2203920"/>
            <a:ext cx="8242920" cy="463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7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viz tools for graphs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3" name="Google Shape;603;p77"/>
          <p:cNvSpPr txBox="1"/>
          <p:nvPr/>
        </p:nvSpPr>
        <p:spPr>
          <a:xfrm>
            <a:off x="540000" y="1620000"/>
            <a:ext cx="8820000" cy="162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Python + Jupyter: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   Simple Examples: </a:t>
            </a:r>
            <a:r>
              <a:rPr b="0" lang="en-US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https://nicolewhite.github.io/neo4j-jupyter/hello-world.html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   Analyzing the Panama Papers with Python &amp; Neo4j: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                     </a:t>
            </a:r>
            <a:r>
              <a:rPr b="0" lang="en-US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https://nicolewhite.github.io/neo4j-jupyter/panama.html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0" y="246240"/>
            <a:ext cx="8008920" cy="708552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8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Les Miserables</a:t>
            </a:r>
            <a:br>
              <a:rPr lang="en-US" sz="1800"/>
            </a:br>
            <a:r>
              <a:rPr b="0" lang="en-US" sz="28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(Neo4j example)</a:t>
            </a:r>
            <a:endParaRPr b="0" sz="28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880" y="360000"/>
            <a:ext cx="8115120" cy="701964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9"/>
          <p:cNvSpPr txBox="1"/>
          <p:nvPr/>
        </p:nvSpPr>
        <p:spPr>
          <a:xfrm>
            <a:off x="504000" y="281520"/>
            <a:ext cx="4716000" cy="13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Cadeia Alimentar</a:t>
            </a:r>
            <a:br>
              <a:rPr lang="en-US" sz="1800"/>
            </a:b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FishBase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6" name="Google Shape;61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000" y="2700000"/>
            <a:ext cx="5591160" cy="4680000"/>
          </a:xfrm>
          <a:prstGeom prst="rect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Yeast proteins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2" name="Google Shape;62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2080" y="1564920"/>
            <a:ext cx="4327920" cy="491508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0"/>
          <p:cNvSpPr txBox="1"/>
          <p:nvPr/>
        </p:nvSpPr>
        <p:spPr>
          <a:xfrm>
            <a:off x="1569600" y="6300720"/>
            <a:ext cx="694584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Yeast proteins: Sergei Maslov and Kim Sneppen,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Specificity and stability in topology of protein networks</a:t>
            </a: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,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Science 296, 910-913 (2002).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Topology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9" name="Google Shape;62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280" y="1977840"/>
            <a:ext cx="9235440" cy="450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From Dataspaces to Ontologies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35" name="Google Shape;63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880" y="1717920"/>
            <a:ext cx="8940600" cy="50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Data Exploration Prototype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1" name="Google Shape;64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" y="1476000"/>
            <a:ext cx="9130680" cy="570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7" name="Google Shape;647;p84"/>
          <p:cNvPicPr preferRelativeResize="0"/>
          <p:nvPr/>
        </p:nvPicPr>
        <p:blipFill rotWithShape="1">
          <a:blip r:embed="rId3">
            <a:alphaModFix/>
          </a:blip>
          <a:srcRect b="19054" l="12495" r="57145" t="30142"/>
          <a:stretch/>
        </p:blipFill>
        <p:spPr>
          <a:xfrm>
            <a:off x="741600" y="2160000"/>
            <a:ext cx="8798400" cy="41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5"/>
          <p:cNvSpPr/>
          <p:nvPr/>
        </p:nvSpPr>
        <p:spPr>
          <a:xfrm>
            <a:off x="400320" y="1164960"/>
            <a:ext cx="4227840" cy="21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7 distinct morphological descriptions: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genus Varanus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gouldii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indicus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prasinus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salvator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spiny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timorensis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5"/>
          <p:cNvSpPr/>
          <p:nvPr/>
        </p:nvSpPr>
        <p:spPr>
          <a:xfrm>
            <a:off x="0" y="7169760"/>
            <a:ext cx="1007964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8240" y="2006640"/>
            <a:ext cx="4766040" cy="4761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85"/>
          <p:cNvSpPr/>
          <p:nvPr/>
        </p:nvSpPr>
        <p:spPr>
          <a:xfrm>
            <a:off x="2700360" y="3619800"/>
            <a:ext cx="2340000" cy="2696040"/>
          </a:xfrm>
          <a:custGeom>
            <a:rect b="b" l="l" r="r" t="t"/>
            <a:pathLst>
              <a:path extrusionOk="0" h="2445998" w="2122907">
                <a:moveTo>
                  <a:pt x="157809" y="0"/>
                </a:moveTo>
                <a:lnTo>
                  <a:pt x="0" y="443361"/>
                </a:lnTo>
                <a:lnTo>
                  <a:pt x="18787" y="1006955"/>
                </a:lnTo>
                <a:lnTo>
                  <a:pt x="202897" y="1623151"/>
                </a:lnTo>
                <a:lnTo>
                  <a:pt x="499728" y="2111599"/>
                </a:lnTo>
                <a:lnTo>
                  <a:pt x="943097" y="2445998"/>
                </a:lnTo>
                <a:lnTo>
                  <a:pt x="1296288" y="2111599"/>
                </a:lnTo>
                <a:lnTo>
                  <a:pt x="1641965" y="1968822"/>
                </a:lnTo>
                <a:lnTo>
                  <a:pt x="1874921" y="1604365"/>
                </a:lnTo>
                <a:lnTo>
                  <a:pt x="1920010" y="1326325"/>
                </a:lnTo>
                <a:lnTo>
                  <a:pt x="2122907" y="1247422"/>
                </a:lnTo>
                <a:lnTo>
                  <a:pt x="1694568" y="796546"/>
                </a:lnTo>
                <a:lnTo>
                  <a:pt x="1258715" y="349429"/>
                </a:lnTo>
                <a:lnTo>
                  <a:pt x="856677" y="259253"/>
                </a:lnTo>
                <a:lnTo>
                  <a:pt x="661295" y="187865"/>
                </a:lnTo>
                <a:lnTo>
                  <a:pt x="612449" y="67632"/>
                </a:lnTo>
                <a:lnTo>
                  <a:pt x="157809" y="0"/>
                </a:lnTo>
                <a:close/>
              </a:path>
            </a:pathLst>
          </a:custGeom>
          <a:solidFill>
            <a:srgbClr val="86C525">
              <a:alpha val="14901"/>
            </a:srgbClr>
          </a:solidFill>
          <a:ln cap="flat" cmpd="sng" w="9525">
            <a:solidFill>
              <a:srgbClr val="86C52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85"/>
          <p:cNvSpPr/>
          <p:nvPr/>
        </p:nvSpPr>
        <p:spPr>
          <a:xfrm>
            <a:off x="3772800" y="4998960"/>
            <a:ext cx="2286000" cy="1772280"/>
          </a:xfrm>
          <a:custGeom>
            <a:rect b="b" l="l" r="r" t="t"/>
            <a:pathLst>
              <a:path extrusionOk="0" h="1608122" w="2074062">
                <a:moveTo>
                  <a:pt x="0" y="1221121"/>
                </a:moveTo>
                <a:lnTo>
                  <a:pt x="345677" y="890479"/>
                </a:lnTo>
                <a:lnTo>
                  <a:pt x="687596" y="743944"/>
                </a:lnTo>
                <a:lnTo>
                  <a:pt x="935582" y="349429"/>
                </a:lnTo>
                <a:lnTo>
                  <a:pt x="973156" y="97690"/>
                </a:lnTo>
                <a:lnTo>
                  <a:pt x="1157266" y="18787"/>
                </a:lnTo>
                <a:lnTo>
                  <a:pt x="1525487" y="37573"/>
                </a:lnTo>
                <a:lnTo>
                  <a:pt x="1837348" y="67632"/>
                </a:lnTo>
                <a:lnTo>
                  <a:pt x="2074062" y="0"/>
                </a:lnTo>
                <a:lnTo>
                  <a:pt x="1983885" y="334399"/>
                </a:lnTo>
                <a:lnTo>
                  <a:pt x="1634451" y="582381"/>
                </a:lnTo>
                <a:lnTo>
                  <a:pt x="1626936" y="841634"/>
                </a:lnTo>
                <a:lnTo>
                  <a:pt x="1416524" y="849149"/>
                </a:lnTo>
                <a:lnTo>
                  <a:pt x="1315075" y="1341354"/>
                </a:lnTo>
                <a:lnTo>
                  <a:pt x="1401494" y="1604365"/>
                </a:lnTo>
                <a:lnTo>
                  <a:pt x="864192" y="1608122"/>
                </a:lnTo>
                <a:lnTo>
                  <a:pt x="390765" y="1476617"/>
                </a:lnTo>
                <a:lnTo>
                  <a:pt x="0" y="1221121"/>
                </a:lnTo>
                <a:close/>
              </a:path>
            </a:pathLst>
          </a:custGeom>
          <a:solidFill>
            <a:srgbClr val="2FC683">
              <a:alpha val="14901"/>
            </a:srgbClr>
          </a:solidFill>
          <a:ln cap="flat" cmpd="sng" w="9525">
            <a:solidFill>
              <a:srgbClr val="2FC68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85"/>
          <p:cNvSpPr/>
          <p:nvPr/>
        </p:nvSpPr>
        <p:spPr>
          <a:xfrm>
            <a:off x="2890800" y="3069000"/>
            <a:ext cx="1188360" cy="906840"/>
          </a:xfrm>
          <a:custGeom>
            <a:rect b="b" l="l" r="r" t="t"/>
            <a:pathLst>
              <a:path extrusionOk="0" h="822848" w="1078361">
                <a:moveTo>
                  <a:pt x="0" y="477177"/>
                </a:moveTo>
                <a:lnTo>
                  <a:pt x="462155" y="544808"/>
                </a:lnTo>
                <a:lnTo>
                  <a:pt x="507243" y="668799"/>
                </a:lnTo>
                <a:lnTo>
                  <a:pt x="687596" y="736430"/>
                </a:lnTo>
                <a:lnTo>
                  <a:pt x="1078361" y="822848"/>
                </a:lnTo>
                <a:lnTo>
                  <a:pt x="890494" y="15030"/>
                </a:lnTo>
                <a:lnTo>
                  <a:pt x="646265" y="0"/>
                </a:lnTo>
                <a:lnTo>
                  <a:pt x="180353" y="26302"/>
                </a:lnTo>
                <a:lnTo>
                  <a:pt x="45088" y="229195"/>
                </a:lnTo>
                <a:lnTo>
                  <a:pt x="0" y="477177"/>
                </a:lnTo>
                <a:close/>
              </a:path>
            </a:pathLst>
          </a:custGeom>
          <a:solidFill>
            <a:srgbClr val="C18022">
              <a:alpha val="14901"/>
            </a:srgbClr>
          </a:solidFill>
          <a:ln cap="flat" cmpd="sng" w="9525">
            <a:solidFill>
              <a:srgbClr val="C1802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85"/>
          <p:cNvSpPr/>
          <p:nvPr/>
        </p:nvSpPr>
        <p:spPr>
          <a:xfrm>
            <a:off x="3101760" y="2194920"/>
            <a:ext cx="1250640" cy="878040"/>
          </a:xfrm>
          <a:custGeom>
            <a:rect b="b" l="l" r="r" t="t"/>
            <a:pathLst>
              <a:path extrusionOk="0" h="796546" w="1134722">
                <a:moveTo>
                  <a:pt x="0" y="796546"/>
                </a:moveTo>
                <a:lnTo>
                  <a:pt x="469670" y="766487"/>
                </a:lnTo>
                <a:lnTo>
                  <a:pt x="698869" y="777759"/>
                </a:lnTo>
                <a:lnTo>
                  <a:pt x="770258" y="533535"/>
                </a:lnTo>
                <a:lnTo>
                  <a:pt x="991943" y="274282"/>
                </a:lnTo>
                <a:lnTo>
                  <a:pt x="1134722" y="0"/>
                </a:lnTo>
                <a:lnTo>
                  <a:pt x="702626" y="101446"/>
                </a:lnTo>
                <a:lnTo>
                  <a:pt x="387008" y="296826"/>
                </a:lnTo>
                <a:lnTo>
                  <a:pt x="123993" y="544807"/>
                </a:lnTo>
                <a:lnTo>
                  <a:pt x="0" y="796546"/>
                </a:lnTo>
                <a:close/>
              </a:path>
            </a:pathLst>
          </a:custGeom>
          <a:solidFill>
            <a:srgbClr val="7E17C1">
              <a:alpha val="14901"/>
            </a:srgbClr>
          </a:solidFill>
          <a:ln cap="flat" cmpd="sng" w="9525">
            <a:solidFill>
              <a:srgbClr val="7E17C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85"/>
          <p:cNvSpPr/>
          <p:nvPr/>
        </p:nvSpPr>
        <p:spPr>
          <a:xfrm>
            <a:off x="5251680" y="4987800"/>
            <a:ext cx="1996200" cy="1780920"/>
          </a:xfrm>
          <a:custGeom>
            <a:rect b="b" l="l" r="r" t="t"/>
            <a:pathLst>
              <a:path extrusionOk="0" h="1615636" w="1811046">
                <a:moveTo>
                  <a:pt x="97691" y="1615636"/>
                </a:moveTo>
                <a:lnTo>
                  <a:pt x="0" y="1352625"/>
                </a:lnTo>
                <a:lnTo>
                  <a:pt x="97691" y="886721"/>
                </a:lnTo>
                <a:lnTo>
                  <a:pt x="315618" y="882964"/>
                </a:lnTo>
                <a:lnTo>
                  <a:pt x="323133" y="601167"/>
                </a:lnTo>
                <a:lnTo>
                  <a:pt x="661295" y="368215"/>
                </a:lnTo>
                <a:lnTo>
                  <a:pt x="766501" y="0"/>
                </a:lnTo>
                <a:lnTo>
                  <a:pt x="1187325" y="131505"/>
                </a:lnTo>
                <a:lnTo>
                  <a:pt x="1600634" y="172835"/>
                </a:lnTo>
                <a:lnTo>
                  <a:pt x="1811046" y="251738"/>
                </a:lnTo>
                <a:lnTo>
                  <a:pt x="1656995" y="627468"/>
                </a:lnTo>
                <a:lnTo>
                  <a:pt x="1382707" y="980653"/>
                </a:lnTo>
                <a:lnTo>
                  <a:pt x="1108420" y="1202334"/>
                </a:lnTo>
                <a:lnTo>
                  <a:pt x="796560" y="1397713"/>
                </a:lnTo>
                <a:lnTo>
                  <a:pt x="477184" y="1532976"/>
                </a:lnTo>
                <a:lnTo>
                  <a:pt x="97691" y="1615636"/>
                </a:lnTo>
                <a:close/>
              </a:path>
            </a:pathLst>
          </a:custGeom>
          <a:solidFill>
            <a:srgbClr val="2480C1">
              <a:alpha val="14901"/>
            </a:srgbClr>
          </a:solidFill>
          <a:ln cap="flat" cmpd="sng" w="9525">
            <a:solidFill>
              <a:srgbClr val="2480C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85"/>
          <p:cNvSpPr/>
          <p:nvPr/>
        </p:nvSpPr>
        <p:spPr>
          <a:xfrm>
            <a:off x="6113160" y="3960720"/>
            <a:ext cx="1279440" cy="1283400"/>
          </a:xfrm>
          <a:custGeom>
            <a:rect b="b" l="l" r="r" t="t"/>
            <a:pathLst>
              <a:path extrusionOk="0" h="1164761" w="1161024">
                <a:moveTo>
                  <a:pt x="1037031" y="1164761"/>
                </a:moveTo>
                <a:lnTo>
                  <a:pt x="837891" y="1085858"/>
                </a:lnTo>
                <a:lnTo>
                  <a:pt x="424582" y="1044528"/>
                </a:lnTo>
                <a:lnTo>
                  <a:pt x="0" y="916780"/>
                </a:lnTo>
                <a:lnTo>
                  <a:pt x="387008" y="774003"/>
                </a:lnTo>
                <a:lnTo>
                  <a:pt x="597420" y="541051"/>
                </a:lnTo>
                <a:lnTo>
                  <a:pt x="852920" y="296827"/>
                </a:lnTo>
                <a:lnTo>
                  <a:pt x="1093391" y="0"/>
                </a:lnTo>
                <a:lnTo>
                  <a:pt x="1161024" y="255496"/>
                </a:lnTo>
                <a:lnTo>
                  <a:pt x="1149752" y="623711"/>
                </a:lnTo>
                <a:lnTo>
                  <a:pt x="1093391" y="1006955"/>
                </a:lnTo>
                <a:lnTo>
                  <a:pt x="1037031" y="1164761"/>
                </a:lnTo>
                <a:close/>
              </a:path>
            </a:pathLst>
          </a:custGeom>
          <a:solidFill>
            <a:srgbClr val="2FC624">
              <a:alpha val="14901"/>
            </a:srgbClr>
          </a:solidFill>
          <a:ln cap="flat" cmpd="sng" w="9525">
            <a:solidFill>
              <a:srgbClr val="2FC62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85"/>
          <p:cNvSpPr/>
          <p:nvPr/>
        </p:nvSpPr>
        <p:spPr>
          <a:xfrm>
            <a:off x="3901680" y="2045880"/>
            <a:ext cx="3417120" cy="2994480"/>
          </a:xfrm>
          <a:custGeom>
            <a:rect b="b" l="l" r="r" t="t"/>
            <a:pathLst>
              <a:path extrusionOk="0" h="2716523" w="3099820">
                <a:moveTo>
                  <a:pt x="432096" y="127748"/>
                </a:moveTo>
                <a:lnTo>
                  <a:pt x="278045" y="439603"/>
                </a:lnTo>
                <a:lnTo>
                  <a:pt x="78905" y="676313"/>
                </a:lnTo>
                <a:lnTo>
                  <a:pt x="0" y="920537"/>
                </a:lnTo>
                <a:lnTo>
                  <a:pt x="187868" y="1758413"/>
                </a:lnTo>
                <a:lnTo>
                  <a:pt x="1074604" y="2675193"/>
                </a:lnTo>
                <a:lnTo>
                  <a:pt x="1713355" y="2716523"/>
                </a:lnTo>
                <a:lnTo>
                  <a:pt x="2367136" y="2487328"/>
                </a:lnTo>
                <a:lnTo>
                  <a:pt x="2833048" y="2032696"/>
                </a:lnTo>
                <a:lnTo>
                  <a:pt x="3099820" y="1702054"/>
                </a:lnTo>
                <a:lnTo>
                  <a:pt x="2987100" y="1292509"/>
                </a:lnTo>
                <a:lnTo>
                  <a:pt x="2810504" y="901750"/>
                </a:lnTo>
                <a:lnTo>
                  <a:pt x="2487371" y="537293"/>
                </a:lnTo>
                <a:lnTo>
                  <a:pt x="2130422" y="255496"/>
                </a:lnTo>
                <a:lnTo>
                  <a:pt x="1720870" y="116476"/>
                </a:lnTo>
                <a:lnTo>
                  <a:pt x="1262472" y="18786"/>
                </a:lnTo>
                <a:lnTo>
                  <a:pt x="924310" y="0"/>
                </a:lnTo>
                <a:lnTo>
                  <a:pt x="432096" y="127748"/>
                </a:lnTo>
                <a:close/>
              </a:path>
            </a:pathLst>
          </a:custGeom>
          <a:solidFill>
            <a:srgbClr val="BD091D">
              <a:alpha val="14901"/>
            </a:srgbClr>
          </a:solidFill>
          <a:ln cap="flat" cmpd="sng" w="9525">
            <a:solidFill>
              <a:srgbClr val="BD091D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120" y="2026080"/>
            <a:ext cx="4761720" cy="476172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86"/>
          <p:cNvSpPr/>
          <p:nvPr/>
        </p:nvSpPr>
        <p:spPr>
          <a:xfrm>
            <a:off x="400320" y="1164960"/>
            <a:ext cx="4227840" cy="21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7 distinct morphological descriptions: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genus Varanus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gouldii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indicus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prasinus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salvator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spiny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171000" lvl="0" marL="17136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Char char="•"/>
            </a:pPr>
            <a:r>
              <a:rPr b="0" i="1" lang="en-US" sz="14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Varanus timorensis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6"/>
          <p:cNvSpPr/>
          <p:nvPr/>
        </p:nvSpPr>
        <p:spPr>
          <a:xfrm>
            <a:off x="0" y="7169760"/>
            <a:ext cx="1007964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7"/>
          <p:cNvSpPr txBox="1"/>
          <p:nvPr/>
        </p:nvSpPr>
        <p:spPr>
          <a:xfrm>
            <a:off x="504000" y="328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Demo</a:t>
            </a:r>
            <a:endParaRPr b="0" sz="44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