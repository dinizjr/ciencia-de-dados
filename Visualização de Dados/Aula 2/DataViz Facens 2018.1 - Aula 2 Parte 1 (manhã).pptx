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4372d1c2f2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4372d1c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61627ef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f561627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37330281e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3733028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3a72c38ac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3a72c38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37330281e_0_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3733028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3a72c38ac_0_4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3a72c38a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61627ef_0_7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61627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Naturais (N), Inteiros (Z), Racionais(Q), Reais(R)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61627ef_0_48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61627ef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Naturais (N), Inteiros (Z), Racionais(Q), Reais(R)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61627ef_0_50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61627ef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Naturais (N), Inteiros (Z), Racionais(Q), Reais(R)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61627ef_0_52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61627ef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Naturais (N), Inteiros (Z), Racionais(Q), Reais(R)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61627ef_0_45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61627ef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Naturais (N), Inteiros (Z), Racionais(Q), Reais(R)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61627ef_0_38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561627ef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61627ef_0_42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61627ef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61627ef_0_43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561627ef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61627ef_0_40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561627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561627ef_0_4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561627ef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66b3458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66b3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66b3458_0_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866b34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66b3458_0_4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866b345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66b3458_0_6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866b345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66b3458_0_3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866b345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66b3458_0_7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866b345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66b3458_0_5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866b345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66b3458_0_1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866b34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3d39adb16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3d39ad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3d39adb16_0_1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3d39adb1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43d39adb16_0_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43d39adb1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3d39adb16_0_2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43d39adb1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3d39adb16_0_4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3d39adb1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3a72c38ac_0_30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43a72c38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3a72c38ac_0_31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3a72c38a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43a72c38ac_0_32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43a72c38ac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3a72c38ac_0_11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43a72c38a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43a72c38ac_0_1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43a72c38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43a72c38ac_0_2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43a72c38a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3a72c38ac_0_7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3a72c38a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43a72c38ac_0_9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43a72c38a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43a72c38ac_0_5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43a72c38a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43a72c38ac_0_1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43a72c38a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43d39adb16_0_3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43d39adb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43a72c38ac_0_15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43a72c38a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3a72c38ac_0_13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3a72c38a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43a72c38ac_0_19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43a72c38ac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43a72c38ac_0_21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43a72c38a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43a72c38ac_0_23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43a72c38ac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43a72c38ac_0_25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43a72c38a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43a72c38ac_0_27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43a72c38a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43a72c38ac_0_35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43a72c38ac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43a72c38ac_0_43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43a72c38ac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3d39adb16_0_3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3d39adb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43a72c38ac_0_33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43a72c38ac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43a72c38ac_0_40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43a72c38ac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43a72c38ac_0_39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43a72c38ac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43a72c38ac_0_38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43a72c38a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43a72c38ac_0_42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43a72c38ac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561627ef_0_25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f561627e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0" y="13331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2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4057300"/>
            <a:ext cx="3631174" cy="16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 amt="50000"/>
          </a:blip>
          <a:srcRect b="3217" l="0" r="0" t="22121"/>
          <a:stretch/>
        </p:blipFill>
        <p:spPr>
          <a:xfrm rot="10800000">
            <a:off x="0" y="3953472"/>
            <a:ext cx="4502250" cy="17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625" y="4898376"/>
            <a:ext cx="1793468" cy="8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 amt="50000"/>
          </a:blip>
          <a:srcRect b="-411" l="0" r="19" t="0"/>
          <a:stretch/>
        </p:blipFill>
        <p:spPr>
          <a:xfrm rot="251502">
            <a:off x="2206440" y="4010317"/>
            <a:ext cx="3931074" cy="201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3"/>
          <p:cNvCxnSpPr/>
          <p:nvPr/>
        </p:nvCxnSpPr>
        <p:spPr>
          <a:xfrm>
            <a:off x="0" y="35429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4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753_paginas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97196" t="0"/>
          <a:stretch/>
        </p:blipFill>
        <p:spPr>
          <a:xfrm>
            <a:off x="-13855" y="0"/>
            <a:ext cx="213581" cy="5715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8753_paginas.jpg" id="29" name="Google Shape;29;p4"/>
          <p:cNvPicPr preferRelativeResize="0"/>
          <p:nvPr/>
        </p:nvPicPr>
        <p:blipFill rotWithShape="1">
          <a:blip r:embed="rId2">
            <a:alphaModFix/>
          </a:blip>
          <a:srcRect b="4140" l="74950" r="3830" t="84520"/>
          <a:stretch/>
        </p:blipFill>
        <p:spPr>
          <a:xfrm>
            <a:off x="8305825" y="5378975"/>
            <a:ext cx="838177" cy="33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DataViz2018.1">
  <p:cSld name="CUSTOM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Sem título-4.jpg"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14741" cy="571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39" name="Google Shape;39;p7"/>
          <p:cNvPicPr preferRelativeResize="0"/>
          <p:nvPr/>
        </p:nvPicPr>
        <p:blipFill rotWithShape="1">
          <a:blip r:embed="rId2">
            <a:alphaModFix/>
          </a:blip>
          <a:srcRect b="0" l="79110" r="0" t="0"/>
          <a:stretch/>
        </p:blipFill>
        <p:spPr>
          <a:xfrm>
            <a:off x="7553293" y="0"/>
            <a:ext cx="1590701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9750" y="0"/>
            <a:ext cx="8944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st.github.com/matheusmota/d98f2af860e3ae2ebea834ba0fb20a06" TargetMode="External"/><Relationship Id="rId4" Type="http://schemas.openxmlformats.org/officeDocument/2006/relationships/hyperlink" Target="https://gist.github.com/matheusmota/03e3d8bf4a5891d35ec6d791c1a89f76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www.alcula.com/calculators/statistics/box-plot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exploratória </a:t>
            </a:r>
            <a:endParaRPr/>
          </a:p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2</a:t>
            </a:r>
            <a:endParaRPr/>
          </a:p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Mas antes,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Dúvidas exercício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Sobre o Kaggle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Sobre a submissão no Google Classroom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Sobre as notas e avaliações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Novidades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Docker Jupyter da disciplina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Docker exemplos práticos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última aula nós vimos: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de Variáveis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de Gráficos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Linha, Dispersão, Barras, Colunas, Setores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 Univariada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Matplotlib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Demo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Exercício para casa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Nesta aula veremos:</a:t>
            </a:r>
            <a:endParaRPr/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Pandas.plot()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Mais sobre v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ariáveis quantitativas contínuas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Estratégias para definição de classes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Tipos de gráficos e elementos de visualização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Histograma, Curva Densidade, Gráfico de Caixa, Barras de Erro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Introdução a Grafos e GDBs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Ferramentas de visualização parte 1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Análise Exploratória: 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Data Voyager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Streaming: 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Grafana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Exercício para casa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Pandas.plot()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1</a:t>
            </a:r>
            <a:endParaRPr/>
          </a:p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11250" y="3107661"/>
            <a:ext cx="1467600" cy="6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2176000" y="4340462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Quantitativa</a:t>
            </a:r>
            <a:r>
              <a:rPr lang="pt-BR"/>
              <a:t>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Numérica</a:t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2176000" y="18919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Qualitativa</a:t>
            </a:r>
            <a:r>
              <a:rPr lang="pt-BR"/>
              <a:t>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Categórica</a:t>
            </a:r>
            <a:endParaRPr/>
          </a:p>
        </p:txBody>
      </p:sp>
      <p:cxnSp>
        <p:nvCxnSpPr>
          <p:cNvPr id="87" name="Google Shape;87;p14"/>
          <p:cNvCxnSpPr>
            <a:stCxn id="86" idx="3"/>
            <a:endCxn id="88" idx="1"/>
          </p:cNvCxnSpPr>
          <p:nvPr/>
        </p:nvCxnSpPr>
        <p:spPr>
          <a:xfrm flipH="1" rot="10800000">
            <a:off x="3643600" y="1695175"/>
            <a:ext cx="558600" cy="53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>
            <a:stCxn id="86" idx="3"/>
            <a:endCxn id="90" idx="1"/>
          </p:cNvCxnSpPr>
          <p:nvPr/>
        </p:nvCxnSpPr>
        <p:spPr>
          <a:xfrm>
            <a:off x="3643600" y="2225575"/>
            <a:ext cx="558600" cy="51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stCxn id="85" idx="3"/>
            <a:endCxn id="92" idx="1"/>
          </p:cNvCxnSpPr>
          <p:nvPr/>
        </p:nvCxnSpPr>
        <p:spPr>
          <a:xfrm flipH="1" rot="10800000">
            <a:off x="3643600" y="4137962"/>
            <a:ext cx="558600" cy="53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4"/>
          <p:cNvCxnSpPr>
            <a:stCxn id="85" idx="3"/>
            <a:endCxn id="94" idx="1"/>
          </p:cNvCxnSpPr>
          <p:nvPr/>
        </p:nvCxnSpPr>
        <p:spPr>
          <a:xfrm>
            <a:off x="3643600" y="4674062"/>
            <a:ext cx="558600" cy="513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>
            <a:stCxn id="84" idx="3"/>
            <a:endCxn id="86" idx="1"/>
          </p:cNvCxnSpPr>
          <p:nvPr/>
        </p:nvCxnSpPr>
        <p:spPr>
          <a:xfrm flipH="1" rot="10800000">
            <a:off x="1478850" y="2225661"/>
            <a:ext cx="697200" cy="121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4"/>
          <p:cNvCxnSpPr>
            <a:stCxn id="84" idx="3"/>
            <a:endCxn id="85" idx="1"/>
          </p:cNvCxnSpPr>
          <p:nvPr/>
        </p:nvCxnSpPr>
        <p:spPr>
          <a:xfrm>
            <a:off x="1478850" y="3441261"/>
            <a:ext cx="697200" cy="123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Variável:</a:t>
            </a:r>
            <a:r>
              <a:rPr lang="pt-BR"/>
              <a:t> Característica comum a determinada população que pode assumir valores distintos</a:t>
            </a:r>
            <a:endParaRPr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11250" y="3107661"/>
            <a:ext cx="1467600" cy="6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2176000" y="4340462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Numérica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202250" y="24109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Ordinal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4202250" y="13615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Nominal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2176000" y="18919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Categórica</a:t>
            </a:r>
            <a:endParaRPr/>
          </a:p>
        </p:txBody>
      </p:sp>
      <p:cxnSp>
        <p:nvCxnSpPr>
          <p:cNvPr id="109" name="Google Shape;109;p15"/>
          <p:cNvCxnSpPr>
            <a:stCxn id="108" idx="3"/>
            <a:endCxn id="107" idx="1"/>
          </p:cNvCxnSpPr>
          <p:nvPr/>
        </p:nvCxnSpPr>
        <p:spPr>
          <a:xfrm flipH="1" rot="10800000">
            <a:off x="3643600" y="1695175"/>
            <a:ext cx="558600" cy="53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>
            <a:stCxn id="108" idx="3"/>
            <a:endCxn id="106" idx="1"/>
          </p:cNvCxnSpPr>
          <p:nvPr/>
        </p:nvCxnSpPr>
        <p:spPr>
          <a:xfrm>
            <a:off x="3643600" y="2225575"/>
            <a:ext cx="558600" cy="51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5"/>
          <p:cNvCxnSpPr>
            <a:stCxn id="105" idx="3"/>
            <a:endCxn id="112" idx="1"/>
          </p:cNvCxnSpPr>
          <p:nvPr/>
        </p:nvCxnSpPr>
        <p:spPr>
          <a:xfrm flipH="1" rot="10800000">
            <a:off x="3643600" y="4137962"/>
            <a:ext cx="558600" cy="53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>
            <a:stCxn id="105" idx="3"/>
            <a:endCxn id="114" idx="1"/>
          </p:cNvCxnSpPr>
          <p:nvPr/>
        </p:nvCxnSpPr>
        <p:spPr>
          <a:xfrm>
            <a:off x="3643600" y="4674062"/>
            <a:ext cx="558600" cy="513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5"/>
          <p:cNvCxnSpPr>
            <a:stCxn id="104" idx="3"/>
            <a:endCxn id="108" idx="1"/>
          </p:cNvCxnSpPr>
          <p:nvPr/>
        </p:nvCxnSpPr>
        <p:spPr>
          <a:xfrm flipH="1" rot="10800000">
            <a:off x="1478850" y="2225661"/>
            <a:ext cx="697200" cy="121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>
            <a:stCxn id="104" idx="3"/>
            <a:endCxn id="105" idx="1"/>
          </p:cNvCxnSpPr>
          <p:nvPr/>
        </p:nvCxnSpPr>
        <p:spPr>
          <a:xfrm>
            <a:off x="1478850" y="3441261"/>
            <a:ext cx="697200" cy="123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5"/>
          <p:cNvSpPr txBox="1"/>
          <p:nvPr/>
        </p:nvSpPr>
        <p:spPr>
          <a:xfrm>
            <a:off x="5684450" y="13642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Sem ordem alguma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cor, sexo, local de nascimento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Variável:</a:t>
            </a:r>
            <a:r>
              <a:rPr lang="pt-BR"/>
              <a:t> Característica comum a determinada população que pode assumir valores distintos</a:t>
            </a:r>
            <a:endParaRPr/>
          </a:p>
        </p:txBody>
      </p:sp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1250" y="3107661"/>
            <a:ext cx="1467600" cy="6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176000" y="4340462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Numérica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202250" y="24109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Ordinal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202250" y="13615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Nominal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176000" y="18919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Categórica</a:t>
            </a:r>
            <a:endParaRPr/>
          </a:p>
        </p:txBody>
      </p:sp>
      <p:cxnSp>
        <p:nvCxnSpPr>
          <p:cNvPr id="131" name="Google Shape;131;p16"/>
          <p:cNvCxnSpPr>
            <a:stCxn id="130" idx="3"/>
            <a:endCxn id="129" idx="1"/>
          </p:cNvCxnSpPr>
          <p:nvPr/>
        </p:nvCxnSpPr>
        <p:spPr>
          <a:xfrm flipH="1" rot="10800000">
            <a:off x="3643600" y="1695175"/>
            <a:ext cx="558600" cy="53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>
            <a:stCxn id="130" idx="3"/>
            <a:endCxn id="128" idx="1"/>
          </p:cNvCxnSpPr>
          <p:nvPr/>
        </p:nvCxnSpPr>
        <p:spPr>
          <a:xfrm>
            <a:off x="3643600" y="2225575"/>
            <a:ext cx="558600" cy="51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6"/>
          <p:cNvCxnSpPr>
            <a:stCxn id="127" idx="3"/>
            <a:endCxn id="134" idx="1"/>
          </p:cNvCxnSpPr>
          <p:nvPr/>
        </p:nvCxnSpPr>
        <p:spPr>
          <a:xfrm flipH="1" rot="10800000">
            <a:off x="3643600" y="4137962"/>
            <a:ext cx="558600" cy="53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6"/>
          <p:cNvCxnSpPr>
            <a:stCxn id="127" idx="3"/>
            <a:endCxn id="136" idx="1"/>
          </p:cNvCxnSpPr>
          <p:nvPr/>
        </p:nvCxnSpPr>
        <p:spPr>
          <a:xfrm>
            <a:off x="3643600" y="4674062"/>
            <a:ext cx="558600" cy="513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6"/>
          <p:cNvCxnSpPr>
            <a:stCxn id="126" idx="3"/>
            <a:endCxn id="130" idx="1"/>
          </p:cNvCxnSpPr>
          <p:nvPr/>
        </p:nvCxnSpPr>
        <p:spPr>
          <a:xfrm flipH="1" rot="10800000">
            <a:off x="1478850" y="2225661"/>
            <a:ext cx="697200" cy="121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6"/>
          <p:cNvCxnSpPr>
            <a:stCxn id="126" idx="3"/>
            <a:endCxn id="127" idx="1"/>
          </p:cNvCxnSpPr>
          <p:nvPr/>
        </p:nvCxnSpPr>
        <p:spPr>
          <a:xfrm>
            <a:off x="1478850" y="3441261"/>
            <a:ext cx="697200" cy="123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6"/>
          <p:cNvSpPr txBox="1"/>
          <p:nvPr/>
        </p:nvSpPr>
        <p:spPr>
          <a:xfrm>
            <a:off x="5684450" y="13642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Sem ordem alguma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cor, sexo, local de nascimento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684450" y="2431000"/>
            <a:ext cx="30102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Algum tipo de ordem/seq.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Calibri"/>
                <a:ea typeface="Calibri"/>
                <a:cs typeface="Calibri"/>
                <a:sym typeface="Calibri"/>
              </a:rPr>
              <a:t>(não há informação sobre distâncias)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Ex.: tamanho(pp,p,m,g,gg), 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r>
              <a:rPr lang="pt-BR">
                <a:latin typeface="Calibri"/>
                <a:ea typeface="Calibri"/>
                <a:cs typeface="Calibri"/>
                <a:sym typeface="Calibri"/>
              </a:rPr>
              <a:t>classe social(baixa, média, alta)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Variável:</a:t>
            </a:r>
            <a:r>
              <a:rPr lang="pt-BR"/>
              <a:t> Característica comum a determinada população que pode assumir valores distintos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1250" y="3107661"/>
            <a:ext cx="1467600" cy="6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2176000" y="4340462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Numérica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202250" y="24109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Ordinal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4202250" y="13615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Nominal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2176000" y="18919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Categórica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4202250" y="38043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Discreta</a:t>
            </a:r>
            <a:endParaRPr/>
          </a:p>
        </p:txBody>
      </p:sp>
      <p:cxnSp>
        <p:nvCxnSpPr>
          <p:cNvPr id="154" name="Google Shape;154;p17"/>
          <p:cNvCxnSpPr>
            <a:stCxn id="152" idx="3"/>
            <a:endCxn id="151" idx="1"/>
          </p:cNvCxnSpPr>
          <p:nvPr/>
        </p:nvCxnSpPr>
        <p:spPr>
          <a:xfrm flipH="1" rot="10800000">
            <a:off x="3643600" y="1695175"/>
            <a:ext cx="558600" cy="53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7"/>
          <p:cNvCxnSpPr>
            <a:stCxn id="152" idx="3"/>
            <a:endCxn id="150" idx="1"/>
          </p:cNvCxnSpPr>
          <p:nvPr/>
        </p:nvCxnSpPr>
        <p:spPr>
          <a:xfrm>
            <a:off x="3643600" y="2225575"/>
            <a:ext cx="558600" cy="51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7"/>
          <p:cNvCxnSpPr>
            <a:stCxn id="149" idx="3"/>
            <a:endCxn id="153" idx="1"/>
          </p:cNvCxnSpPr>
          <p:nvPr/>
        </p:nvCxnSpPr>
        <p:spPr>
          <a:xfrm flipH="1" rot="10800000">
            <a:off x="3643600" y="4137962"/>
            <a:ext cx="558600" cy="53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7"/>
          <p:cNvCxnSpPr>
            <a:stCxn id="149" idx="3"/>
            <a:endCxn id="158" idx="1"/>
          </p:cNvCxnSpPr>
          <p:nvPr/>
        </p:nvCxnSpPr>
        <p:spPr>
          <a:xfrm>
            <a:off x="3643600" y="4674062"/>
            <a:ext cx="558600" cy="513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7"/>
          <p:cNvCxnSpPr>
            <a:stCxn id="148" idx="3"/>
            <a:endCxn id="152" idx="1"/>
          </p:cNvCxnSpPr>
          <p:nvPr/>
        </p:nvCxnSpPr>
        <p:spPr>
          <a:xfrm flipH="1" rot="10800000">
            <a:off x="1478850" y="2225661"/>
            <a:ext cx="697200" cy="121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7"/>
          <p:cNvCxnSpPr>
            <a:stCxn id="148" idx="3"/>
            <a:endCxn id="149" idx="1"/>
          </p:cNvCxnSpPr>
          <p:nvPr/>
        </p:nvCxnSpPr>
        <p:spPr>
          <a:xfrm>
            <a:off x="1478850" y="3441261"/>
            <a:ext cx="697200" cy="123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17"/>
          <p:cNvSpPr txBox="1"/>
          <p:nvPr/>
        </p:nvSpPr>
        <p:spPr>
          <a:xfrm>
            <a:off x="5684450" y="38026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Inteiro (Z)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número de amigos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684450" y="13642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Sem ordem alguma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cor, sexo, local de nascimento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684450" y="2431000"/>
            <a:ext cx="30102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Algum tipo de ordem/seq.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Calibri"/>
                <a:ea typeface="Calibri"/>
                <a:cs typeface="Calibri"/>
                <a:sym typeface="Calibri"/>
              </a:rPr>
              <a:t>(não há informação sobre distâncias)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Ex.: tamanho(pp,p,m,g,gg), 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r>
              <a:rPr lang="pt-BR">
                <a:latin typeface="Calibri"/>
                <a:ea typeface="Calibri"/>
                <a:cs typeface="Calibri"/>
                <a:sym typeface="Calibri"/>
              </a:rPr>
              <a:t>classe social(baixa, média, alta)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Variável:</a:t>
            </a:r>
            <a:r>
              <a:rPr lang="pt-BR"/>
              <a:t> Característica comum a determinada população que pode assumir valores distintos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Variável:</a:t>
            </a:r>
            <a:r>
              <a:rPr lang="pt-BR"/>
              <a:t> Característica comum a determinada população que pode assumir valores distintos</a:t>
            </a:r>
            <a:endParaRPr/>
          </a:p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11250" y="3107661"/>
            <a:ext cx="1467600" cy="6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2176000" y="4340462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Numérica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4202250" y="24109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Ordinal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202250" y="136152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Nominal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2176000" y="18919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Qualitativa/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Categórica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202250" y="48537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Contínua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202250" y="3804375"/>
            <a:ext cx="1467600" cy="66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Discreta</a:t>
            </a:r>
            <a:endParaRPr/>
          </a:p>
        </p:txBody>
      </p:sp>
      <p:cxnSp>
        <p:nvCxnSpPr>
          <p:cNvPr id="179" name="Google Shape;179;p18"/>
          <p:cNvCxnSpPr>
            <a:stCxn id="176" idx="3"/>
            <a:endCxn id="175" idx="1"/>
          </p:cNvCxnSpPr>
          <p:nvPr/>
        </p:nvCxnSpPr>
        <p:spPr>
          <a:xfrm flipH="1" rot="10800000">
            <a:off x="3643600" y="1695175"/>
            <a:ext cx="558600" cy="53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8"/>
          <p:cNvCxnSpPr>
            <a:stCxn id="176" idx="3"/>
            <a:endCxn id="174" idx="1"/>
          </p:cNvCxnSpPr>
          <p:nvPr/>
        </p:nvCxnSpPr>
        <p:spPr>
          <a:xfrm>
            <a:off x="3643600" y="2225575"/>
            <a:ext cx="558600" cy="51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8"/>
          <p:cNvCxnSpPr>
            <a:stCxn id="173" idx="3"/>
            <a:endCxn id="178" idx="1"/>
          </p:cNvCxnSpPr>
          <p:nvPr/>
        </p:nvCxnSpPr>
        <p:spPr>
          <a:xfrm flipH="1" rot="10800000">
            <a:off x="3643600" y="4137962"/>
            <a:ext cx="558600" cy="53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8"/>
          <p:cNvCxnSpPr>
            <a:stCxn id="173" idx="3"/>
            <a:endCxn id="177" idx="1"/>
          </p:cNvCxnSpPr>
          <p:nvPr/>
        </p:nvCxnSpPr>
        <p:spPr>
          <a:xfrm>
            <a:off x="3643600" y="4674062"/>
            <a:ext cx="558600" cy="513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8"/>
          <p:cNvCxnSpPr>
            <a:stCxn id="172" idx="3"/>
            <a:endCxn id="176" idx="1"/>
          </p:cNvCxnSpPr>
          <p:nvPr/>
        </p:nvCxnSpPr>
        <p:spPr>
          <a:xfrm flipH="1" rot="10800000">
            <a:off x="1478850" y="2225661"/>
            <a:ext cx="697200" cy="121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8"/>
          <p:cNvCxnSpPr>
            <a:stCxn id="172" idx="3"/>
            <a:endCxn id="173" idx="1"/>
          </p:cNvCxnSpPr>
          <p:nvPr/>
        </p:nvCxnSpPr>
        <p:spPr>
          <a:xfrm>
            <a:off x="1478850" y="3441261"/>
            <a:ext cx="697200" cy="123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18"/>
          <p:cNvSpPr txBox="1"/>
          <p:nvPr/>
        </p:nvSpPr>
        <p:spPr>
          <a:xfrm>
            <a:off x="5684450" y="38026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Inteiro (Z)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número de amigos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684450" y="48694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Real (R)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Ex.: peso, altura, preço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684450" y="1364200"/>
            <a:ext cx="3154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Calibri"/>
                <a:ea typeface="Calibri"/>
                <a:cs typeface="Calibri"/>
                <a:sym typeface="Calibri"/>
              </a:rPr>
              <a:t>Sem ordem alguma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Ex.: cor, sexo, local de nascimento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684450" y="2431000"/>
            <a:ext cx="30102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Algum tipo de ordem/seq.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Calibri"/>
                <a:ea typeface="Calibri"/>
                <a:cs typeface="Calibri"/>
                <a:sym typeface="Calibri"/>
              </a:rPr>
              <a:t>(não há informação sobre distâncias)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Ex.: tamanho(pp,p,m,g,gg), 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r>
              <a:rPr lang="pt-BR">
                <a:latin typeface="Calibri"/>
                <a:ea typeface="Calibri"/>
                <a:cs typeface="Calibri"/>
                <a:sym typeface="Calibri"/>
              </a:rPr>
              <a:t>classe social(baixa, média, alta)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14244" t="0"/>
          <a:stretch/>
        </p:blipFill>
        <p:spPr>
          <a:xfrm>
            <a:off x="8120299" y="2095450"/>
            <a:ext cx="1008575" cy="25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8224550" y="3676575"/>
            <a:ext cx="348300" cy="326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7260" y="-13525"/>
            <a:ext cx="2803801" cy="13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/>
          <p:nvPr/>
        </p:nvSpPr>
        <p:spPr>
          <a:xfrm>
            <a:off x="8569675" y="2690938"/>
            <a:ext cx="348300" cy="326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Linha</a:t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</a:t>
            </a:r>
            <a:r>
              <a:rPr lang="pt-BR"/>
              <a:t>tilizado  para  mostrar  evolução, tendências  nos  dados  em intervalos iguais (ex.: tempo)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100" y="1759454"/>
            <a:ext cx="4803350" cy="27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Área</a:t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</a:t>
            </a:r>
            <a:r>
              <a:rPr lang="pt-BR"/>
              <a:t>tilizado  para  mostrar  evolução, tendências  nos  dados  em intervalos iguais (ex.: tempo)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</a:t>
            </a:r>
            <a:r>
              <a:rPr lang="pt-BR"/>
              <a:t>videncia uma noção de proporção sobre o todo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700" y="1961628"/>
            <a:ext cx="4516775" cy="27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Dispersão XY</a:t>
            </a:r>
            <a:endParaRPr/>
          </a:p>
        </p:txBody>
      </p:sp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100" y="2047300"/>
            <a:ext cx="58102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Usados para examinar a associação entre duas medidas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Plota dois grupos de números como uma série (ex.: temporal) de coordenadas xy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Permitem enxergar padrões, outliers, agrupamentos etc.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Barras/colunas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Ilustra   comparações   entre   itens   individuais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Categorias e valores são organizados com o objetivo de facilitar a  comparação (menos ênfase ao tempo, por exemplo)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25" y="2857488"/>
            <a:ext cx="361950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850" y="2741013"/>
            <a:ext cx="361950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Setores (pizza)</a:t>
            </a:r>
            <a:endParaRPr/>
          </a:p>
        </p:txBody>
      </p:sp>
      <p:sp>
        <p:nvSpPr>
          <p:cNvPr id="232" name="Google Shape;232;p23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Busca dar visão </a:t>
            </a:r>
            <a:r>
              <a:rPr lang="pt-BR"/>
              <a:t>proporcional a (poucos ou muito discrepantes) itens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Mostra somente uma única série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Útil quando você deseja dar ênfase a um elemento importante</a:t>
            </a:r>
            <a:endParaRPr/>
          </a:p>
        </p:txBody>
      </p:sp>
      <p:sp>
        <p:nvSpPr>
          <p:cNvPr id="233" name="Google Shape;233;p2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50" y="1809175"/>
            <a:ext cx="36195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May the force be with you</a:t>
            </a:r>
            <a:endParaRPr/>
          </a:p>
        </p:txBody>
      </p:sp>
      <p:sp>
        <p:nvSpPr>
          <p:cNvPr id="240" name="Google Shape;240;p24"/>
          <p:cNvSpPr txBox="1"/>
          <p:nvPr>
            <p:ph idx="1" type="body"/>
          </p:nvPr>
        </p:nvSpPr>
        <p:spPr>
          <a:xfrm>
            <a:off x="199750" y="4801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>
                <a:solidFill>
                  <a:schemeClr val="hlink"/>
                </a:solidFill>
                <a:hlinkClick r:id="rId3"/>
              </a:rPr>
              <a:t>https://gist.github.com/matheusmota/d98f2af860e3ae2ebea834ba0fb20a06</a:t>
            </a:r>
            <a:br>
              <a:rPr lang="pt-BR" sz="1400"/>
            </a:br>
            <a:r>
              <a:rPr lang="pt-BR" sz="1400" u="sng">
                <a:solidFill>
                  <a:schemeClr val="hlink"/>
                </a:solidFill>
                <a:hlinkClick r:id="rId4"/>
              </a:rPr>
              <a:t>https://gist.github.com/matheusmota/03e3d8bf4a5891d35ec6d791c1a89f76</a:t>
            </a:r>
            <a:r>
              <a:rPr lang="pt-BR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3663" y="1203700"/>
            <a:ext cx="3449541" cy="451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/>
          <p:cNvPicPr preferRelativeResize="0"/>
          <p:nvPr/>
        </p:nvPicPr>
        <p:blipFill rotWithShape="1">
          <a:blip r:embed="rId6">
            <a:alphaModFix/>
          </a:blip>
          <a:srcRect b="0" l="4762" r="52490" t="0"/>
          <a:stretch/>
        </p:blipFill>
        <p:spPr>
          <a:xfrm>
            <a:off x="199725" y="4692075"/>
            <a:ext cx="817000" cy="10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/>
          <p:cNvPicPr preferRelativeResize="0"/>
          <p:nvPr/>
        </p:nvPicPr>
        <p:blipFill rotWithShape="1">
          <a:blip r:embed="rId7">
            <a:alphaModFix/>
          </a:blip>
          <a:srcRect b="9375" l="23496" r="24300" t="24878"/>
          <a:stretch/>
        </p:blipFill>
        <p:spPr>
          <a:xfrm>
            <a:off x="5040150" y="1203700"/>
            <a:ext cx="4038141" cy="28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Variável quantitativa contínua</a:t>
            </a:r>
            <a:endParaRPr sz="3100"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Estratégias para definição de classes</a:t>
            </a:r>
            <a:endParaRPr sz="1600"/>
          </a:p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57" name="Google Shape;257;p2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8" name="Google Shape;2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5629398" cy="49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199725" y="681950"/>
            <a:ext cx="8944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dispersão unidimensional (valores do vetor no eixo Y, índices no X) (ordenado para facilitar)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5929950" y="1675225"/>
            <a:ext cx="32139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Mesmo não ordenado, o gráfico de dispersão usualmente é pobre em conclusões para variáveis contínuas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Ex.: Qual(is) o(s) intervalos mais comuns?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Alternativa: histograma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Freq. Absoluta x Densidade (Fr)</a:t>
            </a:r>
            <a:endParaRPr/>
          </a:p>
        </p:txBody>
      </p:sp>
      <p:sp>
        <p:nvSpPr>
          <p:cNvPr id="266" name="Google Shape;266;p2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7" name="Google Shape;2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5629398" cy="49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Freq. Absoluta x Densidade (Fr)</a:t>
            </a:r>
            <a:endParaRPr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5629398" cy="49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5499525" y="770900"/>
            <a:ext cx="36444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Histogramas e gráficos de barra dão uma ideia da </a:t>
            </a: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 da distribuição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uma variável dentro da sua amplitude.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várias medidas para resumir uma variável (média, mediana, moda, desvio padrão), mas o histograma te permite enxergar o “formato” da distribuição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Freq. Absoluta x Densidade (Fr)</a:t>
            </a:r>
            <a:endParaRPr/>
          </a:p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2" name="Google Shape;2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5629398" cy="49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5499525" y="770900"/>
            <a:ext cx="36444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O que devemos observar em um histograma: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Amplitude de valores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Forma da distribuição (assimetria):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Positiva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Negativa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Simétrica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Tendência central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Valores extremos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pt-BR" sz="1300">
                <a:latin typeface="Calibri"/>
                <a:ea typeface="Calibri"/>
                <a:cs typeface="Calibri"/>
                <a:sym typeface="Calibri"/>
              </a:rPr>
              <a:t>Intervalos “pobres”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Freq. Absoluta x Densidade (Fr)</a:t>
            </a:r>
            <a:endParaRPr/>
          </a:p>
        </p:txBody>
      </p:sp>
      <p:sp>
        <p:nvSpPr>
          <p:cNvPr id="289" name="Google Shape;289;p3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0" name="Google Shape;2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5629398" cy="49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/>
          <p:nvPr/>
        </p:nvSpPr>
        <p:spPr>
          <a:xfrm>
            <a:off x="926550" y="4477125"/>
            <a:ext cx="2023500" cy="68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3777675" y="4477125"/>
            <a:ext cx="2023500" cy="68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5929950" y="1675225"/>
            <a:ext cx="32139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definir o número de classes?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</a:t>
            </a:r>
            <a:r>
              <a:rPr lang="pt-BR"/>
              <a:t>efinindo Classes</a:t>
            </a:r>
            <a:endParaRPr/>
          </a:p>
        </p:txBody>
      </p:sp>
      <p:sp>
        <p:nvSpPr>
          <p:cNvPr id="299" name="Google Shape;299;p31"/>
          <p:cNvSpPr txBox="1"/>
          <p:nvPr>
            <p:ph idx="1" type="body"/>
          </p:nvPr>
        </p:nvSpPr>
        <p:spPr>
          <a:xfrm>
            <a:off x="162700" y="762650"/>
            <a:ext cx="8944200" cy="4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Tabela de frequências de uma variável contínua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agrupar os dados em classes pré-estabelecidas -- a definição dos intervalos geralmente é arbitrária, a familiaridade do pesquisador com os dados acaba sendo determinante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Definindo Classes</a:t>
            </a:r>
            <a:endParaRPr/>
          </a:p>
        </p:txBody>
      </p:sp>
      <p:sp>
        <p:nvSpPr>
          <p:cNvPr id="306" name="Google Shape;306;p32"/>
          <p:cNvSpPr txBox="1"/>
          <p:nvPr>
            <p:ph idx="1" type="body"/>
          </p:nvPr>
        </p:nvSpPr>
        <p:spPr>
          <a:xfrm>
            <a:off x="162700" y="762650"/>
            <a:ext cx="8944200" cy="4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Objetivo: Tabela de frequências de uma variável contínua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agrupar os dados em classes pré-estabelecidas -- a definição dos intervalos geralmente é arbitrária, a familiaridade do pesquisador com os dados acaba sendo determinante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Estratégias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Calcular a amplitude de classe (h=AT/k)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amplitude total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max(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min(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dados,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estimado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intervalos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√n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8" name="Google Shape;308;p32"/>
          <p:cNvPicPr preferRelativeResize="0"/>
          <p:nvPr/>
        </p:nvPicPr>
        <p:blipFill rotWithShape="1">
          <a:blip r:embed="rId3">
            <a:alphaModFix/>
          </a:blip>
          <a:srcRect b="41503" l="56889" r="37193" t="50421"/>
          <a:stretch/>
        </p:blipFill>
        <p:spPr>
          <a:xfrm>
            <a:off x="4286412" y="1700875"/>
            <a:ext cx="696775" cy="53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Definindo Classes</a:t>
            </a:r>
            <a:endParaRPr/>
          </a:p>
        </p:txBody>
      </p:sp>
      <p:sp>
        <p:nvSpPr>
          <p:cNvPr id="314" name="Google Shape;314;p33"/>
          <p:cNvSpPr txBox="1"/>
          <p:nvPr>
            <p:ph idx="1" type="body"/>
          </p:nvPr>
        </p:nvSpPr>
        <p:spPr>
          <a:xfrm>
            <a:off x="162700" y="762650"/>
            <a:ext cx="8944200" cy="4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Objetivo: Tabela de frequências de uma variável contínua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agrupar os dados em classes pré-estabelecidas -- a definição dos intervalos geralmente é arbitrária, a familiaridade do pesquisador com os dados acaba sendo determinante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Estratégias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Calcular a amplitude de classe (h=AT/k)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amplitude total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max(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min(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dados,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estimado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intervalos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√n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estimado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classes para </a:t>
            </a: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observações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</a:pP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ser calculado por outras definições, como a regra de Sturges =&gt; </a:t>
            </a:r>
            <a:r>
              <a:rPr b="1" lang="pt-BR" sz="1200">
                <a:solidFill>
                  <a:schemeClr val="dk1"/>
                </a:solidFill>
              </a:rPr>
              <a:t>k = 1 + 3,322(log</a:t>
            </a:r>
            <a:r>
              <a:rPr b="1" baseline="-25000" lang="pt-BR" sz="1200">
                <a:solidFill>
                  <a:schemeClr val="dk1"/>
                </a:solidFill>
              </a:rPr>
              <a:t>10</a:t>
            </a:r>
            <a:r>
              <a:rPr b="1" lang="pt-BR" sz="1200">
                <a:solidFill>
                  <a:schemeClr val="dk1"/>
                </a:solidFill>
              </a:rPr>
              <a:t> n)</a:t>
            </a:r>
            <a:b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6" name="Google Shape;316;p33"/>
          <p:cNvPicPr preferRelativeResize="0"/>
          <p:nvPr/>
        </p:nvPicPr>
        <p:blipFill rotWithShape="1">
          <a:blip r:embed="rId3">
            <a:alphaModFix/>
          </a:blip>
          <a:srcRect b="41503" l="56889" r="37193" t="50421"/>
          <a:stretch/>
        </p:blipFill>
        <p:spPr>
          <a:xfrm>
            <a:off x="4286412" y="1700875"/>
            <a:ext cx="696775" cy="53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Definindo Classes</a:t>
            </a:r>
            <a:endParaRPr/>
          </a:p>
        </p:txBody>
      </p:sp>
      <p:sp>
        <p:nvSpPr>
          <p:cNvPr id="322" name="Google Shape;322;p34"/>
          <p:cNvSpPr txBox="1"/>
          <p:nvPr>
            <p:ph idx="1" type="body"/>
          </p:nvPr>
        </p:nvSpPr>
        <p:spPr>
          <a:xfrm>
            <a:off x="162700" y="762650"/>
            <a:ext cx="8944200" cy="4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Objetivo: Tabela de frequências de uma variável contínua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agrupar os dados em classes pré-estabelecidas -- a definição dos intervalos geralmente é arbitrária, a familiaridade do pesquisador com os dados acaba sendo determinante</a:t>
            </a:r>
            <a:br>
              <a:rPr lang="pt-BR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Estratégias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Calcular a amplitude de classe (h=AT/k)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amplitude total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max(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min(</a:t>
            </a: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dados,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estimado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intervalos =&gt; 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√n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estimado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classes para </a:t>
            </a: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observações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</a:pPr>
            <a:r>
              <a:rPr i="1"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ser calculado por outras definições, como a regra de Sturges =&gt; </a:t>
            </a:r>
            <a:r>
              <a:rPr b="1" lang="pt-BR" sz="1200">
                <a:solidFill>
                  <a:schemeClr val="dk1"/>
                </a:solidFill>
              </a:rPr>
              <a:t>k = 1 + 3,322(log</a:t>
            </a:r>
            <a:r>
              <a:rPr b="1" baseline="-25000" lang="pt-BR" sz="1200">
                <a:solidFill>
                  <a:schemeClr val="dk1"/>
                </a:solidFill>
              </a:rPr>
              <a:t>10</a:t>
            </a:r>
            <a:r>
              <a:rPr b="1" lang="pt-BR" sz="1200">
                <a:solidFill>
                  <a:schemeClr val="dk1"/>
                </a:solidFill>
              </a:rPr>
              <a:t> n)</a:t>
            </a:r>
            <a:b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Exemplo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 = [10,13,16,17,18,18,19, … , 70]  (rol)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len(x)=200   # n=200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AT = max(x) - min(x) = 70 - 10 = 60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Num classes (k)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Calibri"/>
              <a:buChar char="■"/>
            </a:pPr>
            <a:r>
              <a:rPr lang="pt-BR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op 1                 =&gt; k= √n =√200                    = 14,14 = 14 classes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</a:pPr>
            <a:r>
              <a:rPr lang="pt-BR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op 2(Sturges) =&gt; </a:t>
            </a:r>
            <a:r>
              <a:rPr b="1" lang="pt-BR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k = 1 + 3,322(log</a:t>
            </a:r>
            <a:r>
              <a:rPr b="1" baseline="-25000" lang="pt-BR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lang="pt-BR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200) =    8,59 =   9 classes</a:t>
            </a:r>
            <a:endParaRPr b="1"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60/9 = </a:t>
            </a:r>
            <a:r>
              <a:rPr b="1" lang="pt-BR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ceiling</a:t>
            </a: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(6,67) = 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a tabela de frequência a partir desta definição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4" name="Google Shape;324;p34"/>
          <p:cNvPicPr preferRelativeResize="0"/>
          <p:nvPr/>
        </p:nvPicPr>
        <p:blipFill rotWithShape="1">
          <a:blip r:embed="rId3">
            <a:alphaModFix/>
          </a:blip>
          <a:srcRect b="41503" l="56889" r="37193" t="50421"/>
          <a:stretch/>
        </p:blipFill>
        <p:spPr>
          <a:xfrm>
            <a:off x="4286412" y="1700875"/>
            <a:ext cx="696775" cy="53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4"/>
          <p:cNvPicPr preferRelativeResize="0"/>
          <p:nvPr/>
        </p:nvPicPr>
        <p:blipFill rotWithShape="1">
          <a:blip r:embed="rId4">
            <a:alphaModFix/>
          </a:blip>
          <a:srcRect b="16980" l="65055" r="25297" t="42791"/>
          <a:stretch/>
        </p:blipFill>
        <p:spPr>
          <a:xfrm>
            <a:off x="7464350" y="4158376"/>
            <a:ext cx="575400" cy="1349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26" name="Google Shape;326;p34"/>
          <p:cNvCxnSpPr>
            <a:endCxn id="325" idx="1"/>
          </p:cNvCxnSpPr>
          <p:nvPr/>
        </p:nvCxnSpPr>
        <p:spPr>
          <a:xfrm flipH="1" rot="10800000">
            <a:off x="2594450" y="4832913"/>
            <a:ext cx="4869900" cy="444900"/>
          </a:xfrm>
          <a:prstGeom prst="curvedConnector3">
            <a:avLst>
              <a:gd fmla="val 678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/>
              <a:t>Outros Tipos de Gráficos</a:t>
            </a:r>
            <a:endParaRPr sz="3700"/>
          </a:p>
        </p:txBody>
      </p:sp>
      <p:sp>
        <p:nvSpPr>
          <p:cNvPr id="332" name="Google Shape;332;p35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Histograma, Curva de Densidade (kde), Gráfico de Caixa, Barras de Erro</a:t>
            </a:r>
            <a:endParaRPr sz="1800"/>
          </a:p>
        </p:txBody>
      </p:sp>
      <p:sp>
        <p:nvSpPr>
          <p:cNvPr id="333" name="Google Shape;333;p35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3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Histograma: Frequência (relativa ou acumulada)</a:t>
            </a:r>
            <a:endParaRPr/>
          </a:p>
        </p:txBody>
      </p:sp>
      <p:sp>
        <p:nvSpPr>
          <p:cNvPr id="340" name="Google Shape;340;p36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/>
              <a:t>Gráfico para variáveis quantitativas onde os valores são agrupados em classes uniformes </a:t>
            </a:r>
            <a:r>
              <a:rPr b="1" lang="pt-BR" sz="1300"/>
              <a:t>(bins)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/>
              <a:t>Colunas retangulares unidas, relacionando as classes e os valores das frequências (absolutas ou relativas)</a:t>
            </a:r>
            <a:endParaRPr sz="1300"/>
          </a:p>
        </p:txBody>
      </p:sp>
      <p:pic>
        <p:nvPicPr>
          <p:cNvPr id="341" name="Google Shape;3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0113" y="2016688"/>
            <a:ext cx="383857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Densidade</a:t>
            </a:r>
            <a:endParaRPr/>
          </a:p>
        </p:txBody>
      </p:sp>
      <p:sp>
        <p:nvSpPr>
          <p:cNvPr id="347" name="Google Shape;347;p3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8" name="Google Shape;348;p37"/>
          <p:cNvSpPr txBox="1"/>
          <p:nvPr>
            <p:ph idx="1" type="body"/>
          </p:nvPr>
        </p:nvSpPr>
        <p:spPr>
          <a:xfrm>
            <a:off x="199750" y="784900"/>
            <a:ext cx="89442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/>
              <a:t>Função de densidade define uma curva em relação às frequências das classes</a:t>
            </a:r>
            <a:endParaRPr sz="1300"/>
          </a:p>
        </p:txBody>
      </p:sp>
      <p:pic>
        <p:nvPicPr>
          <p:cNvPr id="349" name="Google Shape;349;p37"/>
          <p:cNvPicPr preferRelativeResize="0"/>
          <p:nvPr/>
        </p:nvPicPr>
        <p:blipFill rotWithShape="1">
          <a:blip r:embed="rId3">
            <a:alphaModFix/>
          </a:blip>
          <a:srcRect b="0" l="0" r="0" t="26182"/>
          <a:stretch/>
        </p:blipFill>
        <p:spPr>
          <a:xfrm>
            <a:off x="4370100" y="2253375"/>
            <a:ext cx="4621500" cy="230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7"/>
          <p:cNvPicPr preferRelativeResize="0"/>
          <p:nvPr/>
        </p:nvPicPr>
        <p:blipFill rotWithShape="1">
          <a:blip r:embed="rId4">
            <a:alphaModFix/>
          </a:blip>
          <a:srcRect b="5374" l="1536" r="0" t="0"/>
          <a:stretch/>
        </p:blipFill>
        <p:spPr>
          <a:xfrm>
            <a:off x="96350" y="2132075"/>
            <a:ext cx="4002750" cy="2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Densidade</a:t>
            </a:r>
            <a:endParaRPr/>
          </a:p>
        </p:txBody>
      </p:sp>
      <p:sp>
        <p:nvSpPr>
          <p:cNvPr id="356" name="Google Shape;356;p3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7" name="Google Shape;3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5300"/>
            <a:ext cx="8839201" cy="321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199750" y="784900"/>
            <a:ext cx="89442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/>
              <a:t>Função de densidade define uma curva em relação às frequências das classes</a:t>
            </a:r>
            <a:endParaRPr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 Plot, mas antes...</a:t>
            </a:r>
            <a:endParaRPr/>
          </a:p>
        </p:txBody>
      </p:sp>
      <p:sp>
        <p:nvSpPr>
          <p:cNvPr id="364" name="Google Shape;364;p3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4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sempre bom relembrar - centralidade</a:t>
            </a:r>
            <a:endParaRPr/>
          </a:p>
        </p:txBody>
      </p:sp>
      <p:sp>
        <p:nvSpPr>
          <p:cNvPr id="371" name="Google Shape;371;p4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Formas mais básicas de calcular a “tendência central”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b="1" lang="pt-BR" sz="1500"/>
              <a:t>média aritmética:</a:t>
            </a:r>
            <a:r>
              <a:rPr lang="pt-BR" sz="1500"/>
              <a:t> soma dos valores do conjunto dividida pela quantidade de itens do conjunto</a:t>
            </a:r>
            <a:br>
              <a:rPr lang="pt-BR" sz="1500"/>
            </a:br>
            <a:r>
              <a:rPr b="1" lang="pt-BR" sz="1100"/>
              <a:t>obs:</a:t>
            </a:r>
            <a:r>
              <a:rPr lang="pt-BR" sz="1100"/>
              <a:t> medida sensível aos dados, nem sempre adequada. Isto é, adequa-se melhor a situações em que os dados são distribuídos de forma “uniforme” e sem grandes discrepâncias.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pt-BR" sz="1500"/>
              <a:t>mediana:</a:t>
            </a:r>
            <a:r>
              <a:rPr lang="pt-BR" sz="1500"/>
              <a:t> valor que divide os valores do conjunto ao meio.</a:t>
            </a:r>
            <a:br>
              <a:rPr lang="pt-BR" sz="1500"/>
            </a:br>
            <a:r>
              <a:rPr b="1" lang="pt-BR" sz="1100"/>
              <a:t>obs:</a:t>
            </a:r>
            <a:r>
              <a:rPr lang="pt-BR" sz="1100"/>
              <a:t> Se o conjunto de informações for numérico e estiver organizado em ordem crescente ou decrescente, a sua mediana será o número que ocupa a posição central da lista. Mais da metade dos elementos será maior que a mediana, e não mais que metade dos elementos será menor que a mediana.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pt-BR" sz="1500"/>
              <a:t>moda: </a:t>
            </a:r>
            <a:r>
              <a:rPr lang="pt-BR" sz="1500"/>
              <a:t>valor mais frequente em um conjunto de dados</a:t>
            </a:r>
            <a:br>
              <a:rPr lang="pt-BR" sz="1500"/>
            </a:br>
            <a:r>
              <a:rPr b="1" lang="pt-BR" sz="1100"/>
              <a:t>obs:</a:t>
            </a:r>
            <a:r>
              <a:rPr lang="pt-BR" sz="1100"/>
              <a:t> interessante para variáveis onde descobrir a frequência é importante. É importante lembrar que alguns conjuntos onde a moda é  bimodal -- há mais do que uma medida com maior frequência.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7" name="Google Shape;377;p4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sempre bom relembrar</a:t>
            </a:r>
            <a:endParaRPr/>
          </a:p>
        </p:txBody>
      </p:sp>
      <p:pic>
        <p:nvPicPr>
          <p:cNvPr id="378" name="Google Shape;3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466" y="809625"/>
            <a:ext cx="57150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4" name="Google Shape;384;p4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Mediana</a:t>
            </a:r>
            <a:endParaRPr/>
          </a:p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28, 29, 31, 32, 32, 32, 33, 44, 65</a:t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2200"/>
              <a:t>media = 326/9 =36.2</a:t>
            </a:r>
            <a:endParaRPr b="1" sz="2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1" name="Google Shape;391;p4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Mediana</a:t>
            </a:r>
            <a:endParaRPr/>
          </a:p>
        </p:txBody>
      </p:sp>
      <p:sp>
        <p:nvSpPr>
          <p:cNvPr id="392" name="Google Shape;392;p43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28, 29, 31, 32, 32, 32, 33, 44, 65</a:t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2200"/>
              <a:t>media = 326/9 =36.2</a:t>
            </a:r>
            <a:endParaRPr b="1" sz="2200"/>
          </a:p>
        </p:txBody>
      </p:sp>
      <p:sp>
        <p:nvSpPr>
          <p:cNvPr id="393" name="Google Shape;393;p43"/>
          <p:cNvSpPr/>
          <p:nvPr/>
        </p:nvSpPr>
        <p:spPr>
          <a:xfrm>
            <a:off x="28093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3"/>
          <p:cNvSpPr/>
          <p:nvPr/>
        </p:nvSpPr>
        <p:spPr>
          <a:xfrm>
            <a:off x="51715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0" name="Google Shape;400;p4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Mediana</a:t>
            </a:r>
            <a:endParaRPr/>
          </a:p>
        </p:txBody>
      </p:sp>
      <p:sp>
        <p:nvSpPr>
          <p:cNvPr id="401" name="Google Shape;401;p4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28, 29, 31, 32, 32, 32, 33, 44, 65</a:t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2200"/>
              <a:t>media = 326/9 =36.2</a:t>
            </a:r>
            <a:endParaRPr b="1" sz="2200"/>
          </a:p>
        </p:txBody>
      </p:sp>
      <p:sp>
        <p:nvSpPr>
          <p:cNvPr id="402" name="Google Shape;402;p44"/>
          <p:cNvSpPr/>
          <p:nvPr/>
        </p:nvSpPr>
        <p:spPr>
          <a:xfrm>
            <a:off x="28093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2809509" y="1410450"/>
            <a:ext cx="1882500" cy="17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AT = max(n) - min(n)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300"/>
              <a:t>= 32 - 28 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1300"/>
              <a:t>= 4</a:t>
            </a:r>
            <a:endParaRPr b="1" sz="1300"/>
          </a:p>
        </p:txBody>
      </p:sp>
      <p:sp>
        <p:nvSpPr>
          <p:cNvPr id="404" name="Google Shape;404;p44"/>
          <p:cNvSpPr/>
          <p:nvPr/>
        </p:nvSpPr>
        <p:spPr>
          <a:xfrm>
            <a:off x="51715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5171709" y="1410450"/>
            <a:ext cx="1882500" cy="17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AT = max(n) - min(n)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300"/>
              <a:t>= 65 - 32 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1300"/>
              <a:t>= 32</a:t>
            </a:r>
            <a:endParaRPr b="1" sz="1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1" name="Google Shape;411;p4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Mediana</a:t>
            </a:r>
            <a:endParaRPr/>
          </a:p>
        </p:txBody>
      </p:sp>
      <p:sp>
        <p:nvSpPr>
          <p:cNvPr id="412" name="Google Shape;412;p45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28, 29, 31, 32, 32, 32, 33, 44, 65</a:t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2200"/>
              <a:t>media = 326/9 =36.2</a:t>
            </a:r>
            <a:endParaRPr b="1" sz="2200"/>
          </a:p>
        </p:txBody>
      </p:sp>
      <p:sp>
        <p:nvSpPr>
          <p:cNvPr id="413" name="Google Shape;413;p45"/>
          <p:cNvSpPr/>
          <p:nvPr/>
        </p:nvSpPr>
        <p:spPr>
          <a:xfrm>
            <a:off x="28093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5"/>
          <p:cNvSpPr txBox="1"/>
          <p:nvPr>
            <p:ph idx="1" type="body"/>
          </p:nvPr>
        </p:nvSpPr>
        <p:spPr>
          <a:xfrm>
            <a:off x="2809509" y="1410450"/>
            <a:ext cx="1882500" cy="17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AT = max(n) - min(n)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300"/>
              <a:t>= 32 - 28 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1300"/>
              <a:t>= 4</a:t>
            </a:r>
            <a:endParaRPr b="1" sz="1300"/>
          </a:p>
        </p:txBody>
      </p:sp>
      <p:sp>
        <p:nvSpPr>
          <p:cNvPr id="415" name="Google Shape;415;p45"/>
          <p:cNvSpPr/>
          <p:nvPr/>
        </p:nvSpPr>
        <p:spPr>
          <a:xfrm>
            <a:off x="5171525" y="765550"/>
            <a:ext cx="18825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5"/>
          <p:cNvSpPr txBox="1"/>
          <p:nvPr>
            <p:ph idx="1" type="body"/>
          </p:nvPr>
        </p:nvSpPr>
        <p:spPr>
          <a:xfrm>
            <a:off x="5171709" y="1410450"/>
            <a:ext cx="1882500" cy="17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AT = max(n) - min(n)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300"/>
              <a:t>= 65 - 32 </a:t>
            </a:r>
            <a:endParaRPr b="1"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1300"/>
              <a:t>= 32</a:t>
            </a:r>
            <a:endParaRPr b="1" sz="1300"/>
          </a:p>
        </p:txBody>
      </p:sp>
      <p:sp>
        <p:nvSpPr>
          <p:cNvPr id="417" name="Google Shape;417;p45"/>
          <p:cNvSpPr/>
          <p:nvPr/>
        </p:nvSpPr>
        <p:spPr>
          <a:xfrm>
            <a:off x="2809325" y="3572800"/>
            <a:ext cx="4244700" cy="28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5"/>
          <p:cNvSpPr txBox="1"/>
          <p:nvPr>
            <p:ph idx="1" type="body"/>
          </p:nvPr>
        </p:nvSpPr>
        <p:spPr>
          <a:xfrm>
            <a:off x="2548352" y="3859000"/>
            <a:ext cx="483300" cy="2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900"/>
              <a:t>28</a:t>
            </a:r>
            <a:endParaRPr b="1" sz="900"/>
          </a:p>
        </p:txBody>
      </p:sp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6806740" y="3866400"/>
            <a:ext cx="483300" cy="2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900"/>
              <a:t>65</a:t>
            </a:r>
            <a:endParaRPr b="1" sz="900"/>
          </a:p>
        </p:txBody>
      </p:sp>
      <p:sp>
        <p:nvSpPr>
          <p:cNvPr id="420" name="Google Shape;420;p45"/>
          <p:cNvSpPr/>
          <p:nvPr/>
        </p:nvSpPr>
        <p:spPr>
          <a:xfrm>
            <a:off x="277225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5"/>
          <p:cNvSpPr/>
          <p:nvPr/>
        </p:nvSpPr>
        <p:spPr>
          <a:xfrm>
            <a:off x="300085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5"/>
          <p:cNvSpPr/>
          <p:nvPr/>
        </p:nvSpPr>
        <p:spPr>
          <a:xfrm>
            <a:off x="330565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5"/>
          <p:cNvSpPr/>
          <p:nvPr/>
        </p:nvSpPr>
        <p:spPr>
          <a:xfrm>
            <a:off x="3534250" y="3380100"/>
            <a:ext cx="126000" cy="133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5"/>
          <p:cNvSpPr/>
          <p:nvPr/>
        </p:nvSpPr>
        <p:spPr>
          <a:xfrm>
            <a:off x="376285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5" name="Google Shape;425;p45"/>
          <p:cNvSpPr/>
          <p:nvPr/>
        </p:nvSpPr>
        <p:spPr>
          <a:xfrm>
            <a:off x="530730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5"/>
          <p:cNvSpPr/>
          <p:nvPr/>
        </p:nvSpPr>
        <p:spPr>
          <a:xfrm>
            <a:off x="6985400" y="3380100"/>
            <a:ext cx="126000" cy="13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2" name="Google Shape;432;p4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Quartis</a:t>
            </a:r>
            <a:endParaRPr/>
          </a:p>
        </p:txBody>
      </p:sp>
      <p:sp>
        <p:nvSpPr>
          <p:cNvPr id="433" name="Google Shape;433;p46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Medidas</a:t>
            </a:r>
            <a:r>
              <a:rPr lang="pt-BR" sz="1500"/>
              <a:t> separatrizes do conjunto de dados, de 25 em 25%.</a:t>
            </a:r>
            <a:endParaRPr sz="1500"/>
          </a:p>
        </p:txBody>
      </p:sp>
      <p:pic>
        <p:nvPicPr>
          <p:cNvPr id="434" name="Google Shape;4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900" y="1755350"/>
            <a:ext cx="8119900" cy="14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Representação Gráfica de um conjunto de dados que permite avaliar rapidamente a dispersão, destacando também os </a:t>
            </a:r>
            <a:r>
              <a:rPr i="1" lang="pt-BR"/>
              <a:t>outliers</a:t>
            </a:r>
            <a:endParaRPr i="1"/>
          </a:p>
        </p:txBody>
      </p:sp>
      <p:sp>
        <p:nvSpPr>
          <p:cNvPr id="440" name="Google Shape;440;p4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441" name="Google Shape;441;p4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42" name="Google Shape;442;p47"/>
          <p:cNvPicPr preferRelativeResize="0"/>
          <p:nvPr/>
        </p:nvPicPr>
        <p:blipFill rotWithShape="1">
          <a:blip r:embed="rId3">
            <a:alphaModFix/>
          </a:blip>
          <a:srcRect b="0" l="11182" r="0" t="0"/>
          <a:stretch/>
        </p:blipFill>
        <p:spPr>
          <a:xfrm>
            <a:off x="3179950" y="1876300"/>
            <a:ext cx="38248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7"/>
          <p:cNvSpPr/>
          <p:nvPr/>
        </p:nvSpPr>
        <p:spPr>
          <a:xfrm>
            <a:off x="3373600" y="19272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7"/>
          <p:cNvSpPr/>
          <p:nvPr/>
        </p:nvSpPr>
        <p:spPr>
          <a:xfrm>
            <a:off x="3296225" y="52818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7"/>
          <p:cNvSpPr/>
          <p:nvPr/>
        </p:nvSpPr>
        <p:spPr>
          <a:xfrm>
            <a:off x="3915600" y="3351325"/>
            <a:ext cx="3483000" cy="105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451" name="Google Shape;451;p4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52" name="Google Shape;452;p48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8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Representação Gráfica de um conjunto de dados que permite avaliar rapidamente a dispersão, destacando também os </a:t>
            </a:r>
            <a:r>
              <a:rPr i="1" lang="pt-BR"/>
              <a:t>outliers</a:t>
            </a:r>
            <a:endParaRPr i="1"/>
          </a:p>
        </p:txBody>
      </p:sp>
      <p:sp>
        <p:nvSpPr>
          <p:cNvPr id="454" name="Google Shape;454;p48"/>
          <p:cNvSpPr/>
          <p:nvPr/>
        </p:nvSpPr>
        <p:spPr>
          <a:xfrm>
            <a:off x="3373600" y="19272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8"/>
          <p:cNvSpPr/>
          <p:nvPr/>
        </p:nvSpPr>
        <p:spPr>
          <a:xfrm>
            <a:off x="3296225" y="52818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461" name="Google Shape;461;p4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62" name="Google Shape;462;p49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9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Representação Gráfica de um conjunto de dados que permite avaliar rapidamente a dispersão, destacando também os </a:t>
            </a:r>
            <a:r>
              <a:rPr i="1" lang="pt-BR"/>
              <a:t>outliers</a:t>
            </a:r>
            <a:endParaRPr i="1"/>
          </a:p>
        </p:txBody>
      </p:sp>
      <p:sp>
        <p:nvSpPr>
          <p:cNvPr id="464" name="Google Shape;464;p49"/>
          <p:cNvSpPr/>
          <p:nvPr/>
        </p:nvSpPr>
        <p:spPr>
          <a:xfrm>
            <a:off x="3066425" y="3498675"/>
            <a:ext cx="229800" cy="370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9"/>
          <p:cNvSpPr txBox="1"/>
          <p:nvPr/>
        </p:nvSpPr>
        <p:spPr>
          <a:xfrm>
            <a:off x="1734525" y="3548300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  <p:sp>
        <p:nvSpPr>
          <p:cNvPr id="466" name="Google Shape;466;p49"/>
          <p:cNvSpPr/>
          <p:nvPr/>
        </p:nvSpPr>
        <p:spPr>
          <a:xfrm>
            <a:off x="3373600" y="19272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9"/>
          <p:cNvSpPr/>
          <p:nvPr/>
        </p:nvSpPr>
        <p:spPr>
          <a:xfrm>
            <a:off x="3296225" y="52818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9"/>
          <p:cNvSpPr/>
          <p:nvPr/>
        </p:nvSpPr>
        <p:spPr>
          <a:xfrm>
            <a:off x="3066425" y="3869176"/>
            <a:ext cx="229800" cy="327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9"/>
          <p:cNvSpPr txBox="1"/>
          <p:nvPr/>
        </p:nvSpPr>
        <p:spPr>
          <a:xfrm>
            <a:off x="1734525" y="3853100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475" name="Google Shape;475;p5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6" name="Google Shape;476;p50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0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Representação Gráfica de um conjunto de dados que permite avaliar rapidamente a dispersão, destacando também os </a:t>
            </a:r>
            <a:r>
              <a:rPr i="1" lang="pt-BR"/>
              <a:t>outliers</a:t>
            </a:r>
            <a:endParaRPr i="1"/>
          </a:p>
        </p:txBody>
      </p:sp>
      <p:sp>
        <p:nvSpPr>
          <p:cNvPr id="478" name="Google Shape;478;p50"/>
          <p:cNvSpPr/>
          <p:nvPr/>
        </p:nvSpPr>
        <p:spPr>
          <a:xfrm>
            <a:off x="3066425" y="3498675"/>
            <a:ext cx="229800" cy="370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0"/>
          <p:cNvSpPr txBox="1"/>
          <p:nvPr/>
        </p:nvSpPr>
        <p:spPr>
          <a:xfrm>
            <a:off x="1734525" y="3548300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  <p:sp>
        <p:nvSpPr>
          <p:cNvPr id="480" name="Google Shape;480;p50"/>
          <p:cNvSpPr/>
          <p:nvPr/>
        </p:nvSpPr>
        <p:spPr>
          <a:xfrm>
            <a:off x="3373600" y="19272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0"/>
          <p:cNvSpPr/>
          <p:nvPr/>
        </p:nvSpPr>
        <p:spPr>
          <a:xfrm>
            <a:off x="3296225" y="52818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0"/>
          <p:cNvSpPr/>
          <p:nvPr/>
        </p:nvSpPr>
        <p:spPr>
          <a:xfrm>
            <a:off x="3066425" y="3869176"/>
            <a:ext cx="229800" cy="327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0"/>
          <p:cNvSpPr txBox="1"/>
          <p:nvPr/>
        </p:nvSpPr>
        <p:spPr>
          <a:xfrm>
            <a:off x="1734525" y="3853100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  <p:sp>
        <p:nvSpPr>
          <p:cNvPr id="484" name="Google Shape;484;p50"/>
          <p:cNvSpPr/>
          <p:nvPr/>
        </p:nvSpPr>
        <p:spPr>
          <a:xfrm>
            <a:off x="3066425" y="1876300"/>
            <a:ext cx="229800" cy="1622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0"/>
          <p:cNvSpPr txBox="1"/>
          <p:nvPr/>
        </p:nvSpPr>
        <p:spPr>
          <a:xfrm>
            <a:off x="1734525" y="2520638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  <p:sp>
        <p:nvSpPr>
          <p:cNvPr id="486" name="Google Shape;486;p50"/>
          <p:cNvSpPr/>
          <p:nvPr/>
        </p:nvSpPr>
        <p:spPr>
          <a:xfrm>
            <a:off x="3066425" y="4196175"/>
            <a:ext cx="229800" cy="1436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0"/>
          <p:cNvSpPr txBox="1"/>
          <p:nvPr/>
        </p:nvSpPr>
        <p:spPr>
          <a:xfrm>
            <a:off x="1734525" y="4766533"/>
            <a:ext cx="14379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493" name="Google Shape;493;p5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4" name="Google Shape;494;p51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1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Representação Gráfica de um conjunto de dados que permite avaliar rapidamente a dispersão, destacando também os </a:t>
            </a:r>
            <a:r>
              <a:rPr i="1" lang="pt-BR"/>
              <a:t>outliers</a:t>
            </a:r>
            <a:endParaRPr i="1"/>
          </a:p>
        </p:txBody>
      </p:sp>
      <p:sp>
        <p:nvSpPr>
          <p:cNvPr id="496" name="Google Shape;496;p51"/>
          <p:cNvSpPr/>
          <p:nvPr/>
        </p:nvSpPr>
        <p:spPr>
          <a:xfrm>
            <a:off x="3066425" y="3498675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1"/>
          <p:cNvSpPr txBox="1"/>
          <p:nvPr/>
        </p:nvSpPr>
        <p:spPr>
          <a:xfrm>
            <a:off x="459575" y="3700700"/>
            <a:ext cx="271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Distância interquartil (50%)</a:t>
            </a:r>
            <a:endParaRPr b="1" sz="1200"/>
          </a:p>
        </p:txBody>
      </p:sp>
      <p:sp>
        <p:nvSpPr>
          <p:cNvPr id="498" name="Google Shape;498;p51"/>
          <p:cNvSpPr/>
          <p:nvPr/>
        </p:nvSpPr>
        <p:spPr>
          <a:xfrm>
            <a:off x="3373600" y="19272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1"/>
          <p:cNvSpPr/>
          <p:nvPr/>
        </p:nvSpPr>
        <p:spPr>
          <a:xfrm>
            <a:off x="3296225" y="5281825"/>
            <a:ext cx="34830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1"/>
          <p:cNvSpPr/>
          <p:nvPr/>
        </p:nvSpPr>
        <p:spPr>
          <a:xfrm>
            <a:off x="3066425" y="1876300"/>
            <a:ext cx="229800" cy="1622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1"/>
          <p:cNvSpPr txBox="1"/>
          <p:nvPr/>
        </p:nvSpPr>
        <p:spPr>
          <a:xfrm>
            <a:off x="1734525" y="2520638"/>
            <a:ext cx="143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  <p:sp>
        <p:nvSpPr>
          <p:cNvPr id="502" name="Google Shape;502;p51"/>
          <p:cNvSpPr/>
          <p:nvPr/>
        </p:nvSpPr>
        <p:spPr>
          <a:xfrm>
            <a:off x="3066425" y="4196175"/>
            <a:ext cx="229800" cy="1436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1"/>
          <p:cNvSpPr txBox="1"/>
          <p:nvPr/>
        </p:nvSpPr>
        <p:spPr>
          <a:xfrm>
            <a:off x="1734525" y="4766533"/>
            <a:ext cx="14379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25% dos dados</a:t>
            </a:r>
            <a:endParaRPr b="1" sz="1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509" name="Google Shape;509;p5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0" name="Google Shape;510;p52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Como calcular os limites superiores e inferiores? E os outliers?</a:t>
            </a:r>
            <a:endParaRPr i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516" name="Google Shape;516;p5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7" name="Google Shape;517;p53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3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Como calcular os limites superiores e inferiores? E os outliers?</a:t>
            </a:r>
            <a:endParaRPr i="1"/>
          </a:p>
        </p:txBody>
      </p:sp>
      <p:sp>
        <p:nvSpPr>
          <p:cNvPr id="519" name="Google Shape;519;p53"/>
          <p:cNvSpPr/>
          <p:nvPr/>
        </p:nvSpPr>
        <p:spPr>
          <a:xfrm>
            <a:off x="3066425" y="3498675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3"/>
          <p:cNvSpPr txBox="1"/>
          <p:nvPr/>
        </p:nvSpPr>
        <p:spPr>
          <a:xfrm>
            <a:off x="459575" y="3700700"/>
            <a:ext cx="271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Distância interquartil (DI) (50%)</a:t>
            </a:r>
            <a:endParaRPr b="1"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526" name="Google Shape;526;p5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27" name="Google Shape;527;p54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4"/>
          <p:cNvSpPr txBox="1"/>
          <p:nvPr>
            <p:ph idx="1" type="body"/>
          </p:nvPr>
        </p:nvSpPr>
        <p:spPr>
          <a:xfrm>
            <a:off x="199750" y="784900"/>
            <a:ext cx="89442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Como calcular os limites superiores e inferiores? E os outliers?</a:t>
            </a:r>
            <a:endParaRPr i="1"/>
          </a:p>
        </p:txBody>
      </p:sp>
      <p:sp>
        <p:nvSpPr>
          <p:cNvPr id="529" name="Google Shape;529;p54"/>
          <p:cNvSpPr/>
          <p:nvPr/>
        </p:nvSpPr>
        <p:spPr>
          <a:xfrm>
            <a:off x="3066425" y="3498675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4"/>
          <p:cNvSpPr txBox="1"/>
          <p:nvPr/>
        </p:nvSpPr>
        <p:spPr>
          <a:xfrm>
            <a:off x="459575" y="3700700"/>
            <a:ext cx="271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Distância interquartil (DI) (50%)</a:t>
            </a:r>
            <a:endParaRPr b="1" sz="1200"/>
          </a:p>
        </p:txBody>
      </p:sp>
      <p:sp>
        <p:nvSpPr>
          <p:cNvPr id="531" name="Google Shape;531;p54"/>
          <p:cNvSpPr/>
          <p:nvPr/>
        </p:nvSpPr>
        <p:spPr>
          <a:xfrm>
            <a:off x="3073837" y="2798050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4"/>
          <p:cNvSpPr txBox="1"/>
          <p:nvPr/>
        </p:nvSpPr>
        <p:spPr>
          <a:xfrm>
            <a:off x="467000" y="2400150"/>
            <a:ext cx="2712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A distância vai até 1.5DI.</a:t>
            </a:r>
            <a:br>
              <a:rPr b="1" lang="pt-BR" sz="1200"/>
            </a:br>
            <a:r>
              <a:rPr b="1" lang="pt-BR" sz="1200"/>
              <a:t>A partir daqui, valores são outliers</a:t>
            </a:r>
            <a:endParaRPr b="1" sz="1200"/>
          </a:p>
        </p:txBody>
      </p:sp>
      <p:sp>
        <p:nvSpPr>
          <p:cNvPr id="533" name="Google Shape;533;p54"/>
          <p:cNvSpPr/>
          <p:nvPr/>
        </p:nvSpPr>
        <p:spPr>
          <a:xfrm>
            <a:off x="3073825" y="2400150"/>
            <a:ext cx="229800" cy="370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539" name="Google Shape;539;p5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0" name="Google Shape;5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116" y="963025"/>
            <a:ext cx="52197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546" name="Google Shape;546;p5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7" name="Google Shape;54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091" y="659125"/>
            <a:ext cx="4517766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57"/>
          <p:cNvPicPr preferRelativeResize="0"/>
          <p:nvPr/>
        </p:nvPicPr>
        <p:blipFill rotWithShape="1">
          <a:blip r:embed="rId3">
            <a:alphaModFix/>
          </a:blip>
          <a:srcRect b="31242" l="3864" r="3892" t="31152"/>
          <a:stretch/>
        </p:blipFill>
        <p:spPr>
          <a:xfrm>
            <a:off x="541100" y="1719700"/>
            <a:ext cx="8153698" cy="137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 - Exemplo</a:t>
            </a:r>
            <a:endParaRPr/>
          </a:p>
        </p:txBody>
      </p:sp>
      <p:sp>
        <p:nvSpPr>
          <p:cNvPr id="555" name="Google Shape;555;p57"/>
          <p:cNvSpPr txBox="1"/>
          <p:nvPr/>
        </p:nvSpPr>
        <p:spPr>
          <a:xfrm>
            <a:off x="400275" y="570750"/>
            <a:ext cx="8368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Este box plot representa a idade, em anos, de conjunto de árvores </a:t>
            </a:r>
            <a:r>
              <a:rPr lang="pt-BR"/>
              <a:t>estudadas</a:t>
            </a:r>
            <a:r>
              <a:rPr lang="pt-BR"/>
              <a:t> por um ecologista</a:t>
            </a:r>
            <a:endParaRPr/>
          </a:p>
        </p:txBody>
      </p:sp>
      <p:sp>
        <p:nvSpPr>
          <p:cNvPr id="556" name="Google Shape;556;p57"/>
          <p:cNvSpPr txBox="1"/>
          <p:nvPr/>
        </p:nvSpPr>
        <p:spPr>
          <a:xfrm>
            <a:off x="433550" y="3274950"/>
            <a:ext cx="8368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amplitude do </a:t>
            </a:r>
            <a:r>
              <a:rPr lang="pt-BR"/>
              <a:t>conjunto</a:t>
            </a:r>
            <a:r>
              <a:rPr lang="pt-BR"/>
              <a:t> de dados? Qual a mediana? Como os valores estão distribuídos?</a:t>
            </a:r>
            <a:endParaRPr/>
          </a:p>
        </p:txBody>
      </p:sp>
      <p:sp>
        <p:nvSpPr>
          <p:cNvPr id="557" name="Google Shape;557;p57"/>
          <p:cNvSpPr/>
          <p:nvPr/>
        </p:nvSpPr>
        <p:spPr>
          <a:xfrm>
            <a:off x="2112550" y="2579525"/>
            <a:ext cx="5115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7"/>
          <p:cNvSpPr/>
          <p:nvPr/>
        </p:nvSpPr>
        <p:spPr>
          <a:xfrm>
            <a:off x="2998800" y="2579525"/>
            <a:ext cx="5115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/>
          <p:nvPr/>
        </p:nvSpPr>
        <p:spPr>
          <a:xfrm>
            <a:off x="4470625" y="2579525"/>
            <a:ext cx="5115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/>
          <p:nvPr/>
        </p:nvSpPr>
        <p:spPr>
          <a:xfrm>
            <a:off x="6735562" y="2566787"/>
            <a:ext cx="511500" cy="2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6" name="Google Shape;566;p5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 - É tudo verdade?</a:t>
            </a:r>
            <a:endParaRPr/>
          </a:p>
        </p:txBody>
      </p:sp>
      <p:pic>
        <p:nvPicPr>
          <p:cNvPr id="567" name="Google Shape;5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091" y="614625"/>
            <a:ext cx="7528119" cy="492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3" name="Google Shape;573;p5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 - É tudo verdade?</a:t>
            </a:r>
            <a:endParaRPr/>
          </a:p>
        </p:txBody>
      </p:sp>
      <p:pic>
        <p:nvPicPr>
          <p:cNvPr id="574" name="Google Shape;57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091" y="614625"/>
            <a:ext cx="7528119" cy="4925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" name="Google Shape;575;p59"/>
          <p:cNvCxnSpPr/>
          <p:nvPr/>
        </p:nvCxnSpPr>
        <p:spPr>
          <a:xfrm flipH="1" rot="10800000">
            <a:off x="1052575" y="4425150"/>
            <a:ext cx="56484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59"/>
          <p:cNvCxnSpPr/>
          <p:nvPr/>
        </p:nvCxnSpPr>
        <p:spPr>
          <a:xfrm flipH="1" rot="10800000">
            <a:off x="1052575" y="4729950"/>
            <a:ext cx="56484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59"/>
          <p:cNvCxnSpPr/>
          <p:nvPr/>
        </p:nvCxnSpPr>
        <p:spPr>
          <a:xfrm flipH="1" rot="10800000">
            <a:off x="1052575" y="5040450"/>
            <a:ext cx="7086300" cy="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3" name="Google Shape;583;p6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584" name="Google Shape;584;p60"/>
          <p:cNvSpPr txBox="1"/>
          <p:nvPr>
            <p:ph idx="1" type="body"/>
          </p:nvPr>
        </p:nvSpPr>
        <p:spPr>
          <a:xfrm>
            <a:off x="199750" y="784900"/>
            <a:ext cx="8944200" cy="1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25, 27, 28, 29, 31, 32, 32, 32, 33, 38, 50</a:t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200"/>
          </a:p>
        </p:txBody>
      </p:sp>
      <p:sp>
        <p:nvSpPr>
          <p:cNvPr id="585" name="Google Shape;585;p60"/>
          <p:cNvSpPr/>
          <p:nvPr/>
        </p:nvSpPr>
        <p:spPr>
          <a:xfrm>
            <a:off x="2395400" y="765550"/>
            <a:ext cx="22596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0"/>
          <p:cNvSpPr/>
          <p:nvPr/>
        </p:nvSpPr>
        <p:spPr>
          <a:xfrm>
            <a:off x="5144250" y="765550"/>
            <a:ext cx="22596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7" name="Google Shape;58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150" y="1610025"/>
            <a:ext cx="4769688" cy="384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3" name="Google Shape;593;p6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594" name="Google Shape;594;p61"/>
          <p:cNvSpPr txBox="1"/>
          <p:nvPr>
            <p:ph idx="1" type="body"/>
          </p:nvPr>
        </p:nvSpPr>
        <p:spPr>
          <a:xfrm>
            <a:off x="199750" y="784900"/>
            <a:ext cx="8944200" cy="1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2200"/>
              <a:t>25, 27, 28, 29, 31, 32, 32, 32, 33, 38, X</a:t>
            </a:r>
            <a:endParaRPr b="1" sz="2200"/>
          </a:p>
        </p:txBody>
      </p:sp>
      <p:sp>
        <p:nvSpPr>
          <p:cNvPr id="595" name="Google Shape;595;p61"/>
          <p:cNvSpPr/>
          <p:nvPr/>
        </p:nvSpPr>
        <p:spPr>
          <a:xfrm>
            <a:off x="2395400" y="765550"/>
            <a:ext cx="22596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1"/>
          <p:cNvSpPr/>
          <p:nvPr/>
        </p:nvSpPr>
        <p:spPr>
          <a:xfrm>
            <a:off x="5144250" y="765550"/>
            <a:ext cx="2259600" cy="56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1"/>
          <p:cNvSpPr txBox="1"/>
          <p:nvPr/>
        </p:nvSpPr>
        <p:spPr>
          <a:xfrm>
            <a:off x="340575" y="3721050"/>
            <a:ext cx="70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http://www.alcula.com/calculators/statistics/box-plot/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3" name="Google Shape;603;p6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Barra de Erro</a:t>
            </a:r>
            <a:endParaRPr/>
          </a:p>
        </p:txBody>
      </p:sp>
      <p:pic>
        <p:nvPicPr>
          <p:cNvPr id="604" name="Google Shape;60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425" y="941400"/>
            <a:ext cx="2869025" cy="46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Hora de colocar a mão na massa!</a:t>
            </a:r>
            <a:endParaRPr sz="4000"/>
          </a:p>
        </p:txBody>
      </p:sp>
      <p:sp>
        <p:nvSpPr>
          <p:cNvPr id="610" name="Google Shape;610;p6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/>
              <a:t>Aula 2 | Demo 1 - Parte 2</a:t>
            </a:r>
            <a:endParaRPr/>
          </a:p>
        </p:txBody>
      </p:sp>
      <p:sp>
        <p:nvSpPr>
          <p:cNvPr id="611" name="Google Shape;611;p6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434343"/>
                </a:solidFill>
              </a:rPr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heus - Preferido p/ Cle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