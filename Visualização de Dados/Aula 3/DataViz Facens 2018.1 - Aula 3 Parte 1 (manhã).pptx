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4372d1c2f2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4372d1c2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f561627ef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3f561627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437330281e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43733028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437330281e_0_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43733028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5154a606b_1_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45154a606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4522052c99_1_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4522052c9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4522052c99_1_3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4522052c99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4522052c99_1_5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4522052c99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522052c99_1_73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4522052c99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4522052c99_1_79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4522052c99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522052c99_1_157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522052c99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4522052c99_1_87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4522052c99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4522052c99_1_9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4522052c99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522052c99_1_10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522052c99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4522052c99_1_147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4522052c99_1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522052c99_1_135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522052c99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522052c99_1_182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4522052c99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522052c99_1_10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522052c99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522052c99_1_16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522052c99_1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4522052c99_1_6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4522052c99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4522052c99_1_193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4522052c99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522052c99_2_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4522052c99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4522052c99_1_17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4522052c99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452b7e3f0c_0_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452b7e3f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452b7e3f0c_0_5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452b7e3f0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452b7e3f0c_0_13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452b7e3f0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52b7e3f0c_0_2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452b7e3f0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452b7e3f0c_0_2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452b7e3f0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452b7e3f0c_0_3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452b7e3f0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452b7e3f0c_0_4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452b7e3f0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452b7e3f0c_1_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452b7e3f0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452b7e3f0c_1_9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452b7e3f0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52b7e3f0c_1_1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452b7e3f0c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452b7e3f0c_1_23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452b7e3f0c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452b7e3f0c_1_3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452b7e3f0c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452b7e3f0c_1_52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452b7e3f0c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452b7e3f0c_1_4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452b7e3f0c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452b7e3f0c_1_6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452b7e3f0c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452b7e3f0c_1_73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452b7e3f0c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452b7e3f0c_1_89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452b7e3f0c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452b7e3f0c_1_9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452b7e3f0c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452b7e3f0c_1_112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452b7e3f0c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452b7e3f0c_1_12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452b7e3f0c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452b7e3f0c_2_14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452b7e3f0c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452b7e3f0c_2_2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452b7e3f0c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452b7e3f0c_2_2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452b7e3f0c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452b7e3f0c_1_12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452b7e3f0c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452b7e3f0c_1_135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452b7e3f0c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452b7e3f0c_2_2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452b7e3f0c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452b7e3f0c_2_35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452b7e3f0c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452b7e3f0c_2_4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452b7e3f0c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452b7e3f0c_2_57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452b7e3f0c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452b7e3f0c_2_73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452b7e3f0c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452b7e3f0c_2_87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452b7e3f0c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452b7e3f0c_2_95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452b7e3f0c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43a72c38ac_0_411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43a72c38ac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452b7e3f0c_2_113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452b7e3f0c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452b7e3f0c_2_120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452b7e3f0c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452b7e3f0c_2_108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452b7e3f0c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452b7e3f0c_2_126:notes"/>
          <p:cNvSpPr/>
          <p:nvPr>
            <p:ph idx="2" type="sldImg"/>
          </p:nvPr>
        </p:nvSpPr>
        <p:spPr>
          <a:xfrm>
            <a:off x="686104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452b7e3f0c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2.png"/><Relationship Id="rId4" Type="http://schemas.openxmlformats.org/officeDocument/2006/relationships/image" Target="../media/image37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">
  <p:cSld name="TITLE_1">
    <p:bg>
      <p:bgPr>
        <a:noFill/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9;p2"/>
          <p:cNvCxnSpPr/>
          <p:nvPr/>
        </p:nvCxnSpPr>
        <p:spPr>
          <a:xfrm>
            <a:off x="0" y="1333144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" name="Google Shape;10;p2"/>
          <p:cNvSpPr txBox="1"/>
          <p:nvPr>
            <p:ph type="ctrTitle"/>
          </p:nvPr>
        </p:nvSpPr>
        <p:spPr>
          <a:xfrm>
            <a:off x="150300" y="511874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50300" y="1420500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None/>
              <a:defRPr b="1" sz="20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738800" y="5380333"/>
            <a:ext cx="4053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434343"/>
                </a:solidFill>
              </a:defRPr>
            </a:lvl1pPr>
            <a:lvl2pPr lvl="1" rtl="0">
              <a:buNone/>
              <a:defRPr>
                <a:solidFill>
                  <a:srgbClr val="434343"/>
                </a:solidFill>
              </a:defRPr>
            </a:lvl2pPr>
            <a:lvl3pPr lvl="2" rtl="0">
              <a:buNone/>
              <a:defRPr>
                <a:solidFill>
                  <a:srgbClr val="434343"/>
                </a:solidFill>
              </a:defRPr>
            </a:lvl3pPr>
            <a:lvl4pPr lvl="3" rtl="0">
              <a:buNone/>
              <a:defRPr>
                <a:solidFill>
                  <a:srgbClr val="434343"/>
                </a:solidFill>
              </a:defRPr>
            </a:lvl4pPr>
            <a:lvl5pPr lvl="4" rtl="0">
              <a:buNone/>
              <a:defRPr>
                <a:solidFill>
                  <a:srgbClr val="434343"/>
                </a:solidFill>
              </a:defRPr>
            </a:lvl5pPr>
            <a:lvl6pPr lvl="5" rtl="0">
              <a:buNone/>
              <a:defRPr>
                <a:solidFill>
                  <a:srgbClr val="434343"/>
                </a:solidFill>
              </a:defRPr>
            </a:lvl6pPr>
            <a:lvl7pPr lvl="6" rtl="0">
              <a:buNone/>
              <a:defRPr>
                <a:solidFill>
                  <a:srgbClr val="434343"/>
                </a:solidFill>
              </a:defRPr>
            </a:lvl7pPr>
            <a:lvl8pPr lvl="7" rtl="0">
              <a:buNone/>
              <a:defRPr>
                <a:solidFill>
                  <a:srgbClr val="434343"/>
                </a:solidFill>
              </a:defRPr>
            </a:lvl8pPr>
            <a:lvl9pPr lvl="8" rtl="0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 amt="50000"/>
          </a:blip>
          <a:srcRect b="19432" l="17725" r="1629" t="0"/>
          <a:stretch/>
        </p:blipFill>
        <p:spPr>
          <a:xfrm>
            <a:off x="5512825" y="4057300"/>
            <a:ext cx="3631174" cy="165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 amt="50000"/>
          </a:blip>
          <a:srcRect b="3217" l="0" r="0" t="22121"/>
          <a:stretch/>
        </p:blipFill>
        <p:spPr>
          <a:xfrm rot="10800000">
            <a:off x="0" y="3953472"/>
            <a:ext cx="4502250" cy="176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0625" y="4898376"/>
            <a:ext cx="1793468" cy="82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 amt="50000"/>
          </a:blip>
          <a:srcRect b="-411" l="0" r="19" t="0"/>
          <a:stretch/>
        </p:blipFill>
        <p:spPr>
          <a:xfrm rot="251502">
            <a:off x="2206440" y="4010317"/>
            <a:ext cx="3931074" cy="2018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 1 1">
  <p:cSld name="TITLE_1_1">
    <p:bg>
      <p:bgPr>
        <a:noFill/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3"/>
          <p:cNvCxnSpPr/>
          <p:nvPr/>
        </p:nvCxnSpPr>
        <p:spPr>
          <a:xfrm>
            <a:off x="0" y="3542944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800"/>
              <a:buNone/>
              <a:defRPr sz="4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300800" y="3613175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None/>
              <a:defRPr b="1" sz="20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None/>
              <a:defRPr sz="24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434343"/>
                </a:solidFill>
              </a:defRPr>
            </a:lvl1pPr>
            <a:lvl2pPr lvl="1" rtl="0">
              <a:buNone/>
              <a:defRPr>
                <a:solidFill>
                  <a:srgbClr val="434343"/>
                </a:solidFill>
              </a:defRPr>
            </a:lvl2pPr>
            <a:lvl3pPr lvl="2" rtl="0">
              <a:buNone/>
              <a:defRPr>
                <a:solidFill>
                  <a:srgbClr val="434343"/>
                </a:solidFill>
              </a:defRPr>
            </a:lvl3pPr>
            <a:lvl4pPr lvl="3" rtl="0">
              <a:buNone/>
              <a:defRPr>
                <a:solidFill>
                  <a:srgbClr val="434343"/>
                </a:solidFill>
              </a:defRPr>
            </a:lvl4pPr>
            <a:lvl5pPr lvl="4" rtl="0">
              <a:buNone/>
              <a:defRPr>
                <a:solidFill>
                  <a:srgbClr val="434343"/>
                </a:solidFill>
              </a:defRPr>
            </a:lvl5pPr>
            <a:lvl6pPr lvl="5" rtl="0">
              <a:buNone/>
              <a:defRPr>
                <a:solidFill>
                  <a:srgbClr val="434343"/>
                </a:solidFill>
              </a:defRPr>
            </a:lvl6pPr>
            <a:lvl7pPr lvl="6" rtl="0">
              <a:buNone/>
              <a:defRPr>
                <a:solidFill>
                  <a:srgbClr val="434343"/>
                </a:solidFill>
              </a:defRPr>
            </a:lvl7pPr>
            <a:lvl8pPr lvl="7" rtl="0">
              <a:buNone/>
              <a:defRPr>
                <a:solidFill>
                  <a:srgbClr val="434343"/>
                </a:solidFill>
              </a:defRPr>
            </a:lvl8pPr>
            <a:lvl9pPr lvl="8" rtl="0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 amt="55000"/>
          </a:blip>
          <a:srcRect b="0" l="0" r="0" t="23564"/>
          <a:stretch/>
        </p:blipFill>
        <p:spPr>
          <a:xfrm>
            <a:off x="3117975" y="-1"/>
            <a:ext cx="6026026" cy="242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">
  <p:cSld name="TITLE_AND_BODY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753_paginas.jpg"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97196" t="0"/>
          <a:stretch/>
        </p:blipFill>
        <p:spPr>
          <a:xfrm>
            <a:off x="-13855" y="0"/>
            <a:ext cx="213581" cy="571500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-13855" y="484380"/>
            <a:ext cx="9185700" cy="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8753_paginas.jpg" id="29" name="Google Shape;29;p4"/>
          <p:cNvPicPr preferRelativeResize="0"/>
          <p:nvPr/>
        </p:nvPicPr>
        <p:blipFill rotWithShape="1">
          <a:blip r:embed="rId2">
            <a:alphaModFix/>
          </a:blip>
          <a:srcRect b="4140" l="74950" r="3830" t="84520"/>
          <a:stretch/>
        </p:blipFill>
        <p:spPr>
          <a:xfrm>
            <a:off x="8305825" y="5378975"/>
            <a:ext cx="838177" cy="336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 1 1">
  <p:cSld name="TITLE_AND_BODY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rtl="0" algn="l">
              <a:buNone/>
              <a:defRPr b="1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33" name="Google Shape;33;p5"/>
          <p:cNvCxnSpPr/>
          <p:nvPr/>
        </p:nvCxnSpPr>
        <p:spPr>
          <a:xfrm>
            <a:off x="-13855" y="484380"/>
            <a:ext cx="9185700" cy="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ustom Layout 1">
  <p:cSld name="CUSTOM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56784" y="527761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Layout Facens - DataViz2018.1">
  <p:cSld name="CUSTOM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595300" y="5543125"/>
            <a:ext cx="5487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Sem título-4.jpg" id="38" name="Google Shape;3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7614741" cy="57150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m título-4.jpg" id="39" name="Google Shape;39;p7"/>
          <p:cNvPicPr preferRelativeResize="0"/>
          <p:nvPr/>
        </p:nvPicPr>
        <p:blipFill rotWithShape="1">
          <a:blip r:embed="rId2">
            <a:alphaModFix/>
          </a:blip>
          <a:srcRect b="0" l="79110" r="0" t="0"/>
          <a:stretch/>
        </p:blipFill>
        <p:spPr>
          <a:xfrm>
            <a:off x="7553293" y="0"/>
            <a:ext cx="1590701" cy="5715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99750" y="0"/>
            <a:ext cx="89442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png"/><Relationship Id="rId4" Type="http://schemas.openxmlformats.org/officeDocument/2006/relationships/image" Target="../media/image1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Relationship Id="rId4" Type="http://schemas.openxmlformats.org/officeDocument/2006/relationships/image" Target="../media/image3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Relationship Id="rId4" Type="http://schemas.openxmlformats.org/officeDocument/2006/relationships/image" Target="../media/image4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2.png"/><Relationship Id="rId4" Type="http://schemas.openxmlformats.org/officeDocument/2006/relationships/image" Target="../media/image4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8.png"/><Relationship Id="rId4" Type="http://schemas.openxmlformats.org/officeDocument/2006/relationships/image" Target="../media/image36.png"/><Relationship Id="rId5" Type="http://schemas.openxmlformats.org/officeDocument/2006/relationships/image" Target="../media/image4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6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95300" y="5543125"/>
            <a:ext cx="548700" cy="1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800"/>
              <a:t>‹#›</a:t>
            </a:fld>
            <a:endParaRPr sz="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ctrTitle"/>
          </p:nvPr>
        </p:nvSpPr>
        <p:spPr>
          <a:xfrm>
            <a:off x="150300" y="511874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Data Viz</a:t>
            </a:r>
            <a:endParaRPr/>
          </a:p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150300" y="1420500"/>
            <a:ext cx="83328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738800" y="5380333"/>
            <a:ext cx="405300" cy="33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Mas antes,</a:t>
            </a:r>
            <a:endParaRPr/>
          </a:p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30 minutos para ajustes finais, ensaios, dúvidas</a:t>
            </a:r>
            <a:endParaRPr/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</a:pPr>
            <a:r>
              <a:rPr lang="pt-BR"/>
              <a:t>Planilha de Grupos</a:t>
            </a:r>
            <a:endParaRPr/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Critérios de Avaliação</a:t>
            </a:r>
            <a:endParaRPr/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20% - </a:t>
            </a:r>
            <a:r>
              <a:rPr b="1" lang="pt-BR"/>
              <a:t>Sequência</a:t>
            </a:r>
            <a:r>
              <a:rPr lang="pt-BR"/>
              <a:t> lógica da apresentação (progressiva)</a:t>
            </a:r>
            <a:endParaRPr/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40% - </a:t>
            </a:r>
            <a:r>
              <a:rPr b="1" lang="pt-BR"/>
              <a:t>Coerência</a:t>
            </a:r>
            <a:r>
              <a:rPr lang="pt-BR"/>
              <a:t> dos gráficos com as variáveis/objetivos</a:t>
            </a:r>
            <a:endParaRPr/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30% - Apresentação das informações a respeito da </a:t>
            </a:r>
            <a:r>
              <a:rPr b="1" lang="pt-BR"/>
              <a:t>distribuição</a:t>
            </a:r>
            <a:r>
              <a:rPr lang="pt-BR"/>
              <a:t> de variáveis importantes </a:t>
            </a:r>
            <a:endParaRPr/>
          </a:p>
          <a:p>
            <a:pPr indent="-3175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10% - “Ergonomia”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Na última aula nós vimos:</a:t>
            </a:r>
            <a:endParaRPr/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Pandas.plot()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Mais sobre v</a:t>
            </a: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ariáveis quantitativas contínuas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Estratégias para definição de classes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Tipos de gráficos e elementos de visualização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Histograma, Curva Densidade (kde), Gráfico de Caixa, Barras de Erro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Introdução a Grafos e GDBs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Ferramentas de visualização parte 1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Análise Exploratória: </a:t>
            </a: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Data Voyager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Streaming: </a:t>
            </a: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Grafana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Nesta aula veremos:</a:t>
            </a:r>
            <a:endParaRPr/>
          </a:p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Gráfico de Violino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Outros tipos de gráficos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isualização de modelos de regressão linear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Tableau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○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■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Desktop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■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Online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Plotly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Resumão da disciplina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pt-BR" sz="1600">
                <a:latin typeface="Calibri"/>
                <a:ea typeface="Calibri"/>
                <a:cs typeface="Calibri"/>
                <a:sym typeface="Calibri"/>
              </a:rPr>
              <a:t>Discussão final / feedback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</a:t>
            </a:r>
            <a:endParaRPr/>
          </a:p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Caixa (box plot)</a:t>
            </a:r>
            <a:endParaRPr/>
          </a:p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5" name="Google Shape;85;p14"/>
          <p:cNvPicPr preferRelativeResize="0"/>
          <p:nvPr/>
        </p:nvPicPr>
        <p:blipFill rotWithShape="1">
          <a:blip r:embed="rId3">
            <a:alphaModFix/>
          </a:blip>
          <a:srcRect b="0" l="12564" r="0" t="0"/>
          <a:stretch/>
        </p:blipFill>
        <p:spPr>
          <a:xfrm>
            <a:off x="3239250" y="1876300"/>
            <a:ext cx="3765525" cy="3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/>
          <p:nvPr/>
        </p:nvSpPr>
        <p:spPr>
          <a:xfrm>
            <a:off x="3066425" y="3498675"/>
            <a:ext cx="229800" cy="697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459575" y="3700700"/>
            <a:ext cx="27129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Distância interquartil (DI) (50%)</a:t>
            </a:r>
            <a:endParaRPr b="1" sz="1200"/>
          </a:p>
        </p:txBody>
      </p:sp>
      <p:sp>
        <p:nvSpPr>
          <p:cNvPr id="88" name="Google Shape;88;p14"/>
          <p:cNvSpPr/>
          <p:nvPr/>
        </p:nvSpPr>
        <p:spPr>
          <a:xfrm>
            <a:off x="3073837" y="2798050"/>
            <a:ext cx="229800" cy="6975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467000" y="2400150"/>
            <a:ext cx="27129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/>
              <a:t>A distância vai até 1.5DI.</a:t>
            </a:r>
            <a:br>
              <a:rPr b="1" lang="pt-BR" sz="1200"/>
            </a:br>
            <a:r>
              <a:rPr b="1" lang="pt-BR" sz="1200"/>
              <a:t>A partir daqui, valores são outliers</a:t>
            </a:r>
            <a:endParaRPr b="1" sz="1200"/>
          </a:p>
        </p:txBody>
      </p:sp>
      <p:sp>
        <p:nvSpPr>
          <p:cNvPr id="90" name="Google Shape;90;p14"/>
          <p:cNvSpPr/>
          <p:nvPr/>
        </p:nvSpPr>
        <p:spPr>
          <a:xfrm>
            <a:off x="3073825" y="2400150"/>
            <a:ext cx="229800" cy="370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Caixa (box plot)</a:t>
            </a:r>
            <a:endParaRPr/>
          </a:p>
        </p:txBody>
      </p:sp>
      <p:sp>
        <p:nvSpPr>
          <p:cNvPr id="96" name="Google Shape;96;p15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7" name="Google Shape;9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091" y="659125"/>
            <a:ext cx="4517766" cy="49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</a:t>
            </a:r>
            <a:endParaRPr/>
          </a:p>
        </p:txBody>
      </p:sp>
      <p:sp>
        <p:nvSpPr>
          <p:cNvPr id="103" name="Google Shape;103;p16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49978" r="7355" t="0"/>
          <a:stretch/>
        </p:blipFill>
        <p:spPr>
          <a:xfrm>
            <a:off x="4639600" y="598500"/>
            <a:ext cx="4247849" cy="442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</a:t>
            </a:r>
            <a:endParaRPr/>
          </a:p>
        </p:txBody>
      </p:sp>
      <p:sp>
        <p:nvSpPr>
          <p:cNvPr id="110" name="Google Shape;110;p17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 rotWithShape="1">
          <a:blip r:embed="rId3">
            <a:alphaModFix/>
          </a:blip>
          <a:srcRect b="0" l="5383" r="7356" t="0"/>
          <a:stretch/>
        </p:blipFill>
        <p:spPr>
          <a:xfrm>
            <a:off x="199725" y="598500"/>
            <a:ext cx="8687725" cy="442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</a:t>
            </a:r>
            <a:endParaRPr/>
          </a:p>
        </p:txBody>
      </p:sp>
      <p:sp>
        <p:nvSpPr>
          <p:cNvPr id="117" name="Google Shape;117;p18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791" y="1143000"/>
            <a:ext cx="54864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/>
          <p:nvPr/>
        </p:nvSpPr>
        <p:spPr>
          <a:xfrm>
            <a:off x="5361650" y="2895900"/>
            <a:ext cx="637500" cy="3303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5361650" y="3931650"/>
            <a:ext cx="637500" cy="3303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</a:t>
            </a:r>
            <a:endParaRPr/>
          </a:p>
        </p:txBody>
      </p:sp>
      <p:sp>
        <p:nvSpPr>
          <p:cNvPr id="126" name="Google Shape;126;p19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199750" y="484475"/>
            <a:ext cx="8944200" cy="4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Semelhante ao histograma e ao gráfico de caixa: mostram uma representação abstrata da distribuição da amostra;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vez de mostrar contagens de pontos de dados que se enquadram em quartis, usam a estimativa de densidade do kernel (KDE) para representar a distribuição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Contornos podem ser controlados pelos parâmetros do KDE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</a:t>
            </a:r>
            <a:endParaRPr/>
          </a:p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199750" y="484475"/>
            <a:ext cx="8944200" cy="4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Semelhante ao histograma e ao gráfico de caixa: mostram uma representação abstrata da distribuição da amostra;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vez de mostrar contagens de pontos de dados que se enquadram em quartis, usam a estimativa de densidade do kernel (KDE) para representar a distribuição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Contornos podem ser controlados pelos parâmetros do KDE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 b="4631" l="0" r="0" t="6479"/>
          <a:stretch/>
        </p:blipFill>
        <p:spPr>
          <a:xfrm>
            <a:off x="2279763" y="2148400"/>
            <a:ext cx="4472425" cy="356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</a:t>
            </a:r>
            <a:endParaRPr/>
          </a:p>
        </p:txBody>
      </p:sp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199750" y="484475"/>
            <a:ext cx="8944200" cy="16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Semelhante ao histograma e ao gráfico de caixa: mostram uma representação abstrata da distribuição da amostra;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vez de mostrar contagens de pontos de dados que se enquadram em quartis, usam a estimativa de densidade do kernel (KDE) para representar a distribuição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Contornos podem ser controlados pelos parâmetros do KDE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1"/>
          <p:cNvPicPr preferRelativeResize="0"/>
          <p:nvPr/>
        </p:nvPicPr>
        <p:blipFill rotWithShape="1">
          <a:blip r:embed="rId3">
            <a:alphaModFix/>
          </a:blip>
          <a:srcRect b="16907" l="19618" r="144" t="6481"/>
          <a:stretch/>
        </p:blipFill>
        <p:spPr>
          <a:xfrm rot="5400000">
            <a:off x="3406713" y="2391463"/>
            <a:ext cx="3588550" cy="307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</a:t>
            </a:r>
            <a:endParaRPr/>
          </a:p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199750" y="484475"/>
            <a:ext cx="8944200" cy="16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Semelhante ao histograma e ao gráfico de caixa: mostram uma representação abstrata da distribuição da amostra;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vez de mostrar contagens de pontos de dados que se enquadram em quartis, usam a estimativa de densidade do kernel (KDE) para representar a distribuição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Contornos podem ser controlados pelos parâmetros do KDE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2"/>
          <p:cNvPicPr preferRelativeResize="0"/>
          <p:nvPr/>
        </p:nvPicPr>
        <p:blipFill rotWithShape="1">
          <a:blip r:embed="rId3">
            <a:alphaModFix/>
          </a:blip>
          <a:srcRect b="16907" l="19614" r="64210" t="6481"/>
          <a:stretch/>
        </p:blipFill>
        <p:spPr>
          <a:xfrm rot="5400000">
            <a:off x="4839300" y="958875"/>
            <a:ext cx="723375" cy="307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/>
          <p:nvPr/>
        </p:nvSpPr>
        <p:spPr>
          <a:xfrm>
            <a:off x="3379850" y="2173850"/>
            <a:ext cx="3003300" cy="683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 txBox="1"/>
          <p:nvPr/>
        </p:nvSpPr>
        <p:spPr>
          <a:xfrm>
            <a:off x="2669300" y="4186400"/>
            <a:ext cx="4424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Histograma!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</a:t>
            </a:r>
            <a:endParaRPr/>
          </a:p>
        </p:txBody>
      </p:sp>
      <p:sp>
        <p:nvSpPr>
          <p:cNvPr id="159" name="Google Shape;159;p23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199750" y="484475"/>
            <a:ext cx="8944200" cy="16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Semelhante ao histograma e ao gráfico de caixa: mostram uma representação abstrata da distribuição da amostra;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Em vez de mostrar contagens de pontos de dados que se enquadram em quartis, usam a estimativa de densidade do kernel (KDE) para representar a distribuição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Contornos podem ser controlados pelos parâmetros do KDE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 b="16907" l="19614" r="64210" t="6481"/>
          <a:stretch/>
        </p:blipFill>
        <p:spPr>
          <a:xfrm rot="5400000">
            <a:off x="4839300" y="958875"/>
            <a:ext cx="723375" cy="307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/>
          <p:nvPr/>
        </p:nvSpPr>
        <p:spPr>
          <a:xfrm>
            <a:off x="3379850" y="2173850"/>
            <a:ext cx="3003300" cy="683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3"/>
          <p:cNvSpPr txBox="1"/>
          <p:nvPr/>
        </p:nvSpPr>
        <p:spPr>
          <a:xfrm>
            <a:off x="2669300" y="4186400"/>
            <a:ext cx="4424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Histograma!</a:t>
            </a:r>
            <a:endParaRPr/>
          </a:p>
        </p:txBody>
      </p:sp>
      <p:pic>
        <p:nvPicPr>
          <p:cNvPr id="164" name="Google Shape;164;p23"/>
          <p:cNvPicPr preferRelativeResize="0"/>
          <p:nvPr/>
        </p:nvPicPr>
        <p:blipFill rotWithShape="1">
          <a:blip r:embed="rId3">
            <a:alphaModFix/>
          </a:blip>
          <a:srcRect b="16907" l="19614" r="64210" t="6481"/>
          <a:stretch/>
        </p:blipFill>
        <p:spPr>
          <a:xfrm flipH="1" rot="5400000">
            <a:off x="4839288" y="1666887"/>
            <a:ext cx="723375" cy="307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</a:t>
            </a:r>
            <a:endParaRPr/>
          </a:p>
        </p:txBody>
      </p:sp>
      <p:sp>
        <p:nvSpPr>
          <p:cNvPr id="170" name="Google Shape;170;p2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199750" y="484475"/>
            <a:ext cx="8944200" cy="16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O gráfico de caixa não mostra detalhes além das subdivisões dos quartis, atendendo bem a conjuntos “comportados de dados” (</a:t>
            </a:r>
            <a:r>
              <a:rPr lang="pt-BR" sz="1700"/>
              <a:t>distribuição de Laplace–Gauss</a:t>
            </a:r>
            <a:r>
              <a:rPr lang="pt-BR" sz="1700"/>
              <a:t>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pt-BR" sz="1700"/>
              <a:t>Gráficos de caixa apontam, mas não detalham distribuições “não comportadas”: mais de um pico de frequência (bi-modal)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72" name="Google Shape;172;p24"/>
          <p:cNvPicPr preferRelativeResize="0"/>
          <p:nvPr/>
        </p:nvPicPr>
        <p:blipFill rotWithShape="1">
          <a:blip r:embed="rId3">
            <a:alphaModFix/>
          </a:blip>
          <a:srcRect b="16907" l="19614" r="64210" t="6481"/>
          <a:stretch/>
        </p:blipFill>
        <p:spPr>
          <a:xfrm rot="5400000">
            <a:off x="4839300" y="958875"/>
            <a:ext cx="723375" cy="307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4"/>
          <p:cNvSpPr/>
          <p:nvPr/>
        </p:nvSpPr>
        <p:spPr>
          <a:xfrm>
            <a:off x="3379850" y="2173850"/>
            <a:ext cx="3003300" cy="6837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4"/>
          <p:cNvSpPr txBox="1"/>
          <p:nvPr/>
        </p:nvSpPr>
        <p:spPr>
          <a:xfrm>
            <a:off x="2669300" y="4186400"/>
            <a:ext cx="4424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Histograma!</a:t>
            </a:r>
            <a:endParaRPr/>
          </a:p>
        </p:txBody>
      </p:sp>
      <p:pic>
        <p:nvPicPr>
          <p:cNvPr id="175" name="Google Shape;175;p24"/>
          <p:cNvPicPr preferRelativeResize="0"/>
          <p:nvPr/>
        </p:nvPicPr>
        <p:blipFill rotWithShape="1">
          <a:blip r:embed="rId3">
            <a:alphaModFix/>
          </a:blip>
          <a:srcRect b="16907" l="19614" r="64210" t="6481"/>
          <a:stretch/>
        </p:blipFill>
        <p:spPr>
          <a:xfrm flipH="1" rot="5400000">
            <a:off x="4839288" y="1666887"/>
            <a:ext cx="723375" cy="307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</a:t>
            </a:r>
            <a:endParaRPr/>
          </a:p>
        </p:txBody>
      </p:sp>
      <p:sp>
        <p:nvSpPr>
          <p:cNvPr id="181" name="Google Shape;181;p25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2" name="Google Shape;182;p25"/>
          <p:cNvPicPr preferRelativeResize="0"/>
          <p:nvPr/>
        </p:nvPicPr>
        <p:blipFill rotWithShape="1">
          <a:blip r:embed="rId3">
            <a:alphaModFix/>
          </a:blip>
          <a:srcRect b="4631" l="0" r="0" t="6479"/>
          <a:stretch/>
        </p:blipFill>
        <p:spPr>
          <a:xfrm>
            <a:off x="2279763" y="2148400"/>
            <a:ext cx="4472425" cy="356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199750" y="484475"/>
            <a:ext cx="8944200" cy="4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Atenção: existem várias variações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</a:t>
            </a:r>
            <a:endParaRPr/>
          </a:p>
        </p:txBody>
      </p:sp>
      <p:sp>
        <p:nvSpPr>
          <p:cNvPr id="189" name="Google Shape;189;p26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0" name="Google Shape;190;p26"/>
          <p:cNvSpPr txBox="1"/>
          <p:nvPr>
            <p:ph idx="1" type="body"/>
          </p:nvPr>
        </p:nvSpPr>
        <p:spPr>
          <a:xfrm>
            <a:off x="199750" y="484475"/>
            <a:ext cx="8944200" cy="4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Atenção</a:t>
            </a:r>
            <a:r>
              <a:rPr lang="pt-BR"/>
              <a:t>: existem várias variações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937950"/>
            <a:ext cx="4759425" cy="47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 - Agrupados</a:t>
            </a:r>
            <a:endParaRPr/>
          </a:p>
        </p:txBody>
      </p:sp>
      <p:sp>
        <p:nvSpPr>
          <p:cNvPr id="197" name="Google Shape;197;p27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98" name="Google Shape;198;p27"/>
          <p:cNvPicPr preferRelativeResize="0"/>
          <p:nvPr/>
        </p:nvPicPr>
        <p:blipFill rotWithShape="1">
          <a:blip r:embed="rId3">
            <a:alphaModFix/>
          </a:blip>
          <a:srcRect b="0" l="3757" r="1599" t="0"/>
          <a:stretch/>
        </p:blipFill>
        <p:spPr>
          <a:xfrm>
            <a:off x="1436425" y="666300"/>
            <a:ext cx="64133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7"/>
          <p:cNvSpPr txBox="1"/>
          <p:nvPr>
            <p:ph idx="1" type="body"/>
          </p:nvPr>
        </p:nvSpPr>
        <p:spPr>
          <a:xfrm>
            <a:off x="199750" y="484475"/>
            <a:ext cx="8944200" cy="4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Atenção: existem várias variações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 - </a:t>
            </a:r>
            <a:endParaRPr/>
          </a:p>
        </p:txBody>
      </p:sp>
      <p:sp>
        <p:nvSpPr>
          <p:cNvPr id="205" name="Google Shape;205;p28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06" name="Google Shape;20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6250" y="1666125"/>
            <a:ext cx="5431500" cy="342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8"/>
          <p:cNvSpPr txBox="1"/>
          <p:nvPr/>
        </p:nvSpPr>
        <p:spPr>
          <a:xfrm>
            <a:off x="1856250" y="1149825"/>
            <a:ext cx="54315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Estimativa de densidade kernel </a:t>
            </a:r>
            <a:r>
              <a:rPr lang="pt-BR" sz="1100">
                <a:solidFill>
                  <a:schemeClr val="dk1"/>
                </a:solidFill>
              </a:rPr>
              <a:t>(</a:t>
            </a:r>
            <a:r>
              <a:rPr b="1" lang="pt-BR" sz="1100">
                <a:solidFill>
                  <a:schemeClr val="dk1"/>
                </a:solidFill>
              </a:rPr>
              <a:t>KDE</a:t>
            </a:r>
            <a:r>
              <a:rPr lang="pt-BR" sz="1100">
                <a:solidFill>
                  <a:schemeClr val="dk1"/>
                </a:solidFill>
              </a:rPr>
              <a:t>)</a:t>
            </a:r>
            <a:br>
              <a:rPr lang="pt-BR" sz="1100">
                <a:solidFill>
                  <a:schemeClr val="dk1"/>
                </a:solidFill>
              </a:rPr>
            </a:br>
            <a:r>
              <a:rPr lang="pt-BR" sz="1100">
                <a:solidFill>
                  <a:schemeClr val="dk1"/>
                </a:solidFill>
              </a:rPr>
              <a:t>Variando a largura de banda do kernel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 - </a:t>
            </a:r>
            <a:endParaRPr/>
          </a:p>
        </p:txBody>
      </p:sp>
      <p:sp>
        <p:nvSpPr>
          <p:cNvPr id="213" name="Google Shape;213;p29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4" name="Google Shape;214;p29"/>
          <p:cNvSpPr txBox="1"/>
          <p:nvPr/>
        </p:nvSpPr>
        <p:spPr>
          <a:xfrm>
            <a:off x="1856250" y="1149825"/>
            <a:ext cx="54315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</a:rPr>
              <a:t>Estimativa de densidade kernel </a:t>
            </a:r>
            <a:r>
              <a:rPr lang="pt-BR" sz="1100">
                <a:solidFill>
                  <a:schemeClr val="dk1"/>
                </a:solidFill>
              </a:rPr>
              <a:t>(</a:t>
            </a:r>
            <a:r>
              <a:rPr b="1" lang="pt-BR" sz="1100">
                <a:solidFill>
                  <a:schemeClr val="dk1"/>
                </a:solidFill>
              </a:rPr>
              <a:t>KDE</a:t>
            </a:r>
            <a:r>
              <a:rPr lang="pt-BR" sz="1100">
                <a:solidFill>
                  <a:schemeClr val="dk1"/>
                </a:solidFill>
              </a:rPr>
              <a:t>)</a:t>
            </a:r>
            <a:br>
              <a:rPr lang="pt-BR" sz="1100">
                <a:solidFill>
                  <a:schemeClr val="dk1"/>
                </a:solidFill>
              </a:rPr>
            </a:br>
            <a:r>
              <a:rPr lang="pt-BR" sz="1100">
                <a:solidFill>
                  <a:schemeClr val="dk1"/>
                </a:solidFill>
              </a:rPr>
              <a:t>Variando a largura de banda do kernel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215" name="Google Shape;21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5" y="1911717"/>
            <a:ext cx="8944277" cy="26261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 de Violino </a:t>
            </a:r>
            <a:endParaRPr/>
          </a:p>
        </p:txBody>
      </p:sp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Matplotlib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Exercício 1 - Valendo Nota</a:t>
            </a:r>
            <a:endParaRPr/>
          </a:p>
        </p:txBody>
      </p:sp>
      <p:sp>
        <p:nvSpPr>
          <p:cNvPr id="222" name="Google Shape;222;p30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Outros tipos de gráficos</a:t>
            </a:r>
            <a:endParaRPr/>
          </a:p>
        </p:txBody>
      </p:sp>
      <p:sp>
        <p:nvSpPr>
          <p:cNvPr id="228" name="Google Shape;228;p31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Bolhas</a:t>
            </a:r>
            <a:endParaRPr/>
          </a:p>
        </p:txBody>
      </p:sp>
      <p:sp>
        <p:nvSpPr>
          <p:cNvPr id="234" name="Google Shape;234;p32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298" y="1988800"/>
            <a:ext cx="5237126" cy="229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8274" y="636875"/>
            <a:ext cx="2941986" cy="492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Bullet (Bala)</a:t>
            </a:r>
            <a:endParaRPr/>
          </a:p>
        </p:txBody>
      </p:sp>
      <p:sp>
        <p:nvSpPr>
          <p:cNvPr id="242" name="Google Shape;242;p33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341" y="1333500"/>
            <a:ext cx="695325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Bullet (Bala)</a:t>
            </a:r>
            <a:endParaRPr/>
          </a:p>
        </p:txBody>
      </p:sp>
      <p:sp>
        <p:nvSpPr>
          <p:cNvPr id="249" name="Google Shape;249;p3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116" y="1119188"/>
            <a:ext cx="3333750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Diagrama de área polar</a:t>
            </a:r>
            <a:endParaRPr sz="2400"/>
          </a:p>
        </p:txBody>
      </p:sp>
      <p:sp>
        <p:nvSpPr>
          <p:cNvPr id="256" name="Google Shape;256;p35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35"/>
          <p:cNvPicPr preferRelativeResize="0"/>
          <p:nvPr/>
        </p:nvPicPr>
        <p:blipFill rotWithShape="1">
          <a:blip r:embed="rId3">
            <a:alphaModFix/>
          </a:blip>
          <a:srcRect b="26889" l="0" r="64119" t="0"/>
          <a:stretch/>
        </p:blipFill>
        <p:spPr>
          <a:xfrm>
            <a:off x="199725" y="920675"/>
            <a:ext cx="4372275" cy="3905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6074" y="636875"/>
            <a:ext cx="3095159" cy="49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Diagrama de área polar</a:t>
            </a:r>
            <a:endParaRPr sz="2400"/>
          </a:p>
        </p:txBody>
      </p:sp>
      <p:sp>
        <p:nvSpPr>
          <p:cNvPr id="264" name="Google Shape;264;p36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41" y="636875"/>
            <a:ext cx="7841947" cy="4925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Coordenadas Paralelas</a:t>
            </a:r>
            <a:endParaRPr sz="2400"/>
          </a:p>
        </p:txBody>
      </p:sp>
      <p:sp>
        <p:nvSpPr>
          <p:cNvPr id="271" name="Google Shape;271;p37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636875"/>
            <a:ext cx="8839204" cy="4051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Coordenadas Paralelas</a:t>
            </a:r>
            <a:endParaRPr sz="2400"/>
          </a:p>
        </p:txBody>
      </p:sp>
      <p:sp>
        <p:nvSpPr>
          <p:cNvPr id="278" name="Google Shape;278;p38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6403" y="598475"/>
            <a:ext cx="3651193" cy="4925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9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Pirâmide Populacional </a:t>
            </a:r>
            <a:endParaRPr sz="2400"/>
          </a:p>
        </p:txBody>
      </p:sp>
      <p:sp>
        <p:nvSpPr>
          <p:cNvPr id="285" name="Google Shape;285;p39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1741" y="821225"/>
            <a:ext cx="3333750" cy="40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Pirâmide Populacional </a:t>
            </a:r>
            <a:endParaRPr sz="2400"/>
          </a:p>
        </p:txBody>
      </p:sp>
      <p:sp>
        <p:nvSpPr>
          <p:cNvPr id="292" name="Google Shape;292;p40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28" y="590775"/>
            <a:ext cx="8944275" cy="4063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1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Pirâmide Populacional </a:t>
            </a:r>
            <a:endParaRPr sz="2400"/>
          </a:p>
        </p:txBody>
      </p:sp>
      <p:sp>
        <p:nvSpPr>
          <p:cNvPr id="299" name="Google Shape;299;p41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057" y="613825"/>
            <a:ext cx="6804125" cy="46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2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Radar</a:t>
            </a:r>
            <a:endParaRPr sz="2400"/>
          </a:p>
        </p:txBody>
      </p:sp>
      <p:sp>
        <p:nvSpPr>
          <p:cNvPr id="306" name="Google Shape;306;p42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42"/>
          <p:cNvPicPr preferRelativeResize="0"/>
          <p:nvPr/>
        </p:nvPicPr>
        <p:blipFill rotWithShape="1">
          <a:blip r:embed="rId3">
            <a:alphaModFix/>
          </a:blip>
          <a:srcRect b="0" l="2959" r="0" t="0"/>
          <a:stretch/>
        </p:blipFill>
        <p:spPr>
          <a:xfrm>
            <a:off x="1405704" y="606150"/>
            <a:ext cx="6747499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3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Radar</a:t>
            </a:r>
            <a:endParaRPr sz="2400"/>
          </a:p>
        </p:txBody>
      </p:sp>
      <p:sp>
        <p:nvSpPr>
          <p:cNvPr id="313" name="Google Shape;313;p43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43"/>
          <p:cNvPicPr preferRelativeResize="0"/>
          <p:nvPr/>
        </p:nvPicPr>
        <p:blipFill rotWithShape="1">
          <a:blip r:embed="rId3">
            <a:alphaModFix/>
          </a:blip>
          <a:srcRect b="0" l="48496" r="0" t="0"/>
          <a:stretch/>
        </p:blipFill>
        <p:spPr>
          <a:xfrm>
            <a:off x="4571996" y="606150"/>
            <a:ext cx="3581199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300" y="520027"/>
            <a:ext cx="3934675" cy="5070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Barras Radiais</a:t>
            </a:r>
            <a:endParaRPr sz="2400"/>
          </a:p>
        </p:txBody>
      </p:sp>
      <p:sp>
        <p:nvSpPr>
          <p:cNvPr id="321" name="Google Shape;321;p4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44"/>
          <p:cNvPicPr preferRelativeResize="0"/>
          <p:nvPr/>
        </p:nvPicPr>
        <p:blipFill rotWithShape="1">
          <a:blip r:embed="rId3">
            <a:alphaModFix/>
          </a:blip>
          <a:srcRect b="0" l="6076" r="0" t="0"/>
          <a:stretch/>
        </p:blipFill>
        <p:spPr>
          <a:xfrm>
            <a:off x="199724" y="583100"/>
            <a:ext cx="6530775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5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Barras Radiais</a:t>
            </a:r>
            <a:endParaRPr sz="2400"/>
          </a:p>
        </p:txBody>
      </p:sp>
      <p:sp>
        <p:nvSpPr>
          <p:cNvPr id="328" name="Google Shape;328;p45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45"/>
          <p:cNvPicPr preferRelativeResize="0"/>
          <p:nvPr/>
        </p:nvPicPr>
        <p:blipFill rotWithShape="1">
          <a:blip r:embed="rId3">
            <a:alphaModFix/>
          </a:blip>
          <a:srcRect b="0" l="6075" r="51171" t="0"/>
          <a:stretch/>
        </p:blipFill>
        <p:spPr>
          <a:xfrm>
            <a:off x="199725" y="583100"/>
            <a:ext cx="2972724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6825" y="583100"/>
            <a:ext cx="3765554" cy="513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6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Colunas</a:t>
            </a:r>
            <a:r>
              <a:rPr lang="pt-BR" sz="2400"/>
              <a:t> Radiais</a:t>
            </a:r>
            <a:endParaRPr sz="2400"/>
          </a:p>
        </p:txBody>
      </p:sp>
      <p:sp>
        <p:nvSpPr>
          <p:cNvPr id="336" name="Google Shape;336;p46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p46"/>
          <p:cNvPicPr preferRelativeResize="0"/>
          <p:nvPr/>
        </p:nvPicPr>
        <p:blipFill rotWithShape="1">
          <a:blip r:embed="rId3">
            <a:alphaModFix/>
          </a:blip>
          <a:srcRect b="0" l="7953" r="48298" t="0"/>
          <a:stretch/>
        </p:blipFill>
        <p:spPr>
          <a:xfrm>
            <a:off x="199725" y="729050"/>
            <a:ext cx="304185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0441" y="682963"/>
            <a:ext cx="3467059" cy="31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7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Diagrama de Cordas</a:t>
            </a:r>
            <a:endParaRPr sz="2400"/>
          </a:p>
        </p:txBody>
      </p:sp>
      <p:sp>
        <p:nvSpPr>
          <p:cNvPr id="344" name="Google Shape;344;p47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366" y="484475"/>
            <a:ext cx="695325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8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Diagrama de Cordas</a:t>
            </a:r>
            <a:endParaRPr sz="2400"/>
          </a:p>
        </p:txBody>
      </p:sp>
      <p:sp>
        <p:nvSpPr>
          <p:cNvPr id="351" name="Google Shape;351;p48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950" y="484475"/>
            <a:ext cx="33337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9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Diagrama de Cordas</a:t>
            </a:r>
            <a:endParaRPr sz="2400"/>
          </a:p>
        </p:txBody>
      </p:sp>
      <p:sp>
        <p:nvSpPr>
          <p:cNvPr id="358" name="Google Shape;358;p49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48" y="636875"/>
            <a:ext cx="5436825" cy="23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7800" y="1550888"/>
            <a:ext cx="3333750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0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Tree Map</a:t>
            </a:r>
            <a:endParaRPr sz="2400"/>
          </a:p>
        </p:txBody>
      </p:sp>
      <p:sp>
        <p:nvSpPr>
          <p:cNvPr id="366" name="Google Shape;366;p50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2466" y="629200"/>
            <a:ext cx="2947015" cy="49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Tree Map</a:t>
            </a:r>
            <a:endParaRPr sz="2400"/>
          </a:p>
        </p:txBody>
      </p:sp>
      <p:sp>
        <p:nvSpPr>
          <p:cNvPr id="373" name="Google Shape;373;p51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878" y="590775"/>
            <a:ext cx="3328193" cy="49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2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Tree Map</a:t>
            </a:r>
            <a:endParaRPr sz="2400"/>
          </a:p>
        </p:txBody>
      </p:sp>
      <p:sp>
        <p:nvSpPr>
          <p:cNvPr id="380" name="Google Shape;380;p52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1103" y="659900"/>
            <a:ext cx="3321780" cy="49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3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</a:t>
            </a:r>
            <a:r>
              <a:rPr lang="pt-BR" sz="2400"/>
              <a:t>Tree Map (sunburst)</a:t>
            </a:r>
            <a:endParaRPr sz="2400"/>
          </a:p>
        </p:txBody>
      </p:sp>
      <p:sp>
        <p:nvSpPr>
          <p:cNvPr id="387" name="Google Shape;387;p53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53"/>
          <p:cNvPicPr preferRelativeResize="0"/>
          <p:nvPr/>
        </p:nvPicPr>
        <p:blipFill rotWithShape="1">
          <a:blip r:embed="rId3">
            <a:alphaModFix/>
          </a:blip>
          <a:srcRect b="0" l="546" r="0" t="1107"/>
          <a:stretch/>
        </p:blipFill>
        <p:spPr>
          <a:xfrm>
            <a:off x="852650" y="557525"/>
            <a:ext cx="7367249" cy="487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Mapa de Calor</a:t>
            </a:r>
            <a:endParaRPr sz="2400"/>
          </a:p>
        </p:txBody>
      </p:sp>
      <p:sp>
        <p:nvSpPr>
          <p:cNvPr id="394" name="Google Shape;394;p5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5" name="Google Shape;39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52" y="636875"/>
            <a:ext cx="8735249" cy="38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5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Mapa de Calor</a:t>
            </a:r>
            <a:endParaRPr sz="2400"/>
          </a:p>
        </p:txBody>
      </p:sp>
      <p:sp>
        <p:nvSpPr>
          <p:cNvPr id="401" name="Google Shape;401;p55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p55"/>
          <p:cNvPicPr preferRelativeResize="0"/>
          <p:nvPr/>
        </p:nvPicPr>
        <p:blipFill rotWithShape="1">
          <a:blip r:embed="rId3">
            <a:alphaModFix/>
          </a:blip>
          <a:srcRect b="32775" l="0" r="0" t="1104"/>
          <a:stretch/>
        </p:blipFill>
        <p:spPr>
          <a:xfrm>
            <a:off x="408750" y="691325"/>
            <a:ext cx="2714876" cy="3256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5"/>
          <p:cNvPicPr preferRelativeResize="0"/>
          <p:nvPr/>
        </p:nvPicPr>
        <p:blipFill rotWithShape="1">
          <a:blip r:embed="rId3">
            <a:alphaModFix/>
          </a:blip>
          <a:srcRect b="0" l="0" r="0" t="67227"/>
          <a:stretch/>
        </p:blipFill>
        <p:spPr>
          <a:xfrm>
            <a:off x="3803975" y="929450"/>
            <a:ext cx="4301775" cy="255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6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Gráficos para Comparação - Diagrama de Venn</a:t>
            </a:r>
            <a:endParaRPr sz="2400"/>
          </a:p>
        </p:txBody>
      </p:sp>
      <p:sp>
        <p:nvSpPr>
          <p:cNvPr id="409" name="Google Shape;409;p56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56"/>
          <p:cNvPicPr preferRelativeResize="0"/>
          <p:nvPr/>
        </p:nvPicPr>
        <p:blipFill rotWithShape="1">
          <a:blip r:embed="rId3">
            <a:alphaModFix/>
          </a:blip>
          <a:srcRect b="50553" l="0" r="0" t="8120"/>
          <a:stretch/>
        </p:blipFill>
        <p:spPr>
          <a:xfrm>
            <a:off x="256350" y="584325"/>
            <a:ext cx="6558326" cy="2540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6"/>
          <p:cNvPicPr preferRelativeResize="0"/>
          <p:nvPr/>
        </p:nvPicPr>
        <p:blipFill rotWithShape="1">
          <a:blip r:embed="rId3">
            <a:alphaModFix/>
          </a:blip>
          <a:srcRect b="0" l="56404" r="3984" t="58674"/>
          <a:stretch/>
        </p:blipFill>
        <p:spPr>
          <a:xfrm>
            <a:off x="4347700" y="3393225"/>
            <a:ext cx="2081674" cy="203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7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Mapa coroplético</a:t>
            </a:r>
            <a:endParaRPr sz="2400"/>
          </a:p>
        </p:txBody>
      </p:sp>
      <p:sp>
        <p:nvSpPr>
          <p:cNvPr id="417" name="Google Shape;417;p57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8" name="Google Shape;41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341" y="621500"/>
            <a:ext cx="4844038" cy="492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2779" y="636875"/>
            <a:ext cx="3333750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8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</a:t>
            </a:r>
            <a:r>
              <a:rPr lang="pt-BR"/>
              <a:t>iagrama de ramos e folhas</a:t>
            </a:r>
            <a:endParaRPr sz="2400"/>
          </a:p>
        </p:txBody>
      </p:sp>
      <p:sp>
        <p:nvSpPr>
          <p:cNvPr id="425" name="Google Shape;425;p58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58"/>
          <p:cNvPicPr preferRelativeResize="0"/>
          <p:nvPr/>
        </p:nvPicPr>
        <p:blipFill rotWithShape="1">
          <a:blip r:embed="rId3">
            <a:alphaModFix/>
          </a:blip>
          <a:srcRect b="12087" l="0" r="0" t="0"/>
          <a:stretch/>
        </p:blipFill>
        <p:spPr>
          <a:xfrm>
            <a:off x="5145225" y="636863"/>
            <a:ext cx="3092221" cy="5078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27" name="Google Shape;427;p58"/>
          <p:cNvPicPr preferRelativeResize="0"/>
          <p:nvPr/>
        </p:nvPicPr>
        <p:blipFill rotWithShape="1">
          <a:blip r:embed="rId4">
            <a:alphaModFix/>
          </a:blip>
          <a:srcRect b="17060" l="0" r="0" t="0"/>
          <a:stretch/>
        </p:blipFill>
        <p:spPr>
          <a:xfrm>
            <a:off x="467325" y="829475"/>
            <a:ext cx="4213526" cy="2566301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8"/>
          <p:cNvSpPr txBox="1"/>
          <p:nvPr/>
        </p:nvSpPr>
        <p:spPr>
          <a:xfrm>
            <a:off x="467325" y="484475"/>
            <a:ext cx="44244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Idades Coletadas</a:t>
            </a:r>
            <a:endParaRPr b="1"/>
          </a:p>
        </p:txBody>
      </p:sp>
      <p:pic>
        <p:nvPicPr>
          <p:cNvPr id="429" name="Google Shape;429;p58"/>
          <p:cNvPicPr preferRelativeResize="0"/>
          <p:nvPr/>
        </p:nvPicPr>
        <p:blipFill rotWithShape="1">
          <a:blip r:embed="rId5">
            <a:alphaModFix/>
          </a:blip>
          <a:srcRect b="16079" l="0" r="0" t="0"/>
          <a:stretch/>
        </p:blipFill>
        <p:spPr>
          <a:xfrm>
            <a:off x="1397438" y="4024425"/>
            <a:ext cx="2353300" cy="16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9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ramos e folhas</a:t>
            </a:r>
            <a:endParaRPr sz="2400"/>
          </a:p>
        </p:txBody>
      </p:sp>
      <p:sp>
        <p:nvSpPr>
          <p:cNvPr id="435" name="Google Shape;435;p59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6" name="Google Shape;43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6590" y="861000"/>
            <a:ext cx="4010825" cy="399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0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Candlestick</a:t>
            </a:r>
            <a:endParaRPr sz="2400"/>
          </a:p>
        </p:txBody>
      </p:sp>
      <p:sp>
        <p:nvSpPr>
          <p:cNvPr id="442" name="Google Shape;442;p60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60"/>
          <p:cNvSpPr txBox="1"/>
          <p:nvPr/>
        </p:nvSpPr>
        <p:spPr>
          <a:xfrm>
            <a:off x="199725" y="484475"/>
            <a:ext cx="89442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Candlestick é uma técnica de análise gráfica de mercado, criada no Japão em meados do século XVIII, nas antigas bolsas de arroz de Osaka.</a:t>
            </a:r>
            <a:endParaRPr sz="1000"/>
          </a:p>
        </p:txBody>
      </p:sp>
      <p:pic>
        <p:nvPicPr>
          <p:cNvPr id="444" name="Google Shape;44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752" y="1304675"/>
            <a:ext cx="8423475" cy="3692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1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Candlestick</a:t>
            </a:r>
            <a:endParaRPr sz="2400"/>
          </a:p>
        </p:txBody>
      </p:sp>
      <p:sp>
        <p:nvSpPr>
          <p:cNvPr id="450" name="Google Shape;450;p61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61"/>
          <p:cNvSpPr txBox="1"/>
          <p:nvPr/>
        </p:nvSpPr>
        <p:spPr>
          <a:xfrm>
            <a:off x="199725" y="484475"/>
            <a:ext cx="89442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/>
              <a:t>Candlestick é uma técnica de análise gráfica de mercado, criada no Japão em meados do século XVIII, nas antigas bolsas de arroz de Osaka.</a:t>
            </a:r>
            <a:endParaRPr sz="1000"/>
          </a:p>
        </p:txBody>
      </p:sp>
      <p:pic>
        <p:nvPicPr>
          <p:cNvPr descr="Candlesaltaebaixa.JPG" id="452" name="Google Shape;45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3700" y="1428750"/>
            <a:ext cx="4724400" cy="317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Diagrama de Arcos</a:t>
            </a:r>
            <a:endParaRPr sz="2400"/>
          </a:p>
        </p:txBody>
      </p:sp>
      <p:sp>
        <p:nvSpPr>
          <p:cNvPr id="458" name="Google Shape;458;p62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62"/>
          <p:cNvPicPr preferRelativeResize="0"/>
          <p:nvPr/>
        </p:nvPicPr>
        <p:blipFill rotWithShape="1">
          <a:blip r:embed="rId3">
            <a:alphaModFix/>
          </a:blip>
          <a:srcRect b="3921" l="5383" r="0" t="2040"/>
          <a:stretch/>
        </p:blipFill>
        <p:spPr>
          <a:xfrm>
            <a:off x="837275" y="737425"/>
            <a:ext cx="7533799" cy="463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3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Seaborn</a:t>
            </a:r>
            <a:endParaRPr/>
          </a:p>
        </p:txBody>
      </p:sp>
      <p:sp>
        <p:nvSpPr>
          <p:cNvPr id="465" name="Google Shape;465;p63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4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Seaborn</a:t>
            </a:r>
            <a:endParaRPr/>
          </a:p>
        </p:txBody>
      </p:sp>
      <p:sp>
        <p:nvSpPr>
          <p:cNvPr id="471" name="Google Shape;471;p64"/>
          <p:cNvSpPr txBox="1"/>
          <p:nvPr>
            <p:ph idx="1" type="body"/>
          </p:nvPr>
        </p:nvSpPr>
        <p:spPr>
          <a:xfrm>
            <a:off x="199750" y="484475"/>
            <a:ext cx="8944200" cy="4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B</a:t>
            </a:r>
            <a:r>
              <a:rPr lang="pt-BR" sz="1500"/>
              <a:t>iblioteca para fazer gráficos estatísticos em Python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Construído sobre o matplotlib e integrado às estruturas de dados do pandas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Controle conciso sobre o estilo de figura matplotlib com vários temas incorporados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Ferramentas para escolher paletas de cores que revelam fielmente padrões em seus dados</a:t>
            </a:r>
            <a:endParaRPr sz="15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72" name="Google Shape;472;p64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5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Seaborn</a:t>
            </a:r>
            <a:endParaRPr/>
          </a:p>
        </p:txBody>
      </p:sp>
      <p:sp>
        <p:nvSpPr>
          <p:cNvPr id="478" name="Google Shape;478;p65"/>
          <p:cNvSpPr txBox="1"/>
          <p:nvPr>
            <p:ph idx="1" type="body"/>
          </p:nvPr>
        </p:nvSpPr>
        <p:spPr>
          <a:xfrm>
            <a:off x="199750" y="484475"/>
            <a:ext cx="8944200" cy="45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Biblioteca para fazer gráficos estatísticos em Python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Construído sobre o matplotlib e integrado às estruturas de dados do pandas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Controle conciso sobre o estilo de figura matplotlib com vários temas incorporados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Ferramentas para escolher paletas de cores que revelam fielmente padrões em seus dados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Oferece uma API para examinar os relacionamentos entre as variáveis de um conjunto de dados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Suporte ao uso de variáveis ​​categóricas para mostrar observações ou estatísticas agregadas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Opções para visualizar distribuições univariadas ou bivariadas e para compará-las entre subconjuntos de dados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Abstrações de alto nível para estruturar grades multi-plot que permitem facilmente construir visualizações complexas</a:t>
            </a:r>
            <a:endParaRPr sz="15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479" name="Google Shape;479;p65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6"/>
          <p:cNvSpPr txBox="1"/>
          <p:nvPr>
            <p:ph type="ctrTitle"/>
          </p:nvPr>
        </p:nvSpPr>
        <p:spPr>
          <a:xfrm>
            <a:off x="300800" y="2718575"/>
            <a:ext cx="8843400" cy="82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</a:t>
            </a:r>
            <a:r>
              <a:rPr lang="pt-BR"/>
              <a:t>lotly</a:t>
            </a:r>
            <a:endParaRPr/>
          </a:p>
        </p:txBody>
      </p:sp>
      <p:sp>
        <p:nvSpPr>
          <p:cNvPr id="485" name="Google Shape;485;p66"/>
          <p:cNvSpPr txBox="1"/>
          <p:nvPr>
            <p:ph idx="12" type="sldNum"/>
          </p:nvPr>
        </p:nvSpPr>
        <p:spPr>
          <a:xfrm>
            <a:off x="8738800" y="5481728"/>
            <a:ext cx="405300" cy="23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pt-BR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7"/>
          <p:cNvSpPr txBox="1"/>
          <p:nvPr>
            <p:ph type="title"/>
          </p:nvPr>
        </p:nvSpPr>
        <p:spPr>
          <a:xfrm>
            <a:off x="199725" y="-13525"/>
            <a:ext cx="8632500" cy="49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Plotly</a:t>
            </a:r>
            <a:endParaRPr/>
          </a:p>
        </p:txBody>
      </p:sp>
      <p:sp>
        <p:nvSpPr>
          <p:cNvPr id="491" name="Google Shape;491;p67"/>
          <p:cNvSpPr txBox="1"/>
          <p:nvPr>
            <p:ph idx="1" type="body"/>
          </p:nvPr>
        </p:nvSpPr>
        <p:spPr>
          <a:xfrm>
            <a:off x="199750" y="784900"/>
            <a:ext cx="8944200" cy="42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Ferramenta para análise online de 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Javascript, Python, R, Matlab, Julia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!!ALL OPEN SOURCED!!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Core escrito em JavaScript/D3 (nativamente interativo)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Vantagens: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Muitos, muitos tipos de gráficos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Interatividade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Mouse!!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Seleção visual de curvas e dados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Integração online</a:t>
            </a:r>
            <a:endParaRPr/>
          </a:p>
        </p:txBody>
      </p:sp>
      <p:sp>
        <p:nvSpPr>
          <p:cNvPr id="492" name="Google Shape;492;p67"/>
          <p:cNvSpPr txBox="1"/>
          <p:nvPr>
            <p:ph idx="12" type="sldNum"/>
          </p:nvPr>
        </p:nvSpPr>
        <p:spPr>
          <a:xfrm>
            <a:off x="-41559" y="5428800"/>
            <a:ext cx="297900" cy="28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3" name="Google Shape;49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8050" y="637569"/>
            <a:ext cx="1166750" cy="112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heus - Preferido p/ Cle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