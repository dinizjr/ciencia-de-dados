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 showSpecialPlsOnTitleSld="0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372d1c2f2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372d1c2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61627ef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61627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52c11c382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452c11c3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52c11c382_0_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52c11c3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52c11c382_0_1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52c11c3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52c11c382_0_1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52c11c3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52262234a_0_5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52262234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52d01b2b5_0_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52d01b2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52262234a_0_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5226223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52c11c382_0_6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452c11c38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52262234a_0_6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52262234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52d01b2b5_0_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52d01b2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">
  <p:cSld name="TITLE_1">
    <p:bg>
      <p:bgPr>
        <a:noFill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2"/>
          <p:cNvCxnSpPr/>
          <p:nvPr/>
        </p:nvCxnSpPr>
        <p:spPr>
          <a:xfrm>
            <a:off x="0" y="13331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" name="Google Shape;10;p2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0300" y="1420500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 amt="50000"/>
          </a:blip>
          <a:srcRect b="19432" l="17725" r="1629" t="0"/>
          <a:stretch/>
        </p:blipFill>
        <p:spPr>
          <a:xfrm>
            <a:off x="5512825" y="4057300"/>
            <a:ext cx="3631174" cy="16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 amt="50000"/>
          </a:blip>
          <a:srcRect b="3217" l="0" r="0" t="22121"/>
          <a:stretch/>
        </p:blipFill>
        <p:spPr>
          <a:xfrm rot="10800000">
            <a:off x="0" y="3953472"/>
            <a:ext cx="4502250" cy="17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0625" y="4898376"/>
            <a:ext cx="1793468" cy="8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 amt="50000"/>
          </a:blip>
          <a:srcRect b="-411" l="0" r="19" t="0"/>
          <a:stretch/>
        </p:blipFill>
        <p:spPr>
          <a:xfrm rot="251502">
            <a:off x="2206440" y="4010317"/>
            <a:ext cx="3931074" cy="2018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1">
  <p:cSld name="TITLE_1_1">
    <p:bg>
      <p:bgPr>
        <a:noFill/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3"/>
          <p:cNvCxnSpPr/>
          <p:nvPr/>
        </p:nvCxnSpPr>
        <p:spPr>
          <a:xfrm>
            <a:off x="0" y="35429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55000"/>
          </a:blip>
          <a:srcRect b="0" l="0" r="0" t="23564"/>
          <a:stretch/>
        </p:blipFill>
        <p:spPr>
          <a:xfrm>
            <a:off x="3117975" y="-1"/>
            <a:ext cx="6026026" cy="242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">
  <p:cSld name="TITLE_AND_BODY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753_paginas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97196" t="0"/>
          <a:stretch/>
        </p:blipFill>
        <p:spPr>
          <a:xfrm>
            <a:off x="-13855" y="0"/>
            <a:ext cx="213581" cy="5715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-13855" y="484380"/>
            <a:ext cx="9185700" cy="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8753_paginas.jpg" id="29" name="Google Shape;29;p4"/>
          <p:cNvPicPr preferRelativeResize="0"/>
          <p:nvPr/>
        </p:nvPicPr>
        <p:blipFill rotWithShape="1">
          <a:blip r:embed="rId2">
            <a:alphaModFix/>
          </a:blip>
          <a:srcRect b="4140" l="74950" r="3830" t="84520"/>
          <a:stretch/>
        </p:blipFill>
        <p:spPr>
          <a:xfrm>
            <a:off x="8305825" y="5378975"/>
            <a:ext cx="838177" cy="33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">
  <p:cSld name="TITLE_AND_BODY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-13855" y="484380"/>
            <a:ext cx="9185700" cy="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CUSTOM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Layout Facens - DataViz2018.1">
  <p:cSld name="CUSTOM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Sem título-4.jpg" id="38" name="Google Shape;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614741" cy="5715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39" name="Google Shape;39;p7"/>
          <p:cNvPicPr preferRelativeResize="0"/>
          <p:nvPr/>
        </p:nvPicPr>
        <p:blipFill rotWithShape="1">
          <a:blip r:embed="rId2">
            <a:alphaModFix/>
          </a:blip>
          <a:srcRect b="0" l="79110" r="0" t="0"/>
          <a:stretch/>
        </p:blipFill>
        <p:spPr>
          <a:xfrm>
            <a:off x="7553293" y="0"/>
            <a:ext cx="1590701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">
  <p:cSld name="TITLE_1"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9"/>
          <p:cNvCxnSpPr/>
          <p:nvPr/>
        </p:nvCxnSpPr>
        <p:spPr>
          <a:xfrm>
            <a:off x="0" y="13331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9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150300" y="1420500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9" name="Google Shape;49;p9"/>
          <p:cNvPicPr preferRelativeResize="0"/>
          <p:nvPr/>
        </p:nvPicPr>
        <p:blipFill rotWithShape="1">
          <a:blip r:embed="rId2">
            <a:alphaModFix amt="50000"/>
          </a:blip>
          <a:srcRect b="19432" l="17725" r="1629" t="0"/>
          <a:stretch/>
        </p:blipFill>
        <p:spPr>
          <a:xfrm>
            <a:off x="5512825" y="4057300"/>
            <a:ext cx="3631174" cy="16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9"/>
          <p:cNvPicPr preferRelativeResize="0"/>
          <p:nvPr/>
        </p:nvPicPr>
        <p:blipFill rotWithShape="1">
          <a:blip r:embed="rId3">
            <a:alphaModFix amt="50000"/>
          </a:blip>
          <a:srcRect b="3217" l="0" r="0" t="22121"/>
          <a:stretch/>
        </p:blipFill>
        <p:spPr>
          <a:xfrm rot="10800000">
            <a:off x="0" y="3953472"/>
            <a:ext cx="4502250" cy="17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0625" y="4898376"/>
            <a:ext cx="1793468" cy="8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9"/>
          <p:cNvPicPr preferRelativeResize="0"/>
          <p:nvPr/>
        </p:nvPicPr>
        <p:blipFill rotWithShape="1">
          <a:blip r:embed="rId5">
            <a:alphaModFix amt="50000"/>
          </a:blip>
          <a:srcRect b="-411" l="0" r="19" t="0"/>
          <a:stretch/>
        </p:blipFill>
        <p:spPr>
          <a:xfrm rot="251502">
            <a:off x="2206440" y="4010317"/>
            <a:ext cx="3931074" cy="2018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1">
  <p:cSld name="TITLE_1_1">
    <p:bg>
      <p:bgPr>
        <a:noFill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0"/>
          <p:cNvCxnSpPr/>
          <p:nvPr/>
        </p:nvCxnSpPr>
        <p:spPr>
          <a:xfrm>
            <a:off x="0" y="35429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0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8" name="Google Shape;58;p10"/>
          <p:cNvPicPr preferRelativeResize="0"/>
          <p:nvPr/>
        </p:nvPicPr>
        <p:blipFill rotWithShape="1">
          <a:blip r:embed="rId2">
            <a:alphaModFix amt="55000"/>
          </a:blip>
          <a:srcRect b="0" l="0" r="0" t="23564"/>
          <a:stretch/>
        </p:blipFill>
        <p:spPr>
          <a:xfrm>
            <a:off x="3117975" y="-1"/>
            <a:ext cx="6026026" cy="242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">
  <p:cSld name="TITLE_AND_BODY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311700" y="-13528"/>
            <a:ext cx="8520600" cy="5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0" y="1280528"/>
            <a:ext cx="91440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595300" y="5428664"/>
            <a:ext cx="5487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63" name="Google Shape;63;p11"/>
          <p:cNvCxnSpPr/>
          <p:nvPr/>
        </p:nvCxnSpPr>
        <p:spPr>
          <a:xfrm>
            <a:off x="0" y="56058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">
  <p:cSld name="TITLE_AND_BODY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311700" y="-13528"/>
            <a:ext cx="8520600" cy="5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0" y="1280528"/>
            <a:ext cx="91440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595300" y="5428664"/>
            <a:ext cx="5487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68" name="Google Shape;68;p12"/>
          <p:cNvCxnSpPr/>
          <p:nvPr/>
        </p:nvCxnSpPr>
        <p:spPr>
          <a:xfrm>
            <a:off x="0" y="56058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737225" y="5435700"/>
            <a:ext cx="406800" cy="2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" name="Google Shape;71;p13"/>
          <p:cNvSpPr txBox="1"/>
          <p:nvPr>
            <p:ph type="title"/>
          </p:nvPr>
        </p:nvSpPr>
        <p:spPr>
          <a:xfrm>
            <a:off x="311700" y="-13528"/>
            <a:ext cx="8520600" cy="5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3"/>
          <p:cNvCxnSpPr/>
          <p:nvPr/>
        </p:nvCxnSpPr>
        <p:spPr>
          <a:xfrm>
            <a:off x="0" y="56058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/>
            </a:lvl1pPr>
            <a:lvl2pPr lvl="1" rtl="0">
              <a:buNone/>
              <a:defRPr sz="1300"/>
            </a:lvl2pPr>
            <a:lvl3pPr lvl="2" rtl="0">
              <a:buNone/>
              <a:defRPr sz="1300"/>
            </a:lvl3pPr>
            <a:lvl4pPr lvl="3" rtl="0">
              <a:buNone/>
              <a:defRPr sz="1300"/>
            </a:lvl4pPr>
            <a:lvl5pPr lvl="4" rtl="0">
              <a:buNone/>
              <a:defRPr sz="1300"/>
            </a:lvl5pPr>
            <a:lvl6pPr lvl="5" rtl="0">
              <a:buNone/>
              <a:defRPr sz="1300"/>
            </a:lvl6pPr>
            <a:lvl7pPr lvl="6" rtl="0">
              <a:buNone/>
              <a:defRPr sz="1300"/>
            </a:lvl7pPr>
            <a:lvl8pPr lvl="7" rtl="0">
              <a:buNone/>
              <a:defRPr sz="1300"/>
            </a:lvl8pPr>
            <a:lvl9pPr lvl="8" rtl="0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9750" y="0"/>
            <a:ext cx="8944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ibpad.com.br/wp-content/uploads/2017/02/Visualiza%C3%A7%C3%A3o-de-Dados-SP-18-Fev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/>
              <a:t>‹#›</a:t>
            </a:fld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 Viz Tools</a:t>
            </a:r>
            <a:endParaRPr/>
          </a:p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Tableau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Tableau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Ferramenta para análise e visualização de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Facilmente distributível (e.g., funcionários de uma empresa)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Vantagens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Reduz o tempo de criação de relatórios através de programação visual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Tableau</a:t>
            </a:r>
            <a:endParaRPr/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216" y="644275"/>
            <a:ext cx="6425525" cy="48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Tableau</a:t>
            </a:r>
            <a:endParaRPr/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2669" r="2327" t="14288"/>
          <a:stretch/>
        </p:blipFill>
        <p:spPr>
          <a:xfrm>
            <a:off x="637475" y="852425"/>
            <a:ext cx="8153699" cy="413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Encerramento</a:t>
            </a:r>
            <a:endParaRPr/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hlinkClick r:id="rId3"/>
              </a:rPr>
              <a:t>https://www.ibpad.com.br/wp-content/uploads/2017/02/Visualiza%C3%A7%C3%A3o-de-Dados-SP-18-Fev.pdf</a:t>
            </a:r>
            <a:r>
              <a:rPr lang="pt-BR" sz="1100"/>
              <a:t> </a:t>
            </a:r>
            <a:endParaRPr sz="1100"/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Encerramento</a:t>
            </a:r>
            <a:endParaRPr/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-13528"/>
            <a:ext cx="8520600" cy="5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combinado</a:t>
            </a:r>
            <a:endParaRPr/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595300" y="5428664"/>
            <a:ext cx="5487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3714525" y="4247325"/>
            <a:ext cx="5422500" cy="1356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950" y="4359529"/>
            <a:ext cx="2197851" cy="116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5000" y="4399808"/>
            <a:ext cx="1754976" cy="108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/>
          <p:nvPr/>
        </p:nvSpPr>
        <p:spPr>
          <a:xfrm>
            <a:off x="6517625" y="4825500"/>
            <a:ext cx="674400" cy="24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0" y="542075"/>
            <a:ext cx="9144000" cy="51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New items for your datascience backpack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environment, reproducibility, story-telling</a:t>
            </a:r>
            <a:endParaRPr sz="14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Exploratory Analysis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Variables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Distributions -&gt; understanding latent characteristics of large lists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Graphical Structures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ECDF, SDP, Line Plot, Bar chart, Box plot, Histogram, Pie chart, Scatter plot, Violin Plot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Libraries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matplotlib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pandas.plot()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seaborn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plotly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Tools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Tableau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Voyager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2816725" y="2857500"/>
            <a:ext cx="3718200" cy="20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Extra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Radar Chart, Error Chart etc.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Other JS and/or R Libraries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pt-BR">
                <a:solidFill>
                  <a:srgbClr val="FF0000"/>
                </a:solidFill>
              </a:rPr>
              <a:t>Graphs/Graph Database</a:t>
            </a:r>
            <a:endParaRPr>
              <a:solidFill>
                <a:srgbClr val="FF0000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vimos ?</a:t>
            </a:r>
            <a:endParaRPr/>
          </a:p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4" name="Google Shape;144;p24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faltou ?</a:t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rgbClr val="434343"/>
                </a:solidFill>
              </a:rPr>
              <a:t>‹#›</a:t>
            </a:fld>
            <a:endParaRPr>
              <a:solidFill>
                <a:srgbClr val="434343"/>
              </a:solidFill>
            </a:endParaRPr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posso melhorar?</a:t>
            </a:r>
            <a:endParaRPr/>
          </a:p>
        </p:txBody>
      </p:sp>
      <p:sp>
        <p:nvSpPr>
          <p:cNvPr id="157" name="Google Shape;157;p26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rgbClr val="434343"/>
                </a:solidFill>
              </a:rPr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heus - Preferido p/ Cle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theus - Preferido p/ Cle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