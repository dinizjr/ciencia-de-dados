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0" y="8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ângulo isósceles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ângulo retângulo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riângulo isósceles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1" name="Conector reto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ângulo retângulo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Conector reto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95332C75-D6E4-4579-9A5B-CB8CABB8CF0F}" type="datetimeFigureOut">
              <a:rPr lang="pt-BR" smtClean="0"/>
              <a:pPr/>
              <a:t>08/02/2019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3927F032-0CD4-4CD7-B1C6-705106166F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324544" y="836712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pt-BR" dirty="0"/>
              <a:t>Aplicações em Machine </a:t>
            </a:r>
            <a:r>
              <a:rPr lang="pt-BR" dirty="0" err="1"/>
              <a:t>Learning</a:t>
            </a:r>
            <a:br>
              <a:rPr lang="pt-BR" dirty="0"/>
            </a:br>
            <a:r>
              <a:rPr lang="pt-BR" dirty="0"/>
              <a:t>Atividade 01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9552" y="4725144"/>
            <a:ext cx="6984776" cy="1752600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Ciro Mora RA:111310</a:t>
            </a:r>
          </a:p>
          <a:p>
            <a:r>
              <a:rPr lang="pt-BR" dirty="0"/>
              <a:t>José Diniz RA:183134</a:t>
            </a:r>
          </a:p>
          <a:p>
            <a:r>
              <a:rPr lang="pt-BR" dirty="0"/>
              <a:t>Renan </a:t>
            </a:r>
            <a:r>
              <a:rPr lang="pt-BR" dirty="0" err="1"/>
              <a:t>Renger</a:t>
            </a:r>
            <a:r>
              <a:rPr lang="pt-BR" dirty="0"/>
              <a:t> RA:183148</a:t>
            </a:r>
          </a:p>
          <a:p>
            <a:r>
              <a:rPr lang="pt-BR" dirty="0"/>
              <a:t>Roberto Rodrigues RA:060235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704088"/>
            <a:ext cx="8640960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Análise do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Training_data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903712"/>
          </a:xfrm>
        </p:spPr>
        <p:txBody>
          <a:bodyPr/>
          <a:lstStyle/>
          <a:p>
            <a:pPr algn="just"/>
            <a:r>
              <a:rPr lang="pt-BR" dirty="0"/>
              <a:t>Dados já estavam normalizados;</a:t>
            </a:r>
          </a:p>
          <a:p>
            <a:pPr algn="just"/>
            <a:r>
              <a:rPr lang="pt-BR" dirty="0"/>
              <a:t>Verificação de valores nulos/vazios;</a:t>
            </a:r>
          </a:p>
          <a:p>
            <a:pPr algn="just"/>
            <a:r>
              <a:rPr lang="pt-BR" dirty="0"/>
              <a:t>Analisado a distribuição das classes;</a:t>
            </a:r>
          </a:p>
          <a:p>
            <a:pPr algn="just"/>
            <a:r>
              <a:rPr lang="pt-BR" dirty="0"/>
              <a:t>Divisão do </a:t>
            </a:r>
            <a:r>
              <a:rPr lang="pt-BR" dirty="0" err="1"/>
              <a:t>dataset</a:t>
            </a:r>
            <a:endParaRPr lang="pt-BR" dirty="0"/>
          </a:p>
          <a:p>
            <a:pPr lvl="1" algn="just"/>
            <a:r>
              <a:rPr lang="pt-BR" dirty="0"/>
              <a:t>30% para dados de teste;</a:t>
            </a:r>
          </a:p>
          <a:p>
            <a:pPr lvl="1" algn="just"/>
            <a:r>
              <a:rPr lang="pt-BR" dirty="0"/>
              <a:t>70% para treino;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399032"/>
          </a:xfrm>
        </p:spPr>
        <p:txBody>
          <a:bodyPr/>
          <a:lstStyle/>
          <a:p>
            <a:r>
              <a:rPr lang="pt-BR" dirty="0"/>
              <a:t>Inicio do treinamento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9757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Identificado que o KNN não é recomendado para análise de muitos atributos, resultando em um longo período de treinamento;</a:t>
            </a:r>
          </a:p>
          <a:p>
            <a:pPr algn="just"/>
            <a:r>
              <a:rPr lang="pt-BR" dirty="0"/>
              <a:t>Seguindo para a utilização </a:t>
            </a:r>
            <a:r>
              <a:rPr lang="pt-BR" dirty="0" err="1"/>
              <a:t>Qui-Quadrado</a:t>
            </a:r>
            <a:r>
              <a:rPr lang="pt-BR" dirty="0"/>
              <a:t> e RFE;</a:t>
            </a:r>
          </a:p>
          <a:p>
            <a:pPr algn="just"/>
            <a:r>
              <a:rPr lang="pt-BR" dirty="0"/>
              <a:t>Afim da obtenção de melhores resultados, partimos para o uso de PCA e RFE para reduzir a quantidade de dimensões;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399032"/>
          </a:xfrm>
        </p:spPr>
        <p:txBody>
          <a:bodyPr/>
          <a:lstStyle/>
          <a:p>
            <a:r>
              <a:rPr lang="pt-BR" dirty="0"/>
              <a:t>Análise dos resultados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947712"/>
            <a:ext cx="8712968" cy="4721648"/>
          </a:xfrm>
        </p:spPr>
        <p:txBody>
          <a:bodyPr>
            <a:normAutofit fontScale="92500" lnSpcReduction="20000"/>
          </a:bodyPr>
          <a:lstStyle/>
          <a:p>
            <a:pPr marL="448056" lvl="1" indent="-384048">
              <a:buSzPct val="80000"/>
              <a:buFont typeface="Wingdings 2"/>
              <a:buChar char=""/>
            </a:pPr>
            <a:r>
              <a:rPr lang="pt-BR" b="1" dirty="0"/>
              <a:t>Regressão </a:t>
            </a:r>
            <a:r>
              <a:rPr lang="pt-BR" b="1" dirty="0" err="1"/>
              <a:t>Logistica</a:t>
            </a:r>
            <a:r>
              <a:rPr lang="pt-BR" b="1" dirty="0"/>
              <a:t> </a:t>
            </a:r>
            <a:r>
              <a:rPr lang="pt-BR" dirty="0"/>
              <a:t>(50 f.)</a:t>
            </a:r>
          </a:p>
          <a:p>
            <a:pPr lvl="1"/>
            <a:r>
              <a:rPr lang="pt-BR" dirty="0"/>
              <a:t>Acurácia 51,76% | Log </a:t>
            </a:r>
            <a:r>
              <a:rPr lang="pt-BR" dirty="0" err="1"/>
              <a:t>Loss</a:t>
            </a:r>
            <a:r>
              <a:rPr lang="pt-BR" dirty="0"/>
              <a:t> 0.692209</a:t>
            </a:r>
          </a:p>
          <a:p>
            <a:pPr marL="448056" lvl="1" indent="-384048">
              <a:buSzPct val="80000"/>
              <a:buFont typeface="Wingdings 2"/>
              <a:buChar char=""/>
            </a:pPr>
            <a:r>
              <a:rPr lang="pt-BR" b="1" dirty="0"/>
              <a:t>PCA + KNN </a:t>
            </a:r>
            <a:r>
              <a:rPr lang="pt-BR" dirty="0"/>
              <a:t>(4 f., k=19)</a:t>
            </a:r>
          </a:p>
          <a:p>
            <a:pPr lvl="1"/>
            <a:r>
              <a:rPr lang="pt-BR" dirty="0"/>
              <a:t>Acurácia 50,26% | Log </a:t>
            </a:r>
            <a:r>
              <a:rPr lang="pt-BR" dirty="0" err="1"/>
              <a:t>Loss</a:t>
            </a:r>
            <a:r>
              <a:rPr lang="pt-BR" dirty="0"/>
              <a:t> 0.721897</a:t>
            </a:r>
          </a:p>
          <a:p>
            <a:pPr marL="448056" lvl="1" indent="-384048">
              <a:buSzPct val="80000"/>
              <a:buFont typeface="Wingdings 2"/>
              <a:buChar char=""/>
            </a:pPr>
            <a:r>
              <a:rPr lang="pt-BR" b="1" dirty="0"/>
              <a:t>PCA+RFE+KNN </a:t>
            </a:r>
            <a:r>
              <a:rPr lang="pt-BR" dirty="0"/>
              <a:t>(25 f. -&gt; 4 f., k=21)</a:t>
            </a:r>
          </a:p>
          <a:p>
            <a:pPr lvl="1"/>
            <a:r>
              <a:rPr lang="pt-BR" dirty="0"/>
              <a:t>Acurácia 50,05% | Log </a:t>
            </a:r>
            <a:r>
              <a:rPr lang="pt-BR" dirty="0" err="1"/>
              <a:t>Loss</a:t>
            </a:r>
            <a:r>
              <a:rPr lang="pt-BR" dirty="0"/>
              <a:t> 0.718014</a:t>
            </a:r>
          </a:p>
          <a:p>
            <a:pPr marL="448056" lvl="1" indent="-384048">
              <a:buSzPct val="80000"/>
              <a:buFont typeface="Wingdings 2"/>
              <a:buChar char=""/>
            </a:pPr>
            <a:r>
              <a:rPr lang="pt-BR" b="1" dirty="0" err="1"/>
              <a:t>LinearSVC</a:t>
            </a:r>
            <a:r>
              <a:rPr lang="pt-BR" dirty="0"/>
              <a:t> (4 f., </a:t>
            </a:r>
            <a:r>
              <a:rPr lang="pt-BR" dirty="0" err="1"/>
              <a:t>shuffleSplit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Acurácia 50.67% | Log </a:t>
            </a:r>
            <a:r>
              <a:rPr lang="pt-BR" dirty="0" err="1"/>
              <a:t>Loss</a:t>
            </a:r>
            <a:r>
              <a:rPr lang="pt-BR" dirty="0"/>
              <a:t> 0.692948</a:t>
            </a:r>
          </a:p>
          <a:p>
            <a:r>
              <a:rPr lang="pt-BR" sz="2600" b="1" dirty="0" err="1"/>
              <a:t>Decision</a:t>
            </a:r>
            <a:r>
              <a:rPr lang="pt-BR" sz="2600" b="1" dirty="0"/>
              <a:t> </a:t>
            </a:r>
            <a:r>
              <a:rPr lang="pt-BR" sz="2600" b="1" dirty="0" err="1"/>
              <a:t>Tree</a:t>
            </a:r>
            <a:r>
              <a:rPr lang="pt-BR" sz="2600" b="1" dirty="0"/>
              <a:t> </a:t>
            </a:r>
            <a:r>
              <a:rPr lang="pt-BR" sz="2600" dirty="0"/>
              <a:t>(50f., </a:t>
            </a:r>
            <a:r>
              <a:rPr lang="pt-BR" sz="2600" dirty="0" err="1"/>
              <a:t>max_depth</a:t>
            </a:r>
            <a:r>
              <a:rPr lang="pt-BR" sz="2600" dirty="0"/>
              <a:t>=1)</a:t>
            </a:r>
          </a:p>
          <a:p>
            <a:pPr lvl="1"/>
            <a:r>
              <a:rPr lang="pt-BR" dirty="0"/>
              <a:t>Acurácia 51.12% | Log </a:t>
            </a:r>
            <a:r>
              <a:rPr lang="pt-BR" dirty="0" err="1"/>
              <a:t>Loss</a:t>
            </a:r>
            <a:r>
              <a:rPr lang="pt-BR" dirty="0"/>
              <a:t> 0.692878</a:t>
            </a:r>
          </a:p>
          <a:p>
            <a:r>
              <a:rPr lang="pt-BR" sz="2600" b="1" dirty="0" err="1"/>
              <a:t>Random</a:t>
            </a:r>
            <a:r>
              <a:rPr lang="pt-BR" sz="2600" b="1" dirty="0"/>
              <a:t> Forest </a:t>
            </a:r>
            <a:r>
              <a:rPr lang="pt-BR" sz="2600" dirty="0"/>
              <a:t>(50f., </a:t>
            </a:r>
            <a:r>
              <a:rPr lang="pt-BR" sz="2600" dirty="0" err="1"/>
              <a:t>n_est</a:t>
            </a:r>
            <a:r>
              <a:rPr lang="pt-BR" sz="2600" dirty="0"/>
              <a:t>=29, </a:t>
            </a:r>
            <a:r>
              <a:rPr lang="pt-BR" sz="2600" dirty="0" err="1"/>
              <a:t>max_depth</a:t>
            </a:r>
            <a:r>
              <a:rPr lang="pt-BR" sz="2600" dirty="0"/>
              <a:t>=6)</a:t>
            </a:r>
          </a:p>
          <a:p>
            <a:pPr lvl="1"/>
            <a:r>
              <a:rPr lang="pt-BR" dirty="0"/>
              <a:t>Acurácia 51,61% | Log </a:t>
            </a:r>
            <a:r>
              <a:rPr lang="pt-BR" dirty="0" err="1"/>
              <a:t>Loss</a:t>
            </a:r>
            <a:r>
              <a:rPr lang="pt-BR" dirty="0"/>
              <a:t> 0.692417</a:t>
            </a:r>
          </a:p>
          <a:p>
            <a:pPr lvl="1"/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10105"/>
            <a:ext cx="8229600" cy="1399032"/>
          </a:xfrm>
        </p:spPr>
        <p:txBody>
          <a:bodyPr/>
          <a:lstStyle/>
          <a:p>
            <a:r>
              <a:rPr lang="pt-BR" dirty="0"/>
              <a:t>Melhor resultado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5112568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Apesar de todos os modelos apresentarem níveis de acurácia semelhantes, apenas o </a:t>
            </a:r>
            <a:r>
              <a:rPr lang="pt-BR" sz="2400" b="1" dirty="0" err="1"/>
              <a:t>Random</a:t>
            </a:r>
            <a:r>
              <a:rPr lang="pt-BR" sz="2400" b="1" dirty="0"/>
              <a:t> Forest </a:t>
            </a:r>
            <a:r>
              <a:rPr lang="pt-BR" sz="2400" dirty="0"/>
              <a:t>conseguiu passar a margem de 0,693 tida como mínimo para aceitação do algoritmo.</a:t>
            </a:r>
          </a:p>
          <a:p>
            <a:pPr algn="just"/>
            <a:r>
              <a:rPr lang="pt-BR" sz="2400" dirty="0"/>
              <a:t>Ainda assim, o resultado apresentado por ele é insuficiente para competir com outros algoritmos existentes na origem dos dados (Numer.ai)</a:t>
            </a:r>
          </a:p>
          <a:p>
            <a:pPr algn="just"/>
            <a:r>
              <a:rPr lang="pt-BR" sz="2400" dirty="0"/>
              <a:t>Com toda certeza, vale a pena continuar a investir nesse dataset para obter resultados competitivos.</a:t>
            </a:r>
          </a:p>
          <a:p>
            <a:pPr algn="just"/>
            <a:r>
              <a:rPr lang="pt-BR" sz="2400" dirty="0"/>
              <a:t>https://www.kaggle.com/himselfthedecker/aam-atividade-01-bolsa-de-valores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146</TotalTime>
  <Words>315</Words>
  <Application>Microsoft Office PowerPoint</Application>
  <PresentationFormat>Apresentação na tela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Verdana</vt:lpstr>
      <vt:lpstr>Wingdings 2</vt:lpstr>
      <vt:lpstr>Verve</vt:lpstr>
      <vt:lpstr>Aplicações em Machine Learning Atividade 01</vt:lpstr>
      <vt:lpstr>Análise do dataset Training_data</vt:lpstr>
      <vt:lpstr>Inicio do treinamento</vt:lpstr>
      <vt:lpstr>Análise dos resultados</vt:lpstr>
      <vt:lpstr>Melhor resultado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Tarefa 01</dc:title>
  <dc:creator>Léo</dc:creator>
  <cp:lastModifiedBy>Renan Renger</cp:lastModifiedBy>
  <cp:revision>30</cp:revision>
  <dcterms:created xsi:type="dcterms:W3CDTF">2019-02-07T20:46:55Z</dcterms:created>
  <dcterms:modified xsi:type="dcterms:W3CDTF">2019-02-08T02:45:48Z</dcterms:modified>
</cp:coreProperties>
</file>