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8" r:id="rId3"/>
    <p:sldId id="269" r:id="rId4"/>
    <p:sldId id="277" r:id="rId5"/>
    <p:sldId id="279" r:id="rId6"/>
    <p:sldId id="280" r:id="rId7"/>
    <p:sldId id="281" r:id="rId8"/>
    <p:sldId id="283" r:id="rId9"/>
    <p:sldId id="278" r:id="rId10"/>
    <p:sldId id="284" r:id="rId11"/>
    <p:sldId id="286" r:id="rId12"/>
    <p:sldId id="287" r:id="rId13"/>
    <p:sldId id="288" r:id="rId14"/>
    <p:sldId id="289" r:id="rId15"/>
    <p:sldId id="285" r:id="rId16"/>
    <p:sldId id="276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51" d="100"/>
          <a:sy n="51" d="100"/>
        </p:scale>
        <p:origin x="72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Pasta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Pasta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Pasta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Planilha1!$C$3</c:f>
              <c:strCache>
                <c:ptCount val="1"/>
                <c:pt idx="0">
                  <c:v>treino</c:v>
                </c:pt>
              </c:strCache>
            </c:strRef>
          </c:tx>
          <c:spPr>
            <a:ln w="2222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numRef>
              <c:f>Planilha1!$B$4:$B$11</c:f>
              <c:numCache>
                <c:formatCode>General</c:formatCode>
                <c:ptCount val="8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</c:numCache>
            </c:numRef>
          </c:cat>
          <c:val>
            <c:numRef>
              <c:f>Planilha1!$C$4:$C$11</c:f>
              <c:numCache>
                <c:formatCode>General</c:formatCode>
                <c:ptCount val="8"/>
                <c:pt idx="0">
                  <c:v>0</c:v>
                </c:pt>
                <c:pt idx="1">
                  <c:v>5</c:v>
                </c:pt>
                <c:pt idx="2">
                  <c:v>15</c:v>
                </c:pt>
                <c:pt idx="3">
                  <c:v>22</c:v>
                </c:pt>
                <c:pt idx="4">
                  <c:v>26</c:v>
                </c:pt>
                <c:pt idx="5">
                  <c:v>32</c:v>
                </c:pt>
                <c:pt idx="6">
                  <c:v>35</c:v>
                </c:pt>
                <c:pt idx="7">
                  <c:v>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2CC-4BB5-B471-6647F5278ADE}"/>
            </c:ext>
          </c:extLst>
        </c:ser>
        <c:ser>
          <c:idx val="1"/>
          <c:order val="1"/>
          <c:tx>
            <c:strRef>
              <c:f>Planilha1!$D$3</c:f>
              <c:strCache>
                <c:ptCount val="1"/>
                <c:pt idx="0">
                  <c:v>teste</c:v>
                </c:pt>
              </c:strCache>
            </c:strRef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Planilha1!$B$4:$B$11</c:f>
              <c:numCache>
                <c:formatCode>General</c:formatCode>
                <c:ptCount val="8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</c:numCache>
            </c:numRef>
          </c:cat>
          <c:val>
            <c:numRef>
              <c:f>Planilha1!$D$4:$D$11</c:f>
              <c:numCache>
                <c:formatCode>General</c:formatCode>
                <c:ptCount val="8"/>
                <c:pt idx="0">
                  <c:v>100</c:v>
                </c:pt>
                <c:pt idx="1">
                  <c:v>95</c:v>
                </c:pt>
                <c:pt idx="2">
                  <c:v>90</c:v>
                </c:pt>
                <c:pt idx="3">
                  <c:v>87</c:v>
                </c:pt>
                <c:pt idx="4">
                  <c:v>86</c:v>
                </c:pt>
                <c:pt idx="5">
                  <c:v>85</c:v>
                </c:pt>
                <c:pt idx="6">
                  <c:v>84</c:v>
                </c:pt>
                <c:pt idx="7">
                  <c:v>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2CC-4BB5-B471-6647F5278A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11946304"/>
        <c:axId val="411952960"/>
      </c:lineChart>
      <c:catAx>
        <c:axId val="41194630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dk1">
                  <a:lumMod val="15000"/>
                  <a:lumOff val="85000"/>
                  <a:alpha val="51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11952960"/>
        <c:crosses val="autoZero"/>
        <c:auto val="1"/>
        <c:lblAlgn val="ctr"/>
        <c:lblOffset val="100"/>
        <c:noMultiLvlLbl val="0"/>
      </c:catAx>
      <c:valAx>
        <c:axId val="4119529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11946304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Planilha1!$C$3</c:f>
              <c:strCache>
                <c:ptCount val="1"/>
                <c:pt idx="0">
                  <c:v>treino</c:v>
                </c:pt>
              </c:strCache>
            </c:strRef>
          </c:tx>
          <c:spPr>
            <a:ln w="2222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numRef>
              <c:f>Planilha1!$B$4:$B$11</c:f>
              <c:numCache>
                <c:formatCode>General</c:formatCode>
                <c:ptCount val="8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</c:numCache>
            </c:numRef>
          </c:cat>
          <c:val>
            <c:numRef>
              <c:f>Planilha1!$C$4:$C$11</c:f>
              <c:numCache>
                <c:formatCode>General</c:formatCode>
                <c:ptCount val="8"/>
                <c:pt idx="0">
                  <c:v>0</c:v>
                </c:pt>
                <c:pt idx="1">
                  <c:v>5</c:v>
                </c:pt>
                <c:pt idx="2">
                  <c:v>15</c:v>
                </c:pt>
                <c:pt idx="3">
                  <c:v>22</c:v>
                </c:pt>
                <c:pt idx="4">
                  <c:v>26</c:v>
                </c:pt>
                <c:pt idx="5">
                  <c:v>32</c:v>
                </c:pt>
                <c:pt idx="6">
                  <c:v>35</c:v>
                </c:pt>
                <c:pt idx="7">
                  <c:v>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2CC-4BB5-B471-6647F5278ADE}"/>
            </c:ext>
          </c:extLst>
        </c:ser>
        <c:ser>
          <c:idx val="1"/>
          <c:order val="1"/>
          <c:tx>
            <c:strRef>
              <c:f>Planilha1!$D$3</c:f>
              <c:strCache>
                <c:ptCount val="1"/>
                <c:pt idx="0">
                  <c:v>teste</c:v>
                </c:pt>
              </c:strCache>
            </c:strRef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Planilha1!$B$4:$B$11</c:f>
              <c:numCache>
                <c:formatCode>General</c:formatCode>
                <c:ptCount val="8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</c:numCache>
            </c:numRef>
          </c:cat>
          <c:val>
            <c:numRef>
              <c:f>Planilha1!$D$4:$D$11</c:f>
              <c:numCache>
                <c:formatCode>General</c:formatCode>
                <c:ptCount val="8"/>
                <c:pt idx="0">
                  <c:v>100</c:v>
                </c:pt>
                <c:pt idx="1">
                  <c:v>95</c:v>
                </c:pt>
                <c:pt idx="2">
                  <c:v>90</c:v>
                </c:pt>
                <c:pt idx="3">
                  <c:v>87</c:v>
                </c:pt>
                <c:pt idx="4">
                  <c:v>86</c:v>
                </c:pt>
                <c:pt idx="5">
                  <c:v>85</c:v>
                </c:pt>
                <c:pt idx="6">
                  <c:v>84</c:v>
                </c:pt>
                <c:pt idx="7">
                  <c:v>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2CC-4BB5-B471-6647F5278A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11946304"/>
        <c:axId val="411952960"/>
      </c:lineChart>
      <c:catAx>
        <c:axId val="41194630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dk1">
                  <a:lumMod val="15000"/>
                  <a:lumOff val="85000"/>
                  <a:alpha val="51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11952960"/>
        <c:crosses val="autoZero"/>
        <c:auto val="1"/>
        <c:lblAlgn val="ctr"/>
        <c:lblOffset val="100"/>
        <c:noMultiLvlLbl val="0"/>
      </c:catAx>
      <c:valAx>
        <c:axId val="4119529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11946304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Planilha1!$C$3</c:f>
              <c:strCache>
                <c:ptCount val="1"/>
                <c:pt idx="0">
                  <c:v>treino</c:v>
                </c:pt>
              </c:strCache>
            </c:strRef>
          </c:tx>
          <c:spPr>
            <a:ln w="2222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numRef>
              <c:f>Planilha1!$B$4:$B$11</c:f>
              <c:numCache>
                <c:formatCode>General</c:formatCode>
                <c:ptCount val="8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</c:numCache>
            </c:numRef>
          </c:cat>
          <c:val>
            <c:numRef>
              <c:f>Planilha1!$C$4:$C$11</c:f>
              <c:numCache>
                <c:formatCode>General</c:formatCode>
                <c:ptCount val="8"/>
                <c:pt idx="0">
                  <c:v>0</c:v>
                </c:pt>
                <c:pt idx="1">
                  <c:v>5</c:v>
                </c:pt>
                <c:pt idx="2">
                  <c:v>15</c:v>
                </c:pt>
                <c:pt idx="3">
                  <c:v>22</c:v>
                </c:pt>
                <c:pt idx="4">
                  <c:v>26</c:v>
                </c:pt>
                <c:pt idx="5">
                  <c:v>32</c:v>
                </c:pt>
                <c:pt idx="6">
                  <c:v>35</c:v>
                </c:pt>
                <c:pt idx="7">
                  <c:v>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2CC-4BB5-B471-6647F5278ADE}"/>
            </c:ext>
          </c:extLst>
        </c:ser>
        <c:ser>
          <c:idx val="1"/>
          <c:order val="1"/>
          <c:tx>
            <c:strRef>
              <c:f>Planilha1!$D$3</c:f>
              <c:strCache>
                <c:ptCount val="1"/>
                <c:pt idx="0">
                  <c:v>teste</c:v>
                </c:pt>
              </c:strCache>
            </c:strRef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Planilha1!$B$4:$B$11</c:f>
              <c:numCache>
                <c:formatCode>General</c:formatCode>
                <c:ptCount val="8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</c:numCache>
            </c:numRef>
          </c:cat>
          <c:val>
            <c:numRef>
              <c:f>Planilha1!$D$4:$D$11</c:f>
              <c:numCache>
                <c:formatCode>General</c:formatCode>
                <c:ptCount val="8"/>
                <c:pt idx="0">
                  <c:v>100</c:v>
                </c:pt>
                <c:pt idx="1">
                  <c:v>95</c:v>
                </c:pt>
                <c:pt idx="2">
                  <c:v>90</c:v>
                </c:pt>
                <c:pt idx="3">
                  <c:v>87</c:v>
                </c:pt>
                <c:pt idx="4">
                  <c:v>86</c:v>
                </c:pt>
                <c:pt idx="5">
                  <c:v>85</c:v>
                </c:pt>
                <c:pt idx="6">
                  <c:v>84</c:v>
                </c:pt>
                <c:pt idx="7">
                  <c:v>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2CC-4BB5-B471-6647F5278A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11946304"/>
        <c:axId val="411952960"/>
      </c:lineChart>
      <c:catAx>
        <c:axId val="41194630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dk1">
                  <a:lumMod val="15000"/>
                  <a:lumOff val="85000"/>
                  <a:alpha val="51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11952960"/>
        <c:crosses val="autoZero"/>
        <c:auto val="1"/>
        <c:lblAlgn val="ctr"/>
        <c:lblOffset val="100"/>
        <c:noMultiLvlLbl val="0"/>
      </c:catAx>
      <c:valAx>
        <c:axId val="4119529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11946304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2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1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32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1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32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1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A17850E2-2FCC-4D05-AC9D-21A374B759CD}" type="datetimeFigureOut">
              <a:rPr lang="pt-BR" smtClean="0"/>
              <a:t>07/02/2019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3F8D-ED5C-4DB4-B279-7D35F78A1185}" type="slidenum">
              <a:rPr lang="pt-BR" smtClean="0"/>
              <a:t>‹nº›</a:t>
            </a:fld>
            <a:endParaRPr lang="pt-BR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573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850E2-2FCC-4D05-AC9D-21A374B759CD}" type="datetimeFigureOut">
              <a:rPr lang="pt-BR" smtClean="0"/>
              <a:t>07/02/2019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3F8D-ED5C-4DB4-B279-7D35F78A11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5914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850E2-2FCC-4D05-AC9D-21A374B759CD}" type="datetimeFigureOut">
              <a:rPr lang="pt-BR" smtClean="0"/>
              <a:t>07/02/2019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3F8D-ED5C-4DB4-B279-7D35F78A1185}" type="slidenum">
              <a:rPr lang="pt-BR" smtClean="0"/>
              <a:t>‹nº›</a:t>
            </a:fld>
            <a:endParaRPr lang="pt-BR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7321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850E2-2FCC-4D05-AC9D-21A374B759CD}" type="datetimeFigureOut">
              <a:rPr lang="pt-BR" smtClean="0"/>
              <a:t>07/02/2019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3F8D-ED5C-4DB4-B279-7D35F78A11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4870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850E2-2FCC-4D05-AC9D-21A374B759CD}" type="datetimeFigureOut">
              <a:rPr lang="pt-BR" smtClean="0"/>
              <a:t>07/02/2019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3F8D-ED5C-4DB4-B279-7D35F78A11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302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850E2-2FCC-4D05-AC9D-21A374B759CD}" type="datetimeFigureOut">
              <a:rPr lang="pt-BR" smtClean="0"/>
              <a:t>07/02/2019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3F8D-ED5C-4DB4-B279-7D35F78A11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522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850E2-2FCC-4D05-AC9D-21A374B759CD}" type="datetimeFigureOut">
              <a:rPr lang="pt-BR" smtClean="0"/>
              <a:t>07/02/2019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3F8D-ED5C-4DB4-B279-7D35F78A11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1991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850E2-2FCC-4D05-AC9D-21A374B759CD}" type="datetimeFigureOut">
              <a:rPr lang="pt-BR" smtClean="0"/>
              <a:t>07/02/2019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3F8D-ED5C-4DB4-B279-7D35F78A11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1925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850E2-2FCC-4D05-AC9D-21A374B759CD}" type="datetimeFigureOut">
              <a:rPr lang="pt-BR" smtClean="0"/>
              <a:t>07/02/2019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3F8D-ED5C-4DB4-B279-7D35F78A1185}" type="slidenum">
              <a:rPr lang="pt-BR" smtClean="0"/>
              <a:t>‹nº›</a:t>
            </a:fld>
            <a:endParaRPr lang="pt-BR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039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850E2-2FCC-4D05-AC9D-21A374B759CD}" type="datetimeFigureOut">
              <a:rPr lang="pt-BR" smtClean="0"/>
              <a:t>07/02/2019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3F8D-ED5C-4DB4-B279-7D35F78A11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9065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850E2-2FCC-4D05-AC9D-21A374B759CD}" type="datetimeFigureOut">
              <a:rPr lang="pt-BR" smtClean="0"/>
              <a:t>07/02/2019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3F8D-ED5C-4DB4-B279-7D35F78A1185}" type="slidenum">
              <a:rPr lang="pt-BR" smtClean="0"/>
              <a:t>‹nº›</a:t>
            </a:fld>
            <a:endParaRPr lang="pt-BR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5442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A17850E2-2FCC-4D05-AC9D-21A374B759CD}" type="datetimeFigureOut">
              <a:rPr lang="pt-BR" smtClean="0"/>
              <a:t>07/02/2019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EF83F8D-ED5C-4DB4-B279-7D35F78A1185}" type="slidenum">
              <a:rPr lang="pt-BR" smtClean="0"/>
              <a:t>‹nº›</a:t>
            </a:fld>
            <a:endParaRPr lang="pt-BR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739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c/porto-seguro-safe-driver-predictio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sz="4400" dirty="0" smtClean="0"/>
              <a:t>Aplicações em aprendizado de máquina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2019/1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Johannes Von Lochter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17713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SEGUNDO </a:t>
            </a:r>
            <a:r>
              <a:rPr lang="pt-BR" dirty="0" smtClean="0"/>
              <a:t>ENCONTRO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2400" dirty="0" smtClean="0"/>
              <a:t>Objetivos:</a:t>
            </a:r>
          </a:p>
          <a:p>
            <a:r>
              <a:rPr lang="pt-BR" sz="2400" dirty="0" smtClean="0"/>
              <a:t>- </a:t>
            </a:r>
            <a:r>
              <a:rPr lang="pt-BR" sz="2400" dirty="0" smtClean="0"/>
              <a:t>Analisar os resultados obtidos na tarefa anterior;</a:t>
            </a:r>
          </a:p>
          <a:p>
            <a:r>
              <a:rPr lang="pt-BR" sz="2400" dirty="0" smtClean="0"/>
              <a:t>- Ler dados de arquivos e preparar um experimento;</a:t>
            </a:r>
          </a:p>
          <a:p>
            <a:r>
              <a:rPr lang="pt-BR" sz="2400" dirty="0" smtClean="0"/>
              <a:t>- Rever regressão e interpretação de modelo;</a:t>
            </a:r>
            <a:endParaRPr lang="pt-BR" sz="2400" dirty="0" smtClean="0"/>
          </a:p>
          <a:p>
            <a:r>
              <a:rPr lang="pt-BR" sz="2400" dirty="0" smtClean="0"/>
              <a:t>- </a:t>
            </a:r>
            <a:r>
              <a:rPr lang="pt-BR" sz="2400" dirty="0" smtClean="0"/>
              <a:t>Discutir sobre </a:t>
            </a:r>
            <a:r>
              <a:rPr lang="pt-BR" sz="2400" dirty="0" err="1" smtClean="0"/>
              <a:t>underfitting</a:t>
            </a:r>
            <a:r>
              <a:rPr lang="pt-BR" sz="2400" dirty="0" smtClean="0"/>
              <a:t> e </a:t>
            </a:r>
            <a:r>
              <a:rPr lang="pt-BR" sz="2400" dirty="0" err="1" smtClean="0"/>
              <a:t>overfitting</a:t>
            </a:r>
            <a:r>
              <a:rPr lang="pt-BR" sz="2400" dirty="0" smtClean="0"/>
              <a:t>; e</a:t>
            </a:r>
          </a:p>
          <a:p>
            <a:r>
              <a:rPr lang="pt-BR" sz="2400" dirty="0" smtClean="0"/>
              <a:t>- Aprender a lidar com dados mais complexos</a:t>
            </a:r>
            <a:endParaRPr lang="pt-BR" sz="2400" dirty="0" smtClean="0"/>
          </a:p>
        </p:txBody>
      </p:sp>
    </p:spTree>
    <p:extLst>
      <p:ext uri="{BB962C8B-B14F-4D97-AF65-F5344CB8AC3E}">
        <p14:creationId xmlns:p14="http://schemas.microsoft.com/office/powerpoint/2010/main" val="3663004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LER ARQUIVOS DADOS E PREPARAR UM EXPERIMENTO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800" dirty="0" smtClean="0"/>
              <a:t>Para </a:t>
            </a:r>
            <a:r>
              <a:rPr lang="pt-BR" sz="2800" dirty="0" smtClean="0"/>
              <a:t>essa primeira etapa, vamos utilizar um notebook de referência disponível no espaço virtual da disciplina:</a:t>
            </a:r>
            <a:endParaRPr lang="pt-BR" sz="2800" dirty="0" smtClean="0"/>
          </a:p>
          <a:p>
            <a:pPr marL="0" indent="0">
              <a:buNone/>
            </a:pPr>
            <a:r>
              <a:rPr lang="pt-BR" sz="2800" b="1" dirty="0" smtClean="0">
                <a:solidFill>
                  <a:schemeClr val="accent4"/>
                </a:solidFill>
              </a:rPr>
              <a:t>02_01_Regressao.ipynb</a:t>
            </a:r>
            <a:endParaRPr lang="pt-BR" sz="2800" b="1" dirty="0" smtClean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5445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Overfitting</a:t>
            </a:r>
            <a:r>
              <a:rPr lang="pt-BR" dirty="0" smtClean="0"/>
              <a:t> e </a:t>
            </a:r>
            <a:r>
              <a:rPr lang="pt-BR" dirty="0" err="1" smtClean="0"/>
              <a:t>underfitting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800" dirty="0" smtClean="0"/>
              <a:t>Dois conceitos muito importantes quando se discute aprendizado em inteligência artificial são </a:t>
            </a:r>
            <a:r>
              <a:rPr lang="pt-BR" sz="2800" dirty="0" err="1" smtClean="0"/>
              <a:t>overfitting</a:t>
            </a:r>
            <a:r>
              <a:rPr lang="pt-BR" sz="2800" dirty="0" smtClean="0"/>
              <a:t> e </a:t>
            </a:r>
            <a:r>
              <a:rPr lang="pt-BR" sz="2800" dirty="0" err="1" smtClean="0"/>
              <a:t>underfitting</a:t>
            </a:r>
            <a:r>
              <a:rPr lang="pt-BR" sz="2800" dirty="0" smtClean="0"/>
              <a:t>, respectivamente, </a:t>
            </a:r>
            <a:r>
              <a:rPr lang="pt-BR" sz="2800" dirty="0" err="1" smtClean="0"/>
              <a:t>sobreajustamento</a:t>
            </a:r>
            <a:r>
              <a:rPr lang="pt-BR" sz="2800" dirty="0" smtClean="0"/>
              <a:t> e </a:t>
            </a:r>
            <a:r>
              <a:rPr lang="pt-BR" sz="2800" dirty="0" err="1" smtClean="0"/>
              <a:t>subajustamento</a:t>
            </a:r>
            <a:r>
              <a:rPr lang="pt-BR" sz="2800" dirty="0" smtClean="0"/>
              <a:t>.</a:t>
            </a:r>
          </a:p>
          <a:p>
            <a:pPr marL="0" indent="0" algn="just">
              <a:buNone/>
            </a:pPr>
            <a:endParaRPr lang="pt-BR" sz="2800" b="1" dirty="0">
              <a:solidFill>
                <a:schemeClr val="accent4"/>
              </a:solidFill>
            </a:endParaRPr>
          </a:p>
          <a:p>
            <a:pPr marL="0" indent="0" algn="just">
              <a:buNone/>
            </a:pPr>
            <a:r>
              <a:rPr lang="pt-BR" sz="2800" b="1" dirty="0" err="1" smtClean="0">
                <a:solidFill>
                  <a:schemeClr val="accent2"/>
                </a:solidFill>
              </a:rPr>
              <a:t>Sobreajustar</a:t>
            </a:r>
            <a:r>
              <a:rPr lang="pt-BR" sz="2800" dirty="0" smtClean="0"/>
              <a:t> um modelo implica em viciar o modelo nos dados de treino e torná-lo incapaz de generalizar para os dados de teste.</a:t>
            </a:r>
          </a:p>
          <a:p>
            <a:pPr marL="0" indent="0" algn="just">
              <a:buNone/>
            </a:pPr>
            <a:r>
              <a:rPr lang="pt-BR" sz="2800" b="1" dirty="0" err="1" smtClean="0">
                <a:solidFill>
                  <a:schemeClr val="accent2"/>
                </a:solidFill>
              </a:rPr>
              <a:t>Subajustar</a:t>
            </a:r>
            <a:r>
              <a:rPr lang="pt-BR" sz="2800" dirty="0" smtClean="0"/>
              <a:t> significa não ter desempenho aceitável nem mesmo no conjunto de treino.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027269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Overfitting</a:t>
            </a:r>
            <a:r>
              <a:rPr lang="pt-BR" dirty="0" smtClean="0"/>
              <a:t> e </a:t>
            </a:r>
            <a:r>
              <a:rPr lang="pt-BR" dirty="0" err="1" smtClean="0"/>
              <a:t>underfitting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24129" y="2286000"/>
            <a:ext cx="5219918" cy="402336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800" dirty="0" smtClean="0"/>
              <a:t>Esses fenômenos são mais facilmente observáveis em uma </a:t>
            </a:r>
            <a:r>
              <a:rPr lang="pt-BR" sz="2800" dirty="0" smtClean="0">
                <a:solidFill>
                  <a:schemeClr val="accent2"/>
                </a:solidFill>
              </a:rPr>
              <a:t>curva de aprendizado</a:t>
            </a:r>
            <a:r>
              <a:rPr lang="pt-BR" sz="2800" dirty="0" smtClean="0"/>
              <a:t>, analisando o </a:t>
            </a:r>
            <a:r>
              <a:rPr lang="pt-BR" sz="2800" dirty="0" smtClean="0">
                <a:solidFill>
                  <a:srgbClr val="FF0000"/>
                </a:solidFill>
              </a:rPr>
              <a:t>erro</a:t>
            </a:r>
            <a:r>
              <a:rPr lang="pt-BR" sz="2800" dirty="0" smtClean="0"/>
              <a:t> de um modelo a medida que </a:t>
            </a:r>
            <a:r>
              <a:rPr lang="pt-BR" sz="2800" u="sng" dirty="0" smtClean="0"/>
              <a:t>mais amostras</a:t>
            </a:r>
            <a:r>
              <a:rPr lang="pt-BR" sz="2800" dirty="0" smtClean="0"/>
              <a:t> de treino são dadas e o resultado é confrontado com o conjunto de teste fixo durante todo o processo.</a:t>
            </a:r>
            <a:endParaRPr lang="pt-BR" sz="2800" dirty="0"/>
          </a:p>
        </p:txBody>
      </p:sp>
      <p:graphicFrame>
        <p:nvGraphicFramePr>
          <p:cNvPr id="4" name="Gráfico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4636203"/>
              </p:ext>
            </p:extLst>
          </p:nvPr>
        </p:nvGraphicFramePr>
        <p:xfrm>
          <a:off x="6718662" y="2084832"/>
          <a:ext cx="4672149" cy="39297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99982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Overfitting</a:t>
            </a:r>
            <a:r>
              <a:rPr lang="pt-BR" dirty="0" smtClean="0"/>
              <a:t> e </a:t>
            </a:r>
            <a:r>
              <a:rPr lang="pt-BR" dirty="0" err="1" smtClean="0"/>
              <a:t>underfitting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24129" y="2286000"/>
            <a:ext cx="10175094" cy="402336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800" b="1" dirty="0" err="1" smtClean="0">
                <a:solidFill>
                  <a:schemeClr val="accent2">
                    <a:lumMod val="75000"/>
                  </a:schemeClr>
                </a:solidFill>
              </a:rPr>
              <a:t>Underfitting</a:t>
            </a:r>
            <a:r>
              <a:rPr lang="pt-BR" sz="28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pt-BR" sz="2800" b="1" dirty="0">
                <a:solidFill>
                  <a:schemeClr val="accent1"/>
                </a:solidFill>
              </a:rPr>
              <a:t>d</a:t>
            </a:r>
            <a:r>
              <a:rPr lang="pt-BR" sz="2800" b="1" dirty="0" smtClean="0">
                <a:solidFill>
                  <a:schemeClr val="accent1"/>
                </a:solidFill>
              </a:rPr>
              <a:t>epende </a:t>
            </a:r>
            <a:r>
              <a:rPr lang="pt-BR" sz="2800" b="1" dirty="0" smtClean="0">
                <a:solidFill>
                  <a:schemeClr val="accent1"/>
                </a:solidFill>
              </a:rPr>
              <a:t>de saber </a:t>
            </a:r>
          </a:p>
          <a:p>
            <a:pPr marL="0" indent="0" algn="just">
              <a:buNone/>
            </a:pPr>
            <a:r>
              <a:rPr lang="pt-BR" sz="2800" b="1" dirty="0" smtClean="0">
                <a:solidFill>
                  <a:schemeClr val="accent1"/>
                </a:solidFill>
              </a:rPr>
              <a:t>o que é “muito erro”.</a:t>
            </a:r>
            <a:r>
              <a:rPr lang="pt-BR" sz="2800" b="1" dirty="0">
                <a:solidFill>
                  <a:schemeClr val="accent1"/>
                </a:solidFill>
              </a:rPr>
              <a:t> </a:t>
            </a:r>
            <a:endParaRPr lang="pt-BR" sz="2800" b="1" dirty="0" smtClean="0">
              <a:solidFill>
                <a:schemeClr val="accent1"/>
              </a:solidFill>
            </a:endParaRPr>
          </a:p>
          <a:p>
            <a:pPr marL="0" indent="0" algn="just">
              <a:buNone/>
            </a:pPr>
            <a:r>
              <a:rPr lang="pt-BR" sz="2800" dirty="0" smtClean="0"/>
              <a:t>Está </a:t>
            </a:r>
            <a:r>
              <a:rPr lang="pt-BR" sz="2800" dirty="0" err="1" smtClean="0"/>
              <a:t>subajustado</a:t>
            </a:r>
            <a:r>
              <a:rPr lang="pt-BR" sz="2800" dirty="0" smtClean="0"/>
              <a:t>? </a:t>
            </a:r>
          </a:p>
          <a:p>
            <a:pPr marL="0" indent="0" algn="just">
              <a:buNone/>
            </a:pPr>
            <a:r>
              <a:rPr lang="pt-BR" sz="2800" dirty="0" smtClean="0"/>
              <a:t>Ou 40 de erro é aceitável?</a:t>
            </a:r>
          </a:p>
        </p:txBody>
      </p:sp>
      <p:graphicFrame>
        <p:nvGraphicFramePr>
          <p:cNvPr id="4" name="Gráfico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83812944"/>
              </p:ext>
            </p:extLst>
          </p:nvPr>
        </p:nvGraphicFramePr>
        <p:xfrm>
          <a:off x="6595002" y="1941141"/>
          <a:ext cx="4952564" cy="43682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79432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Overfitting</a:t>
            </a:r>
            <a:r>
              <a:rPr lang="pt-BR" dirty="0" smtClean="0"/>
              <a:t> e </a:t>
            </a:r>
            <a:r>
              <a:rPr lang="pt-BR" dirty="0" err="1" smtClean="0"/>
              <a:t>underfitting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24129" y="2286000"/>
            <a:ext cx="10175094" cy="402336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800" b="1" dirty="0" err="1" smtClean="0">
                <a:solidFill>
                  <a:schemeClr val="accent2">
                    <a:lumMod val="75000"/>
                  </a:schemeClr>
                </a:solidFill>
              </a:rPr>
              <a:t>Overfitting</a:t>
            </a:r>
            <a:r>
              <a:rPr lang="pt-BR" sz="2800" b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pt-BR" sz="2800" b="1" dirty="0">
                <a:solidFill>
                  <a:schemeClr val="accent1"/>
                </a:solidFill>
              </a:rPr>
              <a:t>d</a:t>
            </a:r>
            <a:r>
              <a:rPr lang="pt-BR" sz="2800" b="1" dirty="0" smtClean="0">
                <a:solidFill>
                  <a:schemeClr val="accent1"/>
                </a:solidFill>
              </a:rPr>
              <a:t>epende </a:t>
            </a:r>
            <a:r>
              <a:rPr lang="pt-BR" sz="2800" b="1" dirty="0" smtClean="0">
                <a:solidFill>
                  <a:schemeClr val="accent1"/>
                </a:solidFill>
              </a:rPr>
              <a:t>de saber </a:t>
            </a:r>
          </a:p>
          <a:p>
            <a:pPr marL="0" indent="0" algn="just">
              <a:buNone/>
            </a:pPr>
            <a:r>
              <a:rPr lang="pt-BR" sz="2800" b="1" dirty="0" smtClean="0">
                <a:solidFill>
                  <a:schemeClr val="accent1"/>
                </a:solidFill>
              </a:rPr>
              <a:t>se os dados viciaram</a:t>
            </a:r>
            <a:r>
              <a:rPr lang="pt-BR" sz="2800" b="1" dirty="0" smtClean="0">
                <a:solidFill>
                  <a:schemeClr val="accent1"/>
                </a:solidFill>
              </a:rPr>
              <a:t>. </a:t>
            </a:r>
          </a:p>
          <a:p>
            <a:pPr marL="0" indent="0" algn="just">
              <a:buNone/>
            </a:pPr>
            <a:endParaRPr lang="pt-BR" sz="2800" b="1" dirty="0">
              <a:solidFill>
                <a:schemeClr val="accent1"/>
              </a:solidFill>
            </a:endParaRPr>
          </a:p>
          <a:p>
            <a:pPr marL="0" indent="0" algn="just">
              <a:buNone/>
            </a:pPr>
            <a:r>
              <a:rPr lang="pt-BR" sz="2800" b="1" dirty="0" smtClean="0"/>
              <a:t>* Erro no treino diminui </a:t>
            </a:r>
          </a:p>
          <a:p>
            <a:pPr marL="0" indent="0" algn="just">
              <a:buNone/>
            </a:pPr>
            <a:r>
              <a:rPr lang="pt-BR" sz="2800" b="1" dirty="0" smtClean="0"/>
              <a:t>junto com o teste?</a:t>
            </a:r>
          </a:p>
          <a:p>
            <a:pPr marL="0" indent="0" algn="just">
              <a:buNone/>
            </a:pPr>
            <a:r>
              <a:rPr lang="pt-BR" sz="2800" b="1" dirty="0" smtClean="0"/>
              <a:t>* Erro no teste começou a subir?</a:t>
            </a:r>
            <a:endParaRPr lang="pt-BR" sz="2800" dirty="0" smtClean="0"/>
          </a:p>
        </p:txBody>
      </p:sp>
      <p:graphicFrame>
        <p:nvGraphicFramePr>
          <p:cNvPr id="4" name="Gráfico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83812944"/>
              </p:ext>
            </p:extLst>
          </p:nvPr>
        </p:nvGraphicFramePr>
        <p:xfrm>
          <a:off x="6595002" y="1941141"/>
          <a:ext cx="4952564" cy="43682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80355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Overfitting</a:t>
            </a:r>
            <a:r>
              <a:rPr lang="pt-BR" dirty="0" smtClean="0"/>
              <a:t> e </a:t>
            </a:r>
            <a:r>
              <a:rPr lang="pt-BR" dirty="0" err="1" smtClean="0"/>
              <a:t>underfitting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800" dirty="0" smtClean="0"/>
              <a:t>Um ponto de atenção importante é ter cuidado com a métrica do eixo vertical. É diferente analisar o gráfico pelo erro ou pelo acerto (acurácia). As curvas, inclusive, ficam diferentes.</a:t>
            </a:r>
          </a:p>
          <a:p>
            <a:pPr marL="0" indent="0" algn="just">
              <a:buNone/>
            </a:pPr>
            <a:endParaRPr lang="pt-BR" sz="2800" dirty="0"/>
          </a:p>
          <a:p>
            <a:pPr marL="0" indent="0" algn="just">
              <a:buNone/>
            </a:pPr>
            <a:r>
              <a:rPr lang="pt-BR" sz="2800" dirty="0" smtClean="0"/>
              <a:t>Consegue pensar por quê?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717343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Overfitting</a:t>
            </a:r>
            <a:r>
              <a:rPr lang="pt-BR" dirty="0" smtClean="0"/>
              <a:t> e </a:t>
            </a:r>
            <a:r>
              <a:rPr lang="pt-BR" dirty="0" err="1" smtClean="0"/>
              <a:t>underfitting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800" dirty="0" smtClean="0"/>
              <a:t>Em seguida, vamos entender como funciona na prática a análise da curva de aprendizado com um notebook de referência disponível no espaço virtual da disciplina:</a:t>
            </a:r>
            <a:endParaRPr lang="pt-BR" sz="2800" dirty="0" smtClean="0"/>
          </a:p>
          <a:p>
            <a:pPr marL="0" indent="0">
              <a:buNone/>
            </a:pPr>
            <a:r>
              <a:rPr lang="pt-BR" sz="2800" b="1" dirty="0" smtClean="0">
                <a:solidFill>
                  <a:schemeClr val="accent4"/>
                </a:solidFill>
              </a:rPr>
              <a:t>02_02_Curva.ipynb</a:t>
            </a:r>
            <a:endParaRPr lang="pt-BR" sz="2800" b="1" dirty="0" smtClean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0422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Lidando com dados mais complexos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800" dirty="0" smtClean="0"/>
              <a:t>Até aqui foram vistos dados numéricos e contínuos, e esses dados foram utilizados sem nenhum tratamento além de normalização.</a:t>
            </a:r>
          </a:p>
          <a:p>
            <a:pPr marL="0" indent="0" algn="just">
              <a:buNone/>
            </a:pPr>
            <a:r>
              <a:rPr lang="pt-BR" sz="2800" dirty="0" smtClean="0"/>
              <a:t>Mas como os dados abaixo são interpretados por um modelo?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0183223"/>
              </p:ext>
            </p:extLst>
          </p:nvPr>
        </p:nvGraphicFramePr>
        <p:xfrm>
          <a:off x="5140958" y="4084320"/>
          <a:ext cx="1354667" cy="2225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72664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Estado civil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45453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Solteiro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57741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Casado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8619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Divorciado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02364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Casado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2177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Divorciado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22675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8177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Lidando com dados mais complexos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800" dirty="0" smtClean="0"/>
              <a:t>Esse tipo de dado é chamado de categórico, e há menos que exista um </a:t>
            </a:r>
            <a:r>
              <a:rPr lang="pt-BR" sz="2800" dirty="0" err="1" smtClean="0"/>
              <a:t>rankeamento</a:t>
            </a:r>
            <a:r>
              <a:rPr lang="pt-BR" sz="2800" dirty="0" smtClean="0"/>
              <a:t> entre os valores, eles devem ser representados por uma técnica chamada “</a:t>
            </a:r>
            <a:r>
              <a:rPr lang="pt-BR" sz="2800" dirty="0" err="1" smtClean="0"/>
              <a:t>one</a:t>
            </a:r>
            <a:r>
              <a:rPr lang="pt-BR" sz="2800" dirty="0" smtClean="0"/>
              <a:t>-hot” </a:t>
            </a:r>
            <a:r>
              <a:rPr lang="pt-BR" sz="2800" dirty="0" err="1" smtClean="0"/>
              <a:t>encoding</a:t>
            </a:r>
            <a:r>
              <a:rPr lang="pt-BR" sz="2800" dirty="0" smtClean="0"/>
              <a:t>: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1984008"/>
              </p:ext>
            </p:extLst>
          </p:nvPr>
        </p:nvGraphicFramePr>
        <p:xfrm>
          <a:off x="2902856" y="4084320"/>
          <a:ext cx="6773335" cy="2225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726642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2416775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9004210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96804890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1958542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Estado civil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Solteiro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Casado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Divorciado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5453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Solteiro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X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7741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Casado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X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8619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Divorciado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X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2364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Casado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X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2177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Divorciado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X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2675434"/>
                  </a:ext>
                </a:extLst>
              </a:tr>
            </a:tbl>
          </a:graphicData>
        </a:graphic>
      </p:graphicFrame>
      <p:sp>
        <p:nvSpPr>
          <p:cNvPr id="4" name="Seta para a Direita 3"/>
          <p:cNvSpPr/>
          <p:nvPr/>
        </p:nvSpPr>
        <p:spPr>
          <a:xfrm>
            <a:off x="4641669" y="5129348"/>
            <a:ext cx="670560" cy="4702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8833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Lidando com dados mais complexos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800" dirty="0" smtClean="0"/>
              <a:t>Supondo que um estado civil fosse “melhor” que outro para um determinado tipo de problema, então eles poderiam assumir valores numéricos e ocupar uma única coluna: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9527056"/>
              </p:ext>
            </p:extLst>
          </p:nvPr>
        </p:nvGraphicFramePr>
        <p:xfrm>
          <a:off x="3852163" y="4084320"/>
          <a:ext cx="4064001" cy="2225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726642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2416775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900421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Estado civil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Estado civil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5453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Solteiro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7741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Casado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2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8619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Divorciado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2364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Casado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2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2177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Divorciado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2675434"/>
                  </a:ext>
                </a:extLst>
              </a:tr>
            </a:tbl>
          </a:graphicData>
        </a:graphic>
      </p:graphicFrame>
      <p:sp>
        <p:nvSpPr>
          <p:cNvPr id="6" name="Seta para a Direita 5"/>
          <p:cNvSpPr/>
          <p:nvPr/>
        </p:nvSpPr>
        <p:spPr>
          <a:xfrm>
            <a:off x="5548883" y="4961708"/>
            <a:ext cx="670560" cy="4702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1397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Lidando com dados mais complexos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800" dirty="0" smtClean="0"/>
              <a:t>Algumas amostras podem ter atributos não-preenchidos. </a:t>
            </a:r>
            <a:r>
              <a:rPr lang="pt-BR" sz="2800" dirty="0" smtClean="0">
                <a:solidFill>
                  <a:srgbClr val="FF0000"/>
                </a:solidFill>
              </a:rPr>
              <a:t>Normalmente</a:t>
            </a:r>
            <a:r>
              <a:rPr lang="pt-BR" sz="2800" dirty="0" smtClean="0"/>
              <a:t>, adota-se a estratégia de </a:t>
            </a:r>
            <a:r>
              <a:rPr lang="pt-BR" sz="2800" dirty="0" smtClean="0">
                <a:solidFill>
                  <a:srgbClr val="FF0000"/>
                </a:solidFill>
              </a:rPr>
              <a:t>tentar preenchê-los de forma sintética</a:t>
            </a:r>
            <a:r>
              <a:rPr lang="pt-BR" sz="2800" dirty="0" smtClean="0"/>
              <a:t>, com alguma medida estatística.</a:t>
            </a:r>
          </a:p>
          <a:p>
            <a:pPr marL="0" indent="0" algn="just">
              <a:buNone/>
            </a:pPr>
            <a:endParaRPr lang="pt-BR" sz="2800" dirty="0"/>
          </a:p>
          <a:p>
            <a:pPr marL="0" indent="0" algn="just">
              <a:buNone/>
            </a:pPr>
            <a:r>
              <a:rPr lang="pt-BR" sz="2800" dirty="0" smtClean="0">
                <a:solidFill>
                  <a:schemeClr val="accent1"/>
                </a:solidFill>
              </a:rPr>
              <a:t>Se houver muitas amostras</a:t>
            </a:r>
            <a:r>
              <a:rPr lang="pt-BR" sz="2800" dirty="0" smtClean="0"/>
              <a:t> (MUITAS MESMO) e as amostras com atributos não preenchidos não for a maior parcela, </a:t>
            </a:r>
            <a:r>
              <a:rPr lang="pt-BR" sz="2800" dirty="0" smtClean="0">
                <a:solidFill>
                  <a:schemeClr val="accent1"/>
                </a:solidFill>
              </a:rPr>
              <a:t>essas amostras podem ser removidas</a:t>
            </a:r>
            <a:r>
              <a:rPr lang="pt-BR" sz="28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347871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Lidando com dados mais complexos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800" dirty="0" smtClean="0"/>
              <a:t>Algumas amostras podem ter atributos não-preenchidos. </a:t>
            </a:r>
            <a:r>
              <a:rPr lang="pt-BR" sz="2800" dirty="0" smtClean="0">
                <a:solidFill>
                  <a:srgbClr val="FF0000"/>
                </a:solidFill>
              </a:rPr>
              <a:t>Normalmente</a:t>
            </a:r>
            <a:r>
              <a:rPr lang="pt-BR" sz="2800" dirty="0" smtClean="0"/>
              <a:t>, adota-se a estratégia de </a:t>
            </a:r>
            <a:r>
              <a:rPr lang="pt-BR" sz="2800" dirty="0" smtClean="0">
                <a:solidFill>
                  <a:srgbClr val="FF0000"/>
                </a:solidFill>
              </a:rPr>
              <a:t>tentar preenchê-los de forma sintética</a:t>
            </a:r>
            <a:r>
              <a:rPr lang="pt-BR" sz="2800" dirty="0" smtClean="0"/>
              <a:t>, com alguma medida estatística.</a:t>
            </a:r>
          </a:p>
          <a:p>
            <a:pPr marL="0" indent="0" algn="just">
              <a:buNone/>
            </a:pPr>
            <a:endParaRPr lang="pt-BR" sz="2800" dirty="0"/>
          </a:p>
          <a:p>
            <a:pPr marL="0" indent="0" algn="just">
              <a:buNone/>
            </a:pPr>
            <a:r>
              <a:rPr lang="pt-BR" sz="2800" dirty="0" smtClean="0">
                <a:solidFill>
                  <a:schemeClr val="accent1"/>
                </a:solidFill>
              </a:rPr>
              <a:t>Se houver muitas amostras</a:t>
            </a:r>
            <a:r>
              <a:rPr lang="pt-BR" sz="2800" dirty="0" smtClean="0"/>
              <a:t> (MUITAS MESMO) e as amostras com atributos não preenchidos não for a maior parcela, </a:t>
            </a:r>
            <a:r>
              <a:rPr lang="pt-BR" sz="2800" dirty="0" smtClean="0">
                <a:solidFill>
                  <a:schemeClr val="accent1"/>
                </a:solidFill>
              </a:rPr>
              <a:t>essas amostras podem ser removidas</a:t>
            </a:r>
            <a:r>
              <a:rPr lang="pt-BR" sz="2800" dirty="0" smtClean="0"/>
              <a:t>.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5085805" y="5864197"/>
            <a:ext cx="5886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accent1">
                    <a:lumMod val="75000"/>
                  </a:schemeClr>
                </a:solidFill>
              </a:rPr>
              <a:t>Quando usar uma ou outra?</a:t>
            </a:r>
            <a:endParaRPr lang="pt-BR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15777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Lidando com dados mais complexos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800" dirty="0" smtClean="0"/>
              <a:t>Em seguida, vamos entender como funciona na prática a análise da curva de aprendizado com um notebook de referência disponível no espaço virtual da disciplina:</a:t>
            </a:r>
            <a:endParaRPr lang="pt-BR" sz="2800" dirty="0" smtClean="0"/>
          </a:p>
          <a:p>
            <a:pPr marL="0" indent="0">
              <a:buNone/>
            </a:pPr>
            <a:r>
              <a:rPr lang="pt-BR" sz="2800" b="1" dirty="0" smtClean="0">
                <a:solidFill>
                  <a:schemeClr val="accent4"/>
                </a:solidFill>
              </a:rPr>
              <a:t>02_03_PreProcessamento.ipynb</a:t>
            </a:r>
            <a:endParaRPr lang="pt-BR" sz="2800" b="1" dirty="0" smtClean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29689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Para o próximo encontro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800" dirty="0" smtClean="0">
                <a:solidFill>
                  <a:schemeClr val="accent1"/>
                </a:solidFill>
              </a:rPr>
              <a:t>Competição: Porto </a:t>
            </a:r>
            <a:r>
              <a:rPr lang="pt-BR" sz="2800" dirty="0" err="1" smtClean="0">
                <a:solidFill>
                  <a:schemeClr val="accent1"/>
                </a:solidFill>
              </a:rPr>
              <a:t>Seguro’s</a:t>
            </a:r>
            <a:r>
              <a:rPr lang="pt-BR" sz="2800" dirty="0" smtClean="0">
                <a:solidFill>
                  <a:schemeClr val="accent1"/>
                </a:solidFill>
              </a:rPr>
              <a:t> Safe Driver </a:t>
            </a:r>
            <a:r>
              <a:rPr lang="pt-BR" sz="2800" dirty="0" err="1" smtClean="0">
                <a:solidFill>
                  <a:schemeClr val="accent1"/>
                </a:solidFill>
              </a:rPr>
              <a:t>Prediction</a:t>
            </a:r>
            <a:r>
              <a:rPr lang="pt-BR" sz="2800" dirty="0" smtClean="0">
                <a:solidFill>
                  <a:schemeClr val="accent1"/>
                </a:solidFill>
              </a:rPr>
              <a:t>.	</a:t>
            </a:r>
            <a:endParaRPr lang="pt-BR" sz="2800" dirty="0" smtClean="0">
              <a:solidFill>
                <a:schemeClr val="accent1"/>
              </a:solidFill>
            </a:endParaRPr>
          </a:p>
          <a:p>
            <a:pPr marL="0" indent="0" algn="just">
              <a:buNone/>
            </a:pPr>
            <a:r>
              <a:rPr lang="pt-BR" sz="2800" dirty="0"/>
              <a:t>Disponível em </a:t>
            </a:r>
            <a:r>
              <a:rPr lang="pt-BR" sz="2000" dirty="0">
                <a:solidFill>
                  <a:schemeClr val="accent1">
                    <a:lumMod val="75000"/>
                  </a:schemeClr>
                </a:solidFill>
                <a:hlinkClick r:id="rId2"/>
              </a:rPr>
              <a:t>https://</a:t>
            </a:r>
            <a:r>
              <a:rPr lang="pt-BR" sz="2000" dirty="0" smtClean="0">
                <a:solidFill>
                  <a:schemeClr val="accent1">
                    <a:lumMod val="75000"/>
                  </a:schemeClr>
                </a:solidFill>
                <a:hlinkClick r:id="rId2"/>
              </a:rPr>
              <a:t>www.kaggle.com/c/porto-seguro-safe-driver-prediction</a:t>
            </a:r>
            <a:endParaRPr lang="pt-BR" sz="20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0" indent="0" algn="just">
              <a:buNone/>
            </a:pPr>
            <a:endParaRPr lang="pt-BR" sz="24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 algn="just">
              <a:buNone/>
            </a:pPr>
            <a:r>
              <a:rPr lang="pt-BR" sz="2400" dirty="0" smtClean="0"/>
              <a:t>Montar grupos com até 4 integrantes, entregar até </a:t>
            </a:r>
            <a:r>
              <a:rPr lang="pt-BR" sz="2400" u="sng" dirty="0" smtClean="0">
                <a:solidFill>
                  <a:srgbClr val="FF0000"/>
                </a:solidFill>
              </a:rPr>
              <a:t>23h59 de 22/02/2019</a:t>
            </a:r>
            <a:r>
              <a:rPr lang="pt-BR" sz="2400" dirty="0" smtClean="0"/>
              <a:t>:</a:t>
            </a:r>
          </a:p>
          <a:p>
            <a:pPr algn="just">
              <a:buFontTx/>
              <a:buChar char="-"/>
            </a:pPr>
            <a:r>
              <a:rPr lang="pt-BR" sz="2400" dirty="0" smtClean="0"/>
              <a:t>Notebook da submissão no </a:t>
            </a:r>
            <a:r>
              <a:rPr lang="pt-BR" sz="2400" dirty="0" err="1" smtClean="0"/>
              <a:t>Kaggle</a:t>
            </a:r>
            <a:r>
              <a:rPr lang="pt-BR" sz="2400" dirty="0" smtClean="0"/>
              <a:t>;</a:t>
            </a:r>
          </a:p>
          <a:p>
            <a:pPr algn="just">
              <a:buFontTx/>
              <a:buChar char="-"/>
            </a:pPr>
            <a:r>
              <a:rPr lang="pt-BR" sz="2400" dirty="0" smtClean="0"/>
              <a:t>Documento contendo a descrição do que foi feito e o nome da pessoa ou do grupo responsável pela submissão no </a:t>
            </a:r>
            <a:r>
              <a:rPr lang="pt-BR" sz="2400" dirty="0" err="1" smtClean="0"/>
              <a:t>Kaggle</a:t>
            </a:r>
            <a:r>
              <a:rPr lang="pt-BR" sz="2400" dirty="0" smtClean="0"/>
              <a:t>; e</a:t>
            </a:r>
          </a:p>
          <a:p>
            <a:pPr algn="just">
              <a:buFontTx/>
              <a:buChar char="-"/>
            </a:pPr>
            <a:r>
              <a:rPr lang="pt-BR" sz="2400" dirty="0" smtClean="0"/>
              <a:t>Slides para o </a:t>
            </a:r>
            <a:r>
              <a:rPr lang="pt-BR" sz="2400" dirty="0" err="1" smtClean="0"/>
              <a:t>pitch</a:t>
            </a:r>
            <a:r>
              <a:rPr lang="pt-BR" sz="2400" dirty="0" smtClean="0"/>
              <a:t> de 3 minutos explicando a solução.</a:t>
            </a:r>
            <a:endParaRPr lang="pt-BR" sz="2800" dirty="0" smtClean="0"/>
          </a:p>
        </p:txBody>
      </p:sp>
    </p:spTree>
    <p:extLst>
      <p:ext uri="{BB962C8B-B14F-4D97-AF65-F5344CB8AC3E}">
        <p14:creationId xmlns:p14="http://schemas.microsoft.com/office/powerpoint/2010/main" val="19461580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3898</TotalTime>
  <Words>626</Words>
  <Application>Microsoft Office PowerPoint</Application>
  <PresentationFormat>Widescreen</PresentationFormat>
  <Paragraphs>97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0" baseType="lpstr">
      <vt:lpstr>Tw Cen MT</vt:lpstr>
      <vt:lpstr>Tw Cen MT Condensed</vt:lpstr>
      <vt:lpstr>Wingdings 3</vt:lpstr>
      <vt:lpstr>Integral</vt:lpstr>
      <vt:lpstr>Aplicações em aprendizado de máquina 2019/1</vt:lpstr>
      <vt:lpstr>SEGUNDO ENCONTRO</vt:lpstr>
      <vt:lpstr>LER ARQUIVOS DADOS E PREPARAR UM EXPERIMENTO</vt:lpstr>
      <vt:lpstr>Overfitting e underfitting</vt:lpstr>
      <vt:lpstr>Overfitting e underfitting</vt:lpstr>
      <vt:lpstr>Overfitting e underfitting</vt:lpstr>
      <vt:lpstr>Overfitting e underfitting</vt:lpstr>
      <vt:lpstr>Overfitting e underfitting</vt:lpstr>
      <vt:lpstr>Overfitting e underfitting</vt:lpstr>
      <vt:lpstr>Lidando com dados mais complexos</vt:lpstr>
      <vt:lpstr>Lidando com dados mais complexos</vt:lpstr>
      <vt:lpstr>Lidando com dados mais complexos</vt:lpstr>
      <vt:lpstr>Lidando com dados mais complexos</vt:lpstr>
      <vt:lpstr>Lidando com dados mais complexos</vt:lpstr>
      <vt:lpstr>Lidando com dados mais complexos</vt:lpstr>
      <vt:lpstr>Para o próximo encontro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Aplicações em aprendizado de máquina 2019/1</dc:title>
  <dc:creator>Johannes Lochter</dc:creator>
  <cp:lastModifiedBy>Johannes Lochter</cp:lastModifiedBy>
  <cp:revision>48</cp:revision>
  <dcterms:created xsi:type="dcterms:W3CDTF">2019-01-24T15:28:39Z</dcterms:created>
  <dcterms:modified xsi:type="dcterms:W3CDTF">2019-02-08T20:26:46Z</dcterms:modified>
</cp:coreProperties>
</file>