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Diniz" userId="663df9ca63940922" providerId="LiveId" clId="{E176E728-FD3F-413A-B690-951052F826C5}"/>
    <pc:docChg chg="modSld">
      <pc:chgData name="José Diniz" userId="663df9ca63940922" providerId="LiveId" clId="{E176E728-FD3F-413A-B690-951052F826C5}" dt="2019-02-23T00:23:48.109" v="25" actId="20577"/>
      <pc:docMkLst>
        <pc:docMk/>
      </pc:docMkLst>
      <pc:sldChg chg="modSp">
        <pc:chgData name="José Diniz" userId="663df9ca63940922" providerId="LiveId" clId="{E176E728-FD3F-413A-B690-951052F826C5}" dt="2019-02-23T00:23:48.109" v="25" actId="20577"/>
        <pc:sldMkLst>
          <pc:docMk/>
          <pc:sldMk cId="0" sldId="259"/>
        </pc:sldMkLst>
        <pc:spChg chg="mod">
          <ac:chgData name="José Diniz" userId="663df9ca63940922" providerId="LiveId" clId="{E176E728-FD3F-413A-B690-951052F826C5}" dt="2019-02-23T00:23:48.109" v="25" actId="20577"/>
          <ac:spMkLst>
            <pc:docMk/>
            <pc:sldMk cId="0" sldId="259"/>
            <ac:spMk id="5" creationId="{00000000-0000-0000-0000-000000000000}"/>
          </ac:spMkLst>
        </pc:spChg>
      </pc:sldChg>
    </pc:docChg>
  </pc:docChgLst>
  <pc:docChgLst>
    <pc:chgData clId="Web-{D6EC2C18-7754-4CEF-A1EF-6D99ED028B1B}"/>
    <pc:docChg chg="modSld">
      <pc:chgData name="" userId="" providerId="" clId="Web-{D6EC2C18-7754-4CEF-A1EF-6D99ED028B1B}" dt="2019-02-23T01:43:19.899" v="45" actId="20577"/>
      <pc:docMkLst>
        <pc:docMk/>
      </pc:docMkLst>
      <pc:sldChg chg="modSp">
        <pc:chgData name="" userId="" providerId="" clId="Web-{D6EC2C18-7754-4CEF-A1EF-6D99ED028B1B}" dt="2019-02-23T01:43:19.899" v="44" actId="20577"/>
        <pc:sldMkLst>
          <pc:docMk/>
          <pc:sldMk cId="0" sldId="259"/>
        </pc:sldMkLst>
        <pc:spChg chg="mod">
          <ac:chgData name="" userId="" providerId="" clId="Web-{D6EC2C18-7754-4CEF-A1EF-6D99ED028B1B}" dt="2019-02-23T01:43:19.899" v="44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" userId="" providerId="" clId="Web-{D6EC2C18-7754-4CEF-A1EF-6D99ED028B1B}" dt="2019-02-23T01:42:12.227" v="38" actId="20577"/>
        <pc:sldMkLst>
          <pc:docMk/>
          <pc:sldMk cId="0" sldId="260"/>
        </pc:sldMkLst>
        <pc:spChg chg="mod">
          <ac:chgData name="" userId="" providerId="" clId="Web-{D6EC2C18-7754-4CEF-A1EF-6D99ED028B1B}" dt="2019-02-23T01:42:12.227" v="38" actId="20577"/>
          <ac:spMkLst>
            <pc:docMk/>
            <pc:sldMk cId="0" sldId="260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ângulo isósceles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95332C75-D6E4-4579-9A5B-CB8CABB8CF0F}" type="datetimeFigureOut">
              <a:rPr lang="pt-BR" smtClean="0"/>
              <a:pPr/>
              <a:t>08/03/2019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95332C75-D6E4-4579-9A5B-CB8CABB8CF0F}" type="datetimeFigureOut">
              <a:rPr lang="pt-BR" smtClean="0"/>
              <a:pPr/>
              <a:t>08/03/2019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ângulo retângulo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riângulo isósceles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95332C75-D6E4-4579-9A5B-CB8CABB8CF0F}" type="datetimeFigureOut">
              <a:rPr lang="pt-BR" smtClean="0"/>
              <a:pPr/>
              <a:t>08/03/2019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11" name="Conector reto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95332C75-D6E4-4579-9A5B-CB8CABB8CF0F}" type="datetimeFigureOut">
              <a:rPr lang="pt-BR" smtClean="0"/>
              <a:pPr/>
              <a:t>08/03/2019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95332C75-D6E4-4579-9A5B-CB8CABB8CF0F}" type="datetimeFigureOut">
              <a:rPr lang="pt-BR" smtClean="0"/>
              <a:pPr/>
              <a:t>08/03/2019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2C75-D6E4-4579-9A5B-CB8CABB8CF0F}" type="datetimeFigureOut">
              <a:rPr lang="pt-BR" smtClean="0"/>
              <a:pPr/>
              <a:t>08/03/2019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95332C75-D6E4-4579-9A5B-CB8CABB8CF0F}" type="datetimeFigureOut">
              <a:rPr lang="pt-BR" smtClean="0"/>
              <a:pPr/>
              <a:t>08/03/2019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95332C75-D6E4-4579-9A5B-CB8CABB8CF0F}" type="datetimeFigureOut">
              <a:rPr lang="pt-BR" smtClean="0"/>
              <a:pPr/>
              <a:t>08/03/2019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95332C75-D6E4-4579-9A5B-CB8CABB8CF0F}" type="datetimeFigureOut">
              <a:rPr lang="pt-BR" smtClean="0"/>
              <a:pPr/>
              <a:t>08/03/2019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2C75-D6E4-4579-9A5B-CB8CABB8CF0F}" type="datetimeFigureOut">
              <a:rPr lang="pt-BR" smtClean="0"/>
              <a:pPr/>
              <a:t>08/03/2019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2C75-D6E4-4579-9A5B-CB8CABB8CF0F}" type="datetimeFigureOut">
              <a:rPr lang="pt-BR" smtClean="0"/>
              <a:pPr/>
              <a:t>08/03/2019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ângulo retângulo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Conector reto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95332C75-D6E4-4579-9A5B-CB8CABB8CF0F}" type="datetimeFigureOut">
              <a:rPr lang="pt-BR" smtClean="0"/>
              <a:pPr/>
              <a:t>08/03/2019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324544" y="836712"/>
            <a:ext cx="9144000" cy="1470025"/>
          </a:xfrm>
        </p:spPr>
        <p:txBody>
          <a:bodyPr>
            <a:normAutofit fontScale="90000"/>
          </a:bodyPr>
          <a:lstStyle/>
          <a:p>
            <a:r>
              <a:rPr lang="pt-BR" dirty="0"/>
              <a:t>Aplicações em Machine </a:t>
            </a:r>
            <a:r>
              <a:rPr lang="pt-BR" dirty="0" err="1"/>
              <a:t>Learning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Atividade 02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39552" y="4725144"/>
            <a:ext cx="6984776" cy="1752600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Ciro Mora RA:111310</a:t>
            </a:r>
          </a:p>
          <a:p>
            <a:r>
              <a:rPr lang="pt-BR" dirty="0"/>
              <a:t>José Diniz RA:183134</a:t>
            </a:r>
          </a:p>
          <a:p>
            <a:r>
              <a:rPr lang="pt-BR" dirty="0"/>
              <a:t>Renan </a:t>
            </a:r>
            <a:r>
              <a:rPr lang="pt-BR" dirty="0" err="1"/>
              <a:t>Renger</a:t>
            </a:r>
            <a:r>
              <a:rPr lang="pt-BR" dirty="0"/>
              <a:t> RA:183148</a:t>
            </a:r>
          </a:p>
          <a:p>
            <a:r>
              <a:rPr lang="pt-BR" dirty="0"/>
              <a:t>Roberto Rodrigues RA:060235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1520" y="704088"/>
            <a:ext cx="8640960" cy="1143000"/>
          </a:xfrm>
        </p:spPr>
        <p:txBody>
          <a:bodyPr>
            <a:normAutofit/>
          </a:bodyPr>
          <a:lstStyle/>
          <a:p>
            <a:r>
              <a:rPr lang="pt-BR" dirty="0"/>
              <a:t>Análise dos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404772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dirty="0"/>
              <a:t>Distribuição dos </a:t>
            </a:r>
            <a:r>
              <a:rPr lang="pt-BR" dirty="0" smtClean="0"/>
              <a:t>atributos (tipo de dado);</a:t>
            </a:r>
          </a:p>
          <a:p>
            <a:pPr algn="just"/>
            <a:r>
              <a:rPr lang="pt-BR" dirty="0" smtClean="0"/>
              <a:t>Análise da distribuição das classes;</a:t>
            </a:r>
          </a:p>
          <a:p>
            <a:pPr lvl="1" algn="just"/>
            <a:r>
              <a:rPr lang="pt-BR" dirty="0" smtClean="0"/>
              <a:t>3,78% (21.694) dos 595.212 registros ocorreram acionamento do seguro.</a:t>
            </a:r>
          </a:p>
          <a:p>
            <a:pPr algn="just"/>
            <a:r>
              <a:rPr lang="pt-BR" dirty="0" smtClean="0"/>
              <a:t>Dados </a:t>
            </a:r>
            <a:r>
              <a:rPr lang="pt-BR" dirty="0"/>
              <a:t>faltantes;</a:t>
            </a:r>
          </a:p>
          <a:p>
            <a:pPr lvl="1" algn="just"/>
            <a:r>
              <a:rPr lang="pt-BR" dirty="0"/>
              <a:t>Limiar de remoção de 42,5%.</a:t>
            </a:r>
          </a:p>
          <a:p>
            <a:pPr lvl="1" algn="just"/>
            <a:r>
              <a:rPr lang="pt-BR" dirty="0" err="1"/>
              <a:t>Interval</a:t>
            </a:r>
            <a:r>
              <a:rPr lang="pt-BR" dirty="0"/>
              <a:t> -&gt; média.</a:t>
            </a:r>
          </a:p>
          <a:p>
            <a:pPr lvl="1" algn="just"/>
            <a:r>
              <a:rPr lang="pt-BR" dirty="0"/>
              <a:t>Ordinal -&gt; moda.</a:t>
            </a:r>
          </a:p>
          <a:p>
            <a:pPr algn="just"/>
            <a:r>
              <a:rPr lang="pt-BR" dirty="0" smtClean="0"/>
              <a:t>Dados </a:t>
            </a:r>
            <a:r>
              <a:rPr lang="pt-BR" dirty="0"/>
              <a:t>categóricos;</a:t>
            </a:r>
          </a:p>
          <a:p>
            <a:pPr lvl="1" algn="just"/>
            <a:r>
              <a:rPr lang="pt-BR" dirty="0" err="1" smtClean="0"/>
              <a:t>One-hot</a:t>
            </a:r>
            <a:r>
              <a:rPr lang="pt-BR" dirty="0" smtClean="0"/>
              <a:t> </a:t>
            </a:r>
            <a:r>
              <a:rPr lang="pt-BR" dirty="0" err="1"/>
              <a:t>encoding</a:t>
            </a:r>
            <a:r>
              <a:rPr lang="pt-BR" dirty="0" smtClean="0"/>
              <a:t>.</a:t>
            </a:r>
          </a:p>
          <a:p>
            <a:pPr algn="just"/>
            <a:r>
              <a:rPr lang="pt-BR" dirty="0" smtClean="0"/>
              <a:t>Normalização dos dados;</a:t>
            </a:r>
          </a:p>
          <a:p>
            <a:pPr lvl="1" algn="just"/>
            <a:r>
              <a:rPr lang="pt-BR" dirty="0" err="1" smtClean="0"/>
              <a:t>MinMaxScaler</a:t>
            </a:r>
            <a:r>
              <a:rPr lang="pt-BR" dirty="0" smtClean="0"/>
              <a:t>.</a:t>
            </a:r>
          </a:p>
          <a:p>
            <a:pPr lvl="1" algn="just">
              <a:buNone/>
            </a:pPr>
            <a:endParaRPr lang="pt-BR" dirty="0" smtClean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29600" cy="1399032"/>
          </a:xfrm>
        </p:spPr>
        <p:txBody>
          <a:bodyPr/>
          <a:lstStyle/>
          <a:p>
            <a:r>
              <a:rPr lang="pt-BR" dirty="0"/>
              <a:t>Inicio do treinamento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97572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dirty="0" smtClean="0"/>
              <a:t>Na tentativa de balancear as classes,  optou-se em dividir os dados de treino, em 10.000 registros com ocorrências e 9.000 sem ocorrências, utilizando os mesmo na divisão de teste e treino (</a:t>
            </a:r>
            <a:r>
              <a:rPr lang="pt-BR" dirty="0" err="1" smtClean="0"/>
              <a:t>split</a:t>
            </a:r>
            <a:r>
              <a:rPr lang="pt-BR" dirty="0" smtClean="0"/>
              <a:t>, sendo 30% em teste).</a:t>
            </a:r>
            <a:endParaRPr lang="pt-BR" dirty="0"/>
          </a:p>
          <a:p>
            <a:pPr algn="just"/>
            <a:r>
              <a:rPr lang="pt-BR" dirty="0" smtClean="0"/>
              <a:t>Afim </a:t>
            </a:r>
            <a:r>
              <a:rPr lang="pt-BR" dirty="0"/>
              <a:t>da obtenção de </a:t>
            </a:r>
            <a:r>
              <a:rPr lang="pt-BR" dirty="0" smtClean="0"/>
              <a:t>resultados</a:t>
            </a:r>
            <a:r>
              <a:rPr lang="pt-BR" dirty="0"/>
              <a:t>, partimos para a utilização de alguns algoritmos se baseando  em um conjunto de </a:t>
            </a:r>
            <a:r>
              <a:rPr lang="pt-BR" dirty="0" smtClean="0"/>
              <a:t>resultados, focando no coeficiente Gini (utilizado para medir a desigualdade de rendimentos</a:t>
            </a:r>
            <a:r>
              <a:rPr lang="pt-BR" dirty="0" smtClean="0"/>
              <a:t>).</a:t>
            </a:r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399032"/>
          </a:xfrm>
        </p:spPr>
        <p:txBody>
          <a:bodyPr/>
          <a:lstStyle/>
          <a:p>
            <a:r>
              <a:rPr lang="pt-BR" dirty="0"/>
              <a:t>Análise dos resultados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988840"/>
            <a:ext cx="4608512" cy="1985344"/>
          </a:xfrm>
        </p:spPr>
        <p:txBody>
          <a:bodyPr>
            <a:normAutofit fontScale="70000" lnSpcReduction="20000"/>
          </a:bodyPr>
          <a:lstStyle/>
          <a:p>
            <a:pPr marL="448056" lvl="1" indent="-384048">
              <a:buSzPct val="80000"/>
              <a:buFont typeface="Wingdings 2"/>
              <a:buChar char=""/>
            </a:pPr>
            <a:r>
              <a:rPr lang="pt-BR" b="1" dirty="0"/>
              <a:t>Regressão </a:t>
            </a:r>
            <a:r>
              <a:rPr lang="pt-BR" b="1" dirty="0" smtClean="0"/>
              <a:t>Logística (‘</a:t>
            </a:r>
            <a:r>
              <a:rPr lang="pt-BR" b="1" dirty="0" err="1" smtClean="0"/>
              <a:t>lbfgs</a:t>
            </a:r>
            <a:r>
              <a:rPr lang="pt-BR" b="1" dirty="0" smtClean="0"/>
              <a:t>’)</a:t>
            </a:r>
            <a:endParaRPr lang="pt-BR" dirty="0"/>
          </a:p>
          <a:p>
            <a:pPr lvl="1"/>
            <a:r>
              <a:rPr lang="pt-BR" dirty="0" err="1" smtClean="0"/>
              <a:t>Acurácia</a:t>
            </a:r>
            <a:r>
              <a:rPr lang="pt-BR" dirty="0" smtClean="0"/>
              <a:t>: 0.615942%</a:t>
            </a:r>
          </a:p>
          <a:p>
            <a:pPr lvl="1"/>
            <a:r>
              <a:rPr lang="pt-BR" dirty="0" smtClean="0"/>
              <a:t>Recall: 0.553874%</a:t>
            </a:r>
          </a:p>
          <a:p>
            <a:pPr lvl="1"/>
            <a:r>
              <a:rPr lang="pt-BR" dirty="0" smtClean="0"/>
              <a:t>Precisão: 0.029153%</a:t>
            </a:r>
          </a:p>
          <a:p>
            <a:pPr lvl="1"/>
            <a:r>
              <a:rPr lang="pt-BR" dirty="0" err="1" smtClean="0"/>
              <a:t>Log</a:t>
            </a:r>
            <a:r>
              <a:rPr lang="pt-BR" dirty="0" smtClean="0"/>
              <a:t> </a:t>
            </a:r>
            <a:r>
              <a:rPr lang="pt-BR" dirty="0" err="1" smtClean="0"/>
              <a:t>Loss</a:t>
            </a:r>
            <a:r>
              <a:rPr lang="pt-BR" dirty="0" smtClean="0"/>
              <a:t>: 0.673028</a:t>
            </a:r>
          </a:p>
          <a:p>
            <a:pPr lvl="1"/>
            <a:r>
              <a:rPr lang="pt-BR" dirty="0" smtClean="0"/>
              <a:t>F1 </a:t>
            </a:r>
            <a:r>
              <a:rPr lang="pt-BR" dirty="0" err="1" smtClean="0"/>
              <a:t>Score</a:t>
            </a:r>
            <a:r>
              <a:rPr lang="pt-BR" dirty="0" smtClean="0"/>
              <a:t>: 0.05539</a:t>
            </a:r>
          </a:p>
          <a:p>
            <a:pPr lvl="1"/>
            <a:r>
              <a:rPr lang="pt-BR" dirty="0" err="1" smtClean="0"/>
              <a:t>Gini</a:t>
            </a:r>
            <a:r>
              <a:rPr lang="pt-BR" dirty="0" smtClean="0"/>
              <a:t>: 0.172176</a:t>
            </a:r>
            <a:endParaRPr lang="pt-BR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4644008" y="2060848"/>
            <a:ext cx="4104456" cy="2808312"/>
          </a:xfrm>
          <a:prstGeom prst="rect">
            <a:avLst/>
          </a:prstGeom>
        </p:spPr>
        <p:txBody>
          <a:bodyPr vert="horz" anchor="t">
            <a:normAutofit fontScale="62500" lnSpcReduction="20000"/>
          </a:bodyPr>
          <a:lstStyle/>
          <a:p>
            <a:pPr marL="448056" lvl="0" indent="-384048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pt-BR" sz="2600" b="1" dirty="0" smtClean="0"/>
              <a:t>XGB </a:t>
            </a:r>
            <a:r>
              <a:rPr lang="pt-BR" sz="2600" dirty="0" smtClean="0"/>
              <a:t>(</a:t>
            </a:r>
            <a:r>
              <a:rPr lang="en-US" sz="2600" dirty="0" err="1" smtClean="0"/>
              <a:t>colsample_bytree</a:t>
            </a:r>
            <a:r>
              <a:rPr lang="en-US" sz="2600" dirty="0" smtClean="0"/>
              <a:t>: 0.8, </a:t>
            </a:r>
            <a:r>
              <a:rPr lang="en-US" sz="2600" dirty="0" err="1" smtClean="0"/>
              <a:t>learning_rate</a:t>
            </a:r>
            <a:r>
              <a:rPr lang="en-US" sz="2600" dirty="0" smtClean="0"/>
              <a:t>: 0.2, </a:t>
            </a:r>
            <a:r>
              <a:rPr lang="en-US" sz="2600" dirty="0" err="1" smtClean="0"/>
              <a:t>max_depth</a:t>
            </a:r>
            <a:r>
              <a:rPr lang="en-US" sz="2600" dirty="0" smtClean="0"/>
              <a:t>: 2, </a:t>
            </a:r>
            <a:r>
              <a:rPr lang="en-US" sz="2600" dirty="0" err="1" smtClean="0"/>
              <a:t>min_child_weight</a:t>
            </a:r>
            <a:r>
              <a:rPr lang="en-US" sz="2600" dirty="0" smtClean="0"/>
              <a:t>: 16, </a:t>
            </a:r>
            <a:r>
              <a:rPr lang="en-US" sz="2600" dirty="0" err="1" smtClean="0"/>
              <a:t>n_estimators</a:t>
            </a:r>
            <a:r>
              <a:rPr lang="en-US" sz="2600" dirty="0" smtClean="0"/>
              <a:t>: 100, subsample: 1.0</a:t>
            </a:r>
            <a:r>
              <a:rPr lang="pt-BR" sz="2600" dirty="0" smtClean="0"/>
              <a:t>)</a:t>
            </a:r>
            <a:endParaRPr lang="pt-BR" sz="2600" dirty="0"/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err="1" smtClean="0"/>
              <a:t>Acurácia</a:t>
            </a:r>
            <a:r>
              <a:rPr lang="pt-BR" sz="2600" dirty="0" smtClean="0"/>
              <a:t>: 0.620809%</a:t>
            </a:r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smtClean="0"/>
              <a:t>Recall: 0.559347%</a:t>
            </a:r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smtClean="0"/>
              <a:t>Precisão: 0.029799%</a:t>
            </a:r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err="1" smtClean="0"/>
              <a:t>Log</a:t>
            </a:r>
            <a:r>
              <a:rPr lang="pt-BR" sz="2600" dirty="0" smtClean="0"/>
              <a:t> </a:t>
            </a:r>
            <a:r>
              <a:rPr lang="pt-BR" sz="2600" dirty="0" err="1" smtClean="0"/>
              <a:t>Loss</a:t>
            </a:r>
            <a:r>
              <a:rPr lang="pt-BR" sz="2600" dirty="0" smtClean="0"/>
              <a:t>: 0.667336</a:t>
            </a:r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smtClean="0"/>
              <a:t>F1 </a:t>
            </a:r>
            <a:r>
              <a:rPr lang="pt-BR" sz="2600" dirty="0" err="1" smtClean="0"/>
              <a:t>Score</a:t>
            </a:r>
            <a:r>
              <a:rPr lang="pt-BR" sz="2600" dirty="0" smtClean="0"/>
              <a:t>: 0.056584</a:t>
            </a:r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err="1" smtClean="0"/>
              <a:t>Gini</a:t>
            </a:r>
            <a:r>
              <a:rPr lang="pt-BR" sz="2600" dirty="0" smtClean="0"/>
              <a:t>: 0.181594</a:t>
            </a:r>
            <a:endParaRPr kumimoji="0" lang="pt-BR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35496" y="4221088"/>
            <a:ext cx="4752528" cy="2160240"/>
          </a:xfrm>
          <a:prstGeom prst="rect">
            <a:avLst/>
          </a:prstGeom>
        </p:spPr>
        <p:txBody>
          <a:bodyPr vert="horz" anchor="t">
            <a:normAutofit fontScale="70000" lnSpcReduction="20000"/>
          </a:bodyPr>
          <a:lstStyle/>
          <a:p>
            <a:pPr marL="448056" lvl="0" indent="-384048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pt-BR" sz="2600" b="1" dirty="0"/>
              <a:t>Decision </a:t>
            </a:r>
            <a:r>
              <a:rPr lang="pt-BR" sz="2600" b="1" dirty="0" smtClean="0"/>
              <a:t>Tree</a:t>
            </a:r>
            <a:endParaRPr lang="pt-BR" sz="2600" dirty="0"/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smtClean="0"/>
              <a:t>Acurácia: 0.522632%</a:t>
            </a:r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smtClean="0"/>
              <a:t>Recall: 0.549667%</a:t>
            </a:r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smtClean="0"/>
              <a:t>Precisão: 0.546207%</a:t>
            </a:r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smtClean="0"/>
              <a:t>Log Loss: 16.487721</a:t>
            </a:r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smtClean="0"/>
              <a:t>F1 Score: 0.547932</a:t>
            </a:r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smtClean="0"/>
              <a:t>Gini: 0.041878</a:t>
            </a:r>
            <a:endParaRPr kumimoji="0" lang="pt-BR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4572000" y="4797152"/>
            <a:ext cx="4392488" cy="1944216"/>
          </a:xfrm>
          <a:prstGeom prst="rect">
            <a:avLst/>
          </a:prstGeom>
        </p:spPr>
        <p:txBody>
          <a:bodyPr vert="horz" anchor="t">
            <a:normAutofit fontScale="62500" lnSpcReduction="20000"/>
          </a:bodyPr>
          <a:lstStyle/>
          <a:p>
            <a:pPr marL="448056" lvl="0" indent="-384048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pt-BR" sz="2600" b="1" dirty="0" smtClean="0"/>
              <a:t>KNN </a:t>
            </a:r>
            <a:r>
              <a:rPr lang="pt-BR" sz="2600" dirty="0" smtClean="0"/>
              <a:t>(</a:t>
            </a:r>
            <a:r>
              <a:rPr lang="pt-BR" sz="2600" dirty="0" err="1" smtClean="0"/>
              <a:t>n_neighbors</a:t>
            </a:r>
            <a:r>
              <a:rPr lang="pt-BR" sz="2600" dirty="0" smtClean="0"/>
              <a:t>:17)</a:t>
            </a:r>
            <a:endParaRPr lang="pt-BR" sz="2600" dirty="0"/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smtClean="0"/>
              <a:t>Acurácia: 0.551228%</a:t>
            </a:r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smtClean="0"/>
              <a:t>Recall: 0.540667%</a:t>
            </a:r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smtClean="0"/>
              <a:t>Precisão: 0.578872%</a:t>
            </a:r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smtClean="0"/>
              <a:t>Log Loss: 0.703557</a:t>
            </a:r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smtClean="0"/>
              <a:t>F1 Score: 0.559118</a:t>
            </a:r>
          </a:p>
          <a:p>
            <a:pPr marL="822960" lvl="1" indent="-285750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/>
            </a:pPr>
            <a:r>
              <a:rPr lang="pt-BR" sz="2600" dirty="0" smtClean="0"/>
              <a:t>Gini: 0.101963</a:t>
            </a:r>
            <a:endParaRPr kumimoji="0" lang="pt-BR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2296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5000"/>
              <a:buFont typeface="Verdana"/>
              <a:buChar char="›"/>
              <a:tabLst/>
              <a:defRPr/>
            </a:pPr>
            <a:endParaRPr kumimoji="0" lang="pt-BR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48679"/>
            <a:ext cx="8229600" cy="1368153"/>
          </a:xfrm>
        </p:spPr>
        <p:txBody>
          <a:bodyPr/>
          <a:lstStyle/>
          <a:p>
            <a:r>
              <a:rPr lang="pt-BR" dirty="0"/>
              <a:t>Melhor resultado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752528"/>
          </a:xfrm>
        </p:spPr>
        <p:txBody>
          <a:bodyPr>
            <a:normAutofit/>
          </a:bodyPr>
          <a:lstStyle/>
          <a:p>
            <a:pPr marL="447675" indent="-383540" algn="just"/>
            <a:r>
              <a:rPr lang="pt-BR" sz="2400" dirty="0" smtClean="0"/>
              <a:t>O modelo que apresentou maior coeficiente Gini foi o modelo utilizando </a:t>
            </a:r>
            <a:r>
              <a:rPr lang="pt-BR" sz="2400" b="1" dirty="0" smtClean="0"/>
              <a:t>XGB</a:t>
            </a:r>
            <a:r>
              <a:rPr lang="pt-BR" sz="2400" dirty="0" smtClean="0"/>
              <a:t> (Extreme Gradient Boosting), </a:t>
            </a:r>
            <a:r>
              <a:rPr lang="pt-BR" sz="2400" b="1" dirty="0" smtClean="0"/>
              <a:t>XGB</a:t>
            </a:r>
            <a:r>
              <a:rPr lang="pt-BR" sz="2400" dirty="0" smtClean="0"/>
              <a:t> é a combinação de modelos fracos para geração de um modelo poderoso, o modelo fraco utilizado é a arvore de decisão.</a:t>
            </a:r>
          </a:p>
          <a:p>
            <a:pPr marL="447675" indent="-383540" algn="just">
              <a:buNone/>
            </a:pPr>
            <a:endParaRPr lang="pt-BR" sz="2400" dirty="0" smtClean="0">
              <a:ea typeface="Verdana"/>
              <a:cs typeface="Verdana"/>
            </a:endParaRPr>
          </a:p>
          <a:p>
            <a:pPr marL="447675" indent="-383540" algn="just"/>
            <a:endParaRPr lang="pt-BR" sz="2400" dirty="0" smtClean="0">
              <a:ea typeface="Verdana"/>
              <a:cs typeface="Verdana"/>
            </a:endParaRPr>
          </a:p>
          <a:p>
            <a:pPr marL="447675" indent="-383540" algn="just">
              <a:buNone/>
            </a:pPr>
            <a:endParaRPr lang="pt-BR" sz="2400" dirty="0" smtClean="0">
              <a:ea typeface="Verdana"/>
              <a:cs typeface="Verdana"/>
            </a:endParaRPr>
          </a:p>
          <a:p>
            <a:pPr marL="447675" indent="-383540" algn="just">
              <a:buNone/>
            </a:pPr>
            <a:endParaRPr lang="pt-BR" sz="2400" dirty="0" smtClean="0">
              <a:ea typeface="Verdana"/>
              <a:cs typeface="Verdana"/>
            </a:endParaRPr>
          </a:p>
          <a:p>
            <a:pPr marL="447675" indent="-383540" algn="just"/>
            <a:r>
              <a:rPr lang="pt-BR" sz="2400" dirty="0" smtClean="0">
                <a:ea typeface="Verdana"/>
                <a:cs typeface="Verdana"/>
              </a:rPr>
              <a:t>https://www.kaggle.com/himselfthedecker/aam-competi-o-porto-seguro-subsampling</a:t>
            </a:r>
            <a:endParaRPr lang="pt-BR" sz="2400" dirty="0">
              <a:ea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399032"/>
          </a:xfrm>
        </p:spPr>
        <p:txBody>
          <a:bodyPr/>
          <a:lstStyle/>
          <a:p>
            <a:r>
              <a:rPr lang="pt-BR" dirty="0" smtClean="0"/>
              <a:t>Falha ao submeter</a:t>
            </a:r>
            <a:endParaRPr lang="pt-BR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7725" y="2058987"/>
            <a:ext cx="7448550" cy="421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678</TotalTime>
  <Words>336</Words>
  <Application>Microsoft Office PowerPoint</Application>
  <PresentationFormat>Apresentação na tela (4:3)</PresentationFormat>
  <Paragraphs>59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Verve</vt:lpstr>
      <vt:lpstr>Aplicações em Machine Learning Atividade 02</vt:lpstr>
      <vt:lpstr>Análise dos dados</vt:lpstr>
      <vt:lpstr>Inicio do treinamento</vt:lpstr>
      <vt:lpstr>Análise dos resultados</vt:lpstr>
      <vt:lpstr>Melhor resultado</vt:lpstr>
      <vt:lpstr>Falha ao submeter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Tarefa 01</dc:title>
  <dc:creator>Léo</dc:creator>
  <cp:lastModifiedBy>Léo</cp:lastModifiedBy>
  <cp:revision>122</cp:revision>
  <dcterms:created xsi:type="dcterms:W3CDTF">2019-02-07T20:46:55Z</dcterms:created>
  <dcterms:modified xsi:type="dcterms:W3CDTF">2019-03-08T23:39:41Z</dcterms:modified>
</cp:coreProperties>
</file>