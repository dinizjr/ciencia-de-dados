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57" r:id="rId3"/>
    <p:sldId id="258" r:id="rId4"/>
    <p:sldId id="267" r:id="rId5"/>
    <p:sldId id="276" r:id="rId6"/>
    <p:sldId id="259" r:id="rId7"/>
    <p:sldId id="265" r:id="rId8"/>
    <p:sldId id="275" r:id="rId9"/>
    <p:sldId id="263" r:id="rId10"/>
    <p:sldId id="277" r:id="rId11"/>
    <p:sldId id="278" r:id="rId12"/>
    <p:sldId id="279" r:id="rId13"/>
    <p:sldId id="284" r:id="rId14"/>
    <p:sldId id="281" r:id="rId15"/>
    <p:sldId id="285" r:id="rId16"/>
    <p:sldId id="286" r:id="rId17"/>
    <p:sldId id="271" r:id="rId1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12" autoAdjust="0"/>
    <p:restoredTop sz="94660"/>
  </p:normalViewPr>
  <p:slideViewPr>
    <p:cSldViewPr>
      <p:cViewPr varScale="1">
        <p:scale>
          <a:sx n="69" d="100"/>
          <a:sy n="69" d="100"/>
        </p:scale>
        <p:origin x="-136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Diniz" userId="663df9ca63940922" providerId="LiveId" clId="{53520EC5-D939-4ECE-B74B-A29B5B852936}"/>
    <pc:docChg chg="custSel modSld">
      <pc:chgData name="José Diniz" userId="663df9ca63940922" providerId="LiveId" clId="{53520EC5-D939-4ECE-B74B-A29B5B852936}" dt="2019-10-24T14:20:32.601" v="368" actId="123"/>
      <pc:docMkLst>
        <pc:docMk/>
      </pc:docMkLst>
      <pc:sldChg chg="modSp">
        <pc:chgData name="José Diniz" userId="663df9ca63940922" providerId="LiveId" clId="{53520EC5-D939-4ECE-B74B-A29B5B852936}" dt="2019-10-24T14:20:32.601" v="368" actId="123"/>
        <pc:sldMkLst>
          <pc:docMk/>
          <pc:sldMk cId="0" sldId="271"/>
        </pc:sldMkLst>
        <pc:spChg chg="mod">
          <ac:chgData name="José Diniz" userId="663df9ca63940922" providerId="LiveId" clId="{53520EC5-D939-4ECE-B74B-A29B5B852936}" dt="2019-10-24T14:20:32.601" v="368" actId="123"/>
          <ac:spMkLst>
            <pc:docMk/>
            <pc:sldMk cId="0" sldId="271"/>
            <ac:spMk id="3" creationId="{00000000-0000-0000-0000-000000000000}"/>
          </ac:spMkLst>
        </pc:spChg>
      </pc:sldChg>
      <pc:sldChg chg="addSp modSp">
        <pc:chgData name="José Diniz" userId="663df9ca63940922" providerId="LiveId" clId="{53520EC5-D939-4ECE-B74B-A29B5B852936}" dt="2019-10-24T14:10:31.257" v="140" actId="1036"/>
        <pc:sldMkLst>
          <pc:docMk/>
          <pc:sldMk cId="151139423" sldId="283"/>
        </pc:sldMkLst>
        <pc:spChg chg="add mod">
          <ac:chgData name="José Diniz" userId="663df9ca63940922" providerId="LiveId" clId="{53520EC5-D939-4ECE-B74B-A29B5B852936}" dt="2019-10-24T14:10:31.257" v="140" actId="1036"/>
          <ac:spMkLst>
            <pc:docMk/>
            <pc:sldMk cId="151139423" sldId="283"/>
            <ac:spMk id="10" creationId="{16650830-56EC-40BC-B8DF-D6FCFBA387B1}"/>
          </ac:spMkLst>
        </pc:spChg>
        <pc:picChg chg="mod">
          <ac:chgData name="José Diniz" userId="663df9ca63940922" providerId="LiveId" clId="{53520EC5-D939-4ECE-B74B-A29B5B852936}" dt="2019-10-24T13:55:12.557" v="1" actId="14100"/>
          <ac:picMkLst>
            <pc:docMk/>
            <pc:sldMk cId="151139423" sldId="283"/>
            <ac:picMk id="5" creationId="{31B00B4B-03E7-4261-B34D-1297485D1393}"/>
          </ac:picMkLst>
        </pc:picChg>
        <pc:picChg chg="mod">
          <ac:chgData name="José Diniz" userId="663df9ca63940922" providerId="LiveId" clId="{53520EC5-D939-4ECE-B74B-A29B5B852936}" dt="2019-10-24T13:55:10.230" v="0" actId="14100"/>
          <ac:picMkLst>
            <pc:docMk/>
            <pc:sldMk cId="151139423" sldId="283"/>
            <ac:picMk id="9" creationId="{EF51E316-209F-4B93-B1E2-B80E05A6E08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" name="Espaço Reservado para Rodapé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orma livre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1AECCE36-3571-4968-83F3-3EDE54EE4C12}" type="datetimeFigureOut">
              <a:rPr lang="pt-BR" smtClean="0"/>
              <a:pPr/>
              <a:t>24/10/2019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14AFB192-CE3A-46E9-A91E-DA49854968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pe.gov.br/pt/abcdenergia/matriz-energetica-e-eletrica" TargetMode="External"/><Relationship Id="rId2" Type="http://schemas.openxmlformats.org/officeDocument/2006/relationships/hyperlink" Target="https://www.portal-energia.com/matriz-energetica-brasileir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bluesol.com.br/energia-solar-no-brasil-panorama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99592" y="1700808"/>
            <a:ext cx="7380312" cy="2952328"/>
          </a:xfrm>
        </p:spPr>
        <p:txBody>
          <a:bodyPr/>
          <a:lstStyle/>
          <a:p>
            <a:pPr algn="ctr"/>
            <a:r>
              <a:rPr lang="pt-BR" i="1" dirty="0"/>
              <a:t>Previsão de geração de Energia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07704" y="4941168"/>
            <a:ext cx="6400800" cy="1057672"/>
          </a:xfrm>
        </p:spPr>
        <p:txBody>
          <a:bodyPr>
            <a:normAutofit/>
          </a:bodyPr>
          <a:lstStyle/>
          <a:p>
            <a:pPr algn="r"/>
            <a:r>
              <a:rPr lang="pt-BR" sz="2400" dirty="0"/>
              <a:t>José Diniz Junior RA:183134</a:t>
            </a:r>
          </a:p>
          <a:p>
            <a:pPr algn="r"/>
            <a:r>
              <a:rPr lang="pt-BR" sz="2400" dirty="0"/>
              <a:t>Roberto Leonardo Rodrigues RA:060235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7467600" cy="3629000"/>
          </a:xfrm>
        </p:spPr>
        <p:txBody>
          <a:bodyPr/>
          <a:lstStyle/>
          <a:p>
            <a:pPr algn="just"/>
            <a:r>
              <a:rPr lang="pt-BR" dirty="0"/>
              <a:t>Geração de energia por fontes não renováveis;</a:t>
            </a:r>
          </a:p>
          <a:p>
            <a:pPr algn="just"/>
            <a:r>
              <a:rPr lang="pt-BR" dirty="0"/>
              <a:t>Qualidade do ar, meio ambiente;</a:t>
            </a:r>
          </a:p>
          <a:p>
            <a:pPr algn="just"/>
            <a:r>
              <a:rPr lang="pt-BR" dirty="0"/>
              <a:t>A geração de energia através de painéis solares representa uma pequena fatia na matriz energética do Brasil, cerca de 0,82 %;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827584" y="5517232"/>
            <a:ext cx="74168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Fontes:</a:t>
            </a:r>
          </a:p>
          <a:p>
            <a:r>
              <a:rPr lang="pt-BR" dirty="0">
                <a:hlinkClick r:id="rId2"/>
              </a:rPr>
              <a:t>https://www.portal-energia.com/matriz-energetica-brasileira/</a:t>
            </a:r>
            <a:endParaRPr lang="pt-BR" dirty="0"/>
          </a:p>
          <a:p>
            <a:r>
              <a:rPr lang="pt-BR" dirty="0">
                <a:hlinkClick r:id="rId3"/>
              </a:rPr>
              <a:t>http://www.epe.gov.br/pt/abcdenergia/matriz-energetica-e-eletrica</a:t>
            </a:r>
            <a:endParaRPr lang="pt-BR" dirty="0"/>
          </a:p>
          <a:p>
            <a:r>
              <a:rPr lang="pt-BR" dirty="0">
                <a:hlinkClick r:id="rId4"/>
              </a:rPr>
              <a:t>https://blog.bluesol.com.br/energia-solar-no-brasil-panorama/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Oportunidade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7467600" cy="2980927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Propor um sistema para previsão de geração de energia, utilizando técnicas de machine learning.</a:t>
            </a:r>
          </a:p>
          <a:p>
            <a:pPr algn="just"/>
            <a:r>
              <a:rPr lang="pt-BR" dirty="0"/>
              <a:t>Visando uma melhor estimativa para investimento  e geração de energia em um determinado local.</a:t>
            </a:r>
          </a:p>
          <a:p>
            <a:pPr algn="just"/>
            <a:endParaRPr lang="pt-BR" dirty="0"/>
          </a:p>
          <a:p>
            <a:pPr algn="just">
              <a:buNone/>
            </a:pP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467544" y="5589240"/>
            <a:ext cx="727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971600" y="4653136"/>
            <a:ext cx="3053868" cy="538629"/>
          </a:xfrm>
          <a:prstGeom prst="rect">
            <a:avLst/>
          </a:prstGeom>
        </p:spPr>
        <p:txBody>
          <a:bodyPr vert="horz" lIns="45720" rIns="4572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Cálculo</a:t>
            </a:r>
          </a:p>
        </p:txBody>
      </p:sp>
      <p:sp>
        <p:nvSpPr>
          <p:cNvPr id="6" name="Espaço Reservado para Texto 3"/>
          <p:cNvSpPr txBox="1">
            <a:spLocks/>
          </p:cNvSpPr>
          <p:nvPr/>
        </p:nvSpPr>
        <p:spPr>
          <a:xfrm>
            <a:off x="971600" y="5229200"/>
            <a:ext cx="4464496" cy="504056"/>
          </a:xfrm>
          <a:prstGeom prst="rect">
            <a:avLst/>
          </a:prstGeom>
        </p:spPr>
        <p:txBody>
          <a:bodyPr vert="horz" lIns="45720" rIns="4572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pt-BR" dirty="0"/>
              <a:t>Energia = Potência x tempo x rendimento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3284984"/>
            <a:ext cx="3053868" cy="538629"/>
          </a:xfrm>
        </p:spPr>
        <p:txBody>
          <a:bodyPr>
            <a:normAutofit/>
          </a:bodyPr>
          <a:lstStyle/>
          <a:p>
            <a:r>
              <a:rPr lang="pt-BR" sz="2800" dirty="0"/>
              <a:t>Yingli</a:t>
            </a:r>
          </a:p>
        </p:txBody>
      </p:sp>
      <p:pic>
        <p:nvPicPr>
          <p:cNvPr id="5" name="Espaço Reservado para Imagem 4" descr="245w.jpg"/>
          <p:cNvPicPr>
            <a:picLocks noGrp="1" noChangeAspect="1"/>
          </p:cNvPicPr>
          <p:nvPr>
            <p:ph type="pic" idx="1"/>
          </p:nvPr>
        </p:nvPicPr>
        <p:blipFill>
          <a:blip r:embed="rId2" cstate="print"/>
          <a:srcRect l="21850" r="21850"/>
          <a:stretch>
            <a:fillRect/>
          </a:stretch>
        </p:blipFill>
        <p:spPr>
          <a:xfrm>
            <a:off x="4726360" y="620688"/>
            <a:ext cx="3960440" cy="3960440"/>
          </a:xfrm>
        </p:spPr>
      </p:pic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67546" y="3861048"/>
            <a:ext cx="3341898" cy="576064"/>
          </a:xfrm>
        </p:spPr>
        <p:txBody>
          <a:bodyPr>
            <a:normAutofit/>
          </a:bodyPr>
          <a:lstStyle/>
          <a:p>
            <a:r>
              <a:rPr lang="pt-BR" sz="2200" dirty="0"/>
              <a:t>Modelo: 245 W</a:t>
            </a:r>
          </a:p>
          <a:p>
            <a:endParaRPr lang="pt-BR" sz="1800" dirty="0"/>
          </a:p>
          <a:p>
            <a:endParaRPr lang="pt-BR" sz="18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323528" y="1334378"/>
            <a:ext cx="410445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600" dirty="0"/>
              <a:t>Utilizando dados de estações meteorológicas e de painéis solares do Smart Campus Facens.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Pesquisas e relações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O principal objetivo dos trabalhos analisados é a previsao de geração de energia com a junção de dados fotovoltaicos e meteorológicos.</a:t>
            </a:r>
          </a:p>
          <a:p>
            <a:pPr marL="608076" indent="-571500" algn="just">
              <a:buFont typeface="+mj-lt"/>
              <a:buAutoNum type="romanUcPeriod"/>
            </a:pPr>
            <a:r>
              <a:rPr lang="pt-BR" dirty="0"/>
              <a:t>Previsão com poucos dados;</a:t>
            </a:r>
          </a:p>
          <a:p>
            <a:pPr marL="608076" indent="-571500" algn="just">
              <a:buFont typeface="+mj-lt"/>
              <a:buAutoNum type="romanUcPeriod"/>
            </a:pPr>
            <a:r>
              <a:rPr lang="pt-BR" dirty="0"/>
              <a:t>Previsão para próximas 24 horas;</a:t>
            </a:r>
          </a:p>
          <a:p>
            <a:pPr marL="608076" indent="-571500" algn="just">
              <a:buFont typeface="+mj-lt"/>
              <a:buAutoNum type="romanUcPeriod"/>
            </a:pPr>
            <a:r>
              <a:rPr lang="pt-BR" dirty="0"/>
              <a:t>Variação de técnicas de classificação para encontrar erros no sistema de geração;</a:t>
            </a:r>
          </a:p>
        </p:txBody>
      </p:sp>
    </p:spTree>
    <p:extLst>
      <p:ext uri="{BB962C8B-B14F-4D97-AF65-F5344CB8AC3E}">
        <p14:creationId xmlns:p14="http://schemas.microsoft.com/office/powerpoint/2010/main" xmlns="" val="347669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800" dirty="0"/>
              <a:t>DataSets – (julho 2018 a junho 2019)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idx="1"/>
          </p:nvPr>
        </p:nvSpPr>
        <p:spPr>
          <a:xfrm>
            <a:off x="179512" y="1268760"/>
            <a:ext cx="2023964" cy="462880"/>
          </a:xfrm>
        </p:spPr>
        <p:txBody>
          <a:bodyPr/>
          <a:lstStyle/>
          <a:p>
            <a:r>
              <a:rPr lang="pt-BR" i="1" u="sng" dirty="0"/>
              <a:t>Fotovoltaico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half" idx="3"/>
          </p:nvPr>
        </p:nvSpPr>
        <p:spPr>
          <a:xfrm>
            <a:off x="2483768" y="1268760"/>
            <a:ext cx="2376264" cy="462880"/>
          </a:xfrm>
        </p:spPr>
        <p:txBody>
          <a:bodyPr>
            <a:normAutofit/>
          </a:bodyPr>
          <a:lstStyle/>
          <a:p>
            <a:r>
              <a:rPr lang="pt-BR" i="1" u="sng" dirty="0"/>
              <a:t>Meteorologico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107504" y="1772816"/>
            <a:ext cx="2448272" cy="4536504"/>
          </a:xfrm>
        </p:spPr>
        <p:txBody>
          <a:bodyPr>
            <a:normAutofit/>
          </a:bodyPr>
          <a:lstStyle/>
          <a:p>
            <a:r>
              <a:rPr lang="pt-BR" dirty="0"/>
              <a:t>Registros: 8.022.697</a:t>
            </a:r>
          </a:p>
          <a:p>
            <a:r>
              <a:rPr lang="pt-BR" dirty="0"/>
              <a:t>Campos</a:t>
            </a:r>
          </a:p>
          <a:p>
            <a:pPr lvl="1"/>
            <a:r>
              <a:rPr lang="pt-BR" dirty="0"/>
              <a:t>data </a:t>
            </a:r>
          </a:p>
          <a:p>
            <a:pPr lvl="1"/>
            <a:r>
              <a:rPr lang="pt-BR" strike="sngStrike" dirty="0"/>
              <a:t>energia_dia</a:t>
            </a:r>
          </a:p>
          <a:p>
            <a:pPr lvl="1"/>
            <a:r>
              <a:rPr lang="pt-BR" strike="sngStrike" dirty="0"/>
              <a:t>energia_ano</a:t>
            </a:r>
          </a:p>
          <a:p>
            <a:pPr lvl="1"/>
            <a:r>
              <a:rPr lang="pt-BR" strike="sngStrike" dirty="0"/>
              <a:t>energia_total</a:t>
            </a:r>
          </a:p>
          <a:p>
            <a:pPr lvl="1"/>
            <a:r>
              <a:rPr lang="pt-BR" strike="sngStrike" dirty="0"/>
              <a:t>potencia</a:t>
            </a:r>
          </a:p>
          <a:p>
            <a:pPr lvl="1"/>
            <a:r>
              <a:rPr lang="pt-BR" strike="sngStrike" dirty="0"/>
              <a:t>power_led</a:t>
            </a:r>
          </a:p>
          <a:p>
            <a:pPr lvl="1"/>
            <a:r>
              <a:rPr lang="pt-BR" strike="sngStrike" dirty="0"/>
              <a:t>solarnet_led</a:t>
            </a:r>
          </a:p>
          <a:p>
            <a:pPr lvl="1"/>
            <a:r>
              <a:rPr lang="pt-BR" strike="sngStrike" dirty="0"/>
              <a:t>solarweb_led</a:t>
            </a:r>
            <a:endParaRPr lang="pt-BR" dirty="0"/>
          </a:p>
          <a:p>
            <a:pPr lvl="1"/>
            <a:endParaRPr lang="pt-BR" dirty="0"/>
          </a:p>
        </p:txBody>
      </p:sp>
      <p:sp>
        <p:nvSpPr>
          <p:cNvPr id="7" name="Espaço Reservado para Conteúdo 6"/>
          <p:cNvSpPr>
            <a:spLocks noGrp="1"/>
          </p:cNvSpPr>
          <p:nvPr>
            <p:ph sz="quarter" idx="4"/>
          </p:nvPr>
        </p:nvSpPr>
        <p:spPr>
          <a:xfrm>
            <a:off x="2411760" y="1772816"/>
            <a:ext cx="3455367" cy="4680521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Registros: 50.502</a:t>
            </a:r>
          </a:p>
          <a:p>
            <a:r>
              <a:rPr lang="pt-BR" dirty="0"/>
              <a:t>Campos</a:t>
            </a:r>
          </a:p>
          <a:p>
            <a:pPr lvl="1"/>
            <a:r>
              <a:rPr lang="pt-BR" dirty="0"/>
              <a:t>data                   </a:t>
            </a:r>
          </a:p>
          <a:p>
            <a:pPr lvl="1"/>
            <a:r>
              <a:rPr lang="pt-BR" strike="sngStrike" dirty="0"/>
              <a:t>deficit_vapor_vmin </a:t>
            </a:r>
            <a:r>
              <a:rPr lang="pt-BR" dirty="0"/>
              <a:t>    </a:t>
            </a:r>
          </a:p>
          <a:p>
            <a:pPr lvl="1"/>
            <a:r>
              <a:rPr lang="pt-BR" dirty="0"/>
              <a:t>deficit_vapor_vmedio   </a:t>
            </a:r>
          </a:p>
          <a:p>
            <a:pPr lvl="1"/>
            <a:r>
              <a:rPr lang="pt-BR" strike="sngStrike" dirty="0"/>
              <a:t>ponto_orvalho_vmin </a:t>
            </a:r>
            <a:r>
              <a:rPr lang="pt-BR" dirty="0"/>
              <a:t>    </a:t>
            </a:r>
          </a:p>
          <a:p>
            <a:pPr lvl="1"/>
            <a:r>
              <a:rPr lang="pt-BR" dirty="0"/>
              <a:t>ponto_orvalho_vmedio   </a:t>
            </a:r>
          </a:p>
          <a:p>
            <a:pPr lvl="1"/>
            <a:r>
              <a:rPr lang="pt-BR" dirty="0"/>
              <a:t>precipitacao_valor     </a:t>
            </a:r>
          </a:p>
          <a:p>
            <a:pPr lvl="1"/>
            <a:r>
              <a:rPr lang="pt-BR" dirty="0"/>
              <a:t>radiacao_solar_valor   </a:t>
            </a:r>
          </a:p>
          <a:p>
            <a:pPr lvl="1"/>
            <a:r>
              <a:rPr lang="pt-BR" strike="sngStrike" dirty="0"/>
              <a:t>temperatura_ar_vmin </a:t>
            </a:r>
            <a:r>
              <a:rPr lang="pt-BR" dirty="0"/>
              <a:t>   </a:t>
            </a:r>
          </a:p>
          <a:p>
            <a:pPr lvl="1"/>
            <a:r>
              <a:rPr lang="pt-BR" dirty="0"/>
              <a:t>temperatura_ar_vmedio  </a:t>
            </a:r>
          </a:p>
          <a:p>
            <a:pPr lvl="1"/>
            <a:r>
              <a:rPr lang="pt-BR" strike="sngStrike" dirty="0"/>
              <a:t>temperatura_ar_vmax </a:t>
            </a:r>
            <a:r>
              <a:rPr lang="pt-BR" dirty="0"/>
              <a:t>   </a:t>
            </a:r>
          </a:p>
          <a:p>
            <a:pPr lvl="1"/>
            <a:r>
              <a:rPr lang="pt-BR" strike="sngStrike" dirty="0"/>
              <a:t>umidade_ar_vmin  </a:t>
            </a:r>
            <a:r>
              <a:rPr lang="pt-BR" dirty="0"/>
              <a:t>      </a:t>
            </a:r>
          </a:p>
          <a:p>
            <a:pPr lvl="1"/>
            <a:r>
              <a:rPr lang="pt-BR" dirty="0"/>
              <a:t>umidade_ar_vmedio      </a:t>
            </a:r>
          </a:p>
          <a:p>
            <a:pPr lvl="1"/>
            <a:r>
              <a:rPr lang="pt-BR" strike="sngStrike" dirty="0"/>
              <a:t>umidade_ar_vmax  </a:t>
            </a:r>
            <a:r>
              <a:rPr lang="pt-BR" dirty="0"/>
              <a:t>      </a:t>
            </a:r>
          </a:p>
          <a:p>
            <a:pPr lvl="1"/>
            <a:r>
              <a:rPr lang="pt-BR" dirty="0"/>
              <a:t>velocidade_vento_vmedio</a:t>
            </a:r>
          </a:p>
          <a:p>
            <a:pPr lvl="1"/>
            <a:r>
              <a:rPr lang="pt-BR" strike="sngStrike" dirty="0"/>
              <a:t>velocidade_vento_vmax </a:t>
            </a:r>
          </a:p>
        </p:txBody>
      </p:sp>
      <p:sp>
        <p:nvSpPr>
          <p:cNvPr id="8" name="Espaço Reservado para Conteúdo 6"/>
          <p:cNvSpPr txBox="1">
            <a:spLocks/>
          </p:cNvSpPr>
          <p:nvPr/>
        </p:nvSpPr>
        <p:spPr>
          <a:xfrm>
            <a:off x="5508104" y="1772817"/>
            <a:ext cx="3563888" cy="4608511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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Registros: 44.352 (308 dias)</a:t>
            </a:r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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Campos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data                   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energia   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deficit_vapor_vmedio 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ponto_orvalho_vmedio 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precipitacao_valor 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radiacao_solar_valor 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temperatura_ar_vmedio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umidade_ar_vmedio 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velocidade_vento_vmedio</a:t>
            </a:r>
          </a:p>
        </p:txBody>
      </p:sp>
      <p:sp>
        <p:nvSpPr>
          <p:cNvPr id="9" name="Espaço Reservado para Texto 5"/>
          <p:cNvSpPr txBox="1">
            <a:spLocks/>
          </p:cNvSpPr>
          <p:nvPr/>
        </p:nvSpPr>
        <p:spPr>
          <a:xfrm>
            <a:off x="5508104" y="1309936"/>
            <a:ext cx="3635896" cy="46288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lang="pt-BR" sz="2100" b="1" i="1" u="sng" dirty="0">
                <a:solidFill>
                  <a:schemeClr val="accent1"/>
                </a:solidFill>
              </a:rPr>
              <a:t>FotoMet_P1_DataSets_10T</a:t>
            </a:r>
            <a:endParaRPr kumimoji="0" lang="pt-BR" sz="2100" b="1" i="1" u="sng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Texto 10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7643192" cy="914400"/>
          </a:xfrm>
        </p:spPr>
        <p:txBody>
          <a:bodyPr>
            <a:normAutofit/>
          </a:bodyPr>
          <a:lstStyle/>
          <a:p>
            <a:r>
              <a:rPr lang="pt-BR" sz="4000" dirty="0"/>
              <a:t>Gráficos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556792"/>
            <a:ext cx="8424936" cy="4680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xmlns="" id="{6AC87817-5114-4B43-A2DE-0E3C9D621AB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671117" y="1340768"/>
            <a:ext cx="7717307" cy="5298716"/>
          </a:xfrm>
          <a:prstGeom prst="rect">
            <a:avLst/>
          </a:prstGeom>
        </p:spPr>
      </p:pic>
      <p:sp>
        <p:nvSpPr>
          <p:cNvPr id="8" name="Espaço Reservado para Texto 10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7643192" cy="914400"/>
          </a:xfrm>
        </p:spPr>
        <p:txBody>
          <a:bodyPr>
            <a:normAutofit/>
          </a:bodyPr>
          <a:lstStyle/>
          <a:p>
            <a:r>
              <a:rPr lang="pt-BR" sz="4000" dirty="0"/>
              <a:t>Correlação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Inicio do treinamento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Com os dados normalizados, os mesmos foram divididos de forma contínua em 85% para treino e 15% para testes, isto é, aproximadamente 261 dias para treino e 46 dias para testes.</a:t>
            </a:r>
          </a:p>
          <a:p>
            <a:pPr algn="just"/>
            <a:r>
              <a:rPr lang="pt-BR" dirty="0"/>
              <a:t>Com os dados preparados e divididos, iniciou-se os treinamentos com alguns algoritmos de regressão.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12968" cy="706090"/>
          </a:xfrm>
        </p:spPr>
        <p:txBody>
          <a:bodyPr>
            <a:normAutofit/>
          </a:bodyPr>
          <a:lstStyle/>
          <a:p>
            <a:pPr algn="ctr"/>
            <a:r>
              <a:rPr lang="pt-BR" sz="3800" dirty="0"/>
              <a:t>Regressão Linear com Radiação Solar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8" y="2916510"/>
            <a:ext cx="9001125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9" name="Tabela 8"/>
          <p:cNvGraphicFramePr>
            <a:graphicFrameLocks noGrp="1"/>
          </p:cNvGraphicFramePr>
          <p:nvPr/>
        </p:nvGraphicFramePr>
        <p:xfrm>
          <a:off x="2555776" y="980728"/>
          <a:ext cx="4284222" cy="173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074"/>
                <a:gridCol w="1428074"/>
                <a:gridCol w="1428074"/>
              </a:tblGrid>
              <a:tr h="304998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TREINO</a:t>
                      </a:r>
                      <a:endParaRPr lang="pt-BR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TESTE</a:t>
                      </a:r>
                      <a:endParaRPr lang="pt-BR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MSE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0.001099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0.000599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RMSE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0.033155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0.024482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r²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75.25 %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79.59 %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MAE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0.018321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0.014412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69498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12968" cy="706090"/>
          </a:xfrm>
        </p:spPr>
        <p:txBody>
          <a:bodyPr>
            <a:normAutofit/>
          </a:bodyPr>
          <a:lstStyle/>
          <a:p>
            <a:pPr algn="ctr"/>
            <a:r>
              <a:rPr lang="pt-BR" sz="3800" dirty="0"/>
              <a:t>Regressão Linear sem Radiação Solar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8" y="2916510"/>
            <a:ext cx="9001125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2555776" y="980728"/>
          <a:ext cx="4284222" cy="173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074"/>
                <a:gridCol w="1428074"/>
                <a:gridCol w="1428074"/>
              </a:tblGrid>
              <a:tr h="304998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TREINO</a:t>
                      </a:r>
                      <a:endParaRPr lang="pt-BR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TESTE</a:t>
                      </a:r>
                      <a:endParaRPr lang="pt-BR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MSE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0.002788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0.001858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RMSE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0.052797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0.043104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r²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37.23 %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36.74 %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MAE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0.038524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0.031524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686220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507288" cy="706090"/>
          </a:xfrm>
        </p:spPr>
        <p:txBody>
          <a:bodyPr>
            <a:normAutofit/>
          </a:bodyPr>
          <a:lstStyle/>
          <a:p>
            <a:pPr algn="ctr"/>
            <a:r>
              <a:rPr lang="pt-BR" sz="4000" dirty="0" err="1" smtClean="0"/>
              <a:t>Random</a:t>
            </a:r>
            <a:r>
              <a:rPr lang="pt-BR" sz="4000" dirty="0" smtClean="0"/>
              <a:t> </a:t>
            </a:r>
            <a:r>
              <a:rPr lang="pt-BR" sz="4000" dirty="0"/>
              <a:t>Forest com Radiação Solar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8" y="2916510"/>
            <a:ext cx="9001125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395536" y="977320"/>
          <a:ext cx="4284222" cy="173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074"/>
                <a:gridCol w="1428074"/>
                <a:gridCol w="1428074"/>
              </a:tblGrid>
              <a:tr h="304998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TREINO</a:t>
                      </a:r>
                      <a:endParaRPr lang="pt-BR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TESTE</a:t>
                      </a:r>
                      <a:endParaRPr lang="pt-BR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MSE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0.000865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0.000506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RMSE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0.029414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0.022502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r²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80.52 %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82.76 %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MAE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0.015189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0.011234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</a:tbl>
          </a:graphicData>
        </a:graphic>
      </p:graphicFrame>
      <p:sp>
        <p:nvSpPr>
          <p:cNvPr id="9" name="Espaço Reservado para Conteúdo 4"/>
          <p:cNvSpPr>
            <a:spLocks noGrp="1"/>
          </p:cNvSpPr>
          <p:nvPr>
            <p:ph sz="quarter" idx="4294967295"/>
          </p:nvPr>
        </p:nvSpPr>
        <p:spPr>
          <a:xfrm>
            <a:off x="5652120" y="980728"/>
            <a:ext cx="3240360" cy="1800200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r>
              <a:rPr lang="pt-BR" b="1" dirty="0" smtClean="0"/>
              <a:t>Parâmetros</a:t>
            </a:r>
            <a:endParaRPr lang="pt-BR" b="1" dirty="0"/>
          </a:p>
          <a:p>
            <a:pPr lvl="1"/>
            <a:r>
              <a:rPr lang="en-US" i="1" dirty="0" smtClean="0"/>
              <a:t>max_depth:</a:t>
            </a:r>
            <a:r>
              <a:rPr lang="en-US" dirty="0" smtClean="0"/>
              <a:t> 9</a:t>
            </a:r>
          </a:p>
          <a:p>
            <a:pPr lvl="1"/>
            <a:r>
              <a:rPr lang="en-US" i="1" dirty="0" smtClean="0"/>
              <a:t>max_features</a:t>
            </a:r>
            <a:r>
              <a:rPr lang="en-US" i="1" dirty="0" smtClean="0"/>
              <a:t>:</a:t>
            </a:r>
            <a:r>
              <a:rPr lang="en-US" dirty="0" smtClean="0"/>
              <a:t> ‘sqrt</a:t>
            </a:r>
            <a:r>
              <a:rPr lang="en-US" dirty="0" smtClean="0"/>
              <a:t>’</a:t>
            </a:r>
          </a:p>
          <a:p>
            <a:pPr lvl="1"/>
            <a:r>
              <a:rPr lang="en-US" i="1" dirty="0" smtClean="0"/>
              <a:t>min_samples_leaf:</a:t>
            </a:r>
            <a:r>
              <a:rPr lang="en-US" dirty="0" smtClean="0"/>
              <a:t> 12</a:t>
            </a:r>
          </a:p>
          <a:p>
            <a:pPr lvl="1"/>
            <a:r>
              <a:rPr lang="en-US" i="1" dirty="0" smtClean="0"/>
              <a:t>min_samples_split:</a:t>
            </a:r>
            <a:r>
              <a:rPr lang="en-US" dirty="0" smtClean="0"/>
              <a:t> 2</a:t>
            </a:r>
          </a:p>
          <a:p>
            <a:pPr lvl="1"/>
            <a:r>
              <a:rPr lang="en-US" i="1" dirty="0" smtClean="0"/>
              <a:t>n_estimators:</a:t>
            </a:r>
            <a:r>
              <a:rPr lang="en-US" dirty="0" smtClean="0"/>
              <a:t> 200</a:t>
            </a:r>
            <a:endParaRPr lang="pt-BR" dirty="0" smtClean="0"/>
          </a:p>
          <a:p>
            <a:pPr lvl="1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2692464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507288" cy="706090"/>
          </a:xfrm>
        </p:spPr>
        <p:txBody>
          <a:bodyPr>
            <a:normAutofit/>
          </a:bodyPr>
          <a:lstStyle/>
          <a:p>
            <a:pPr algn="ctr"/>
            <a:r>
              <a:rPr lang="pt-BR" sz="4000" dirty="0" err="1" smtClean="0"/>
              <a:t>Random</a:t>
            </a:r>
            <a:r>
              <a:rPr lang="pt-BR" sz="4000" dirty="0" smtClean="0"/>
              <a:t> </a:t>
            </a:r>
            <a:r>
              <a:rPr lang="pt-BR" sz="4000" dirty="0"/>
              <a:t>Forest </a:t>
            </a:r>
            <a:r>
              <a:rPr lang="pt-BR" sz="4000" dirty="0" smtClean="0"/>
              <a:t>sem</a:t>
            </a:r>
            <a:r>
              <a:rPr lang="pt-BR" sz="4000" dirty="0" smtClean="0"/>
              <a:t> </a:t>
            </a:r>
            <a:r>
              <a:rPr lang="pt-BR" sz="4000" dirty="0"/>
              <a:t>Radiação Solar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395536" y="977320"/>
          <a:ext cx="4284222" cy="173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074"/>
                <a:gridCol w="1428074"/>
                <a:gridCol w="1428074"/>
              </a:tblGrid>
              <a:tr h="304998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TREINO</a:t>
                      </a:r>
                      <a:endParaRPr lang="pt-BR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TESTE</a:t>
                      </a:r>
                      <a:endParaRPr lang="pt-BR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MSE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0.002089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0.001582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RMSE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0.045708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0.039779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r²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52.96 %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46.13 %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MAE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0.029382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0.023850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</a:tbl>
          </a:graphicData>
        </a:graphic>
      </p:graphicFrame>
      <p:sp>
        <p:nvSpPr>
          <p:cNvPr id="9" name="Espaço Reservado para Conteúdo 4"/>
          <p:cNvSpPr>
            <a:spLocks noGrp="1"/>
          </p:cNvSpPr>
          <p:nvPr>
            <p:ph sz="quarter" idx="4294967295"/>
          </p:nvPr>
        </p:nvSpPr>
        <p:spPr>
          <a:xfrm>
            <a:off x="5652120" y="980728"/>
            <a:ext cx="3240360" cy="1800200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r>
              <a:rPr lang="pt-BR" b="1" dirty="0" smtClean="0"/>
              <a:t>Parâmetros</a:t>
            </a:r>
            <a:endParaRPr lang="pt-BR" b="1" dirty="0"/>
          </a:p>
          <a:p>
            <a:pPr lvl="1"/>
            <a:r>
              <a:rPr lang="en-US" i="1" dirty="0" smtClean="0"/>
              <a:t>max_depth:</a:t>
            </a:r>
            <a:r>
              <a:rPr lang="en-US" dirty="0" smtClean="0"/>
              <a:t> 9</a:t>
            </a:r>
          </a:p>
          <a:p>
            <a:pPr lvl="1"/>
            <a:r>
              <a:rPr lang="en-US" i="1" dirty="0" smtClean="0"/>
              <a:t>max_features</a:t>
            </a:r>
            <a:r>
              <a:rPr lang="en-US" i="1" dirty="0" smtClean="0"/>
              <a:t>:</a:t>
            </a:r>
            <a:r>
              <a:rPr lang="en-US" dirty="0" smtClean="0"/>
              <a:t> ‘sqrt</a:t>
            </a:r>
            <a:r>
              <a:rPr lang="en-US" dirty="0" smtClean="0"/>
              <a:t>’</a:t>
            </a:r>
          </a:p>
          <a:p>
            <a:pPr lvl="1"/>
            <a:r>
              <a:rPr lang="en-US" i="1" dirty="0" smtClean="0"/>
              <a:t>min_samples_leaf:</a:t>
            </a:r>
            <a:r>
              <a:rPr lang="en-US" dirty="0" smtClean="0"/>
              <a:t> 12</a:t>
            </a:r>
          </a:p>
          <a:p>
            <a:pPr lvl="1"/>
            <a:r>
              <a:rPr lang="en-US" i="1" dirty="0" smtClean="0"/>
              <a:t>min_samples_split:</a:t>
            </a:r>
            <a:r>
              <a:rPr lang="en-US" dirty="0" smtClean="0"/>
              <a:t> 2</a:t>
            </a:r>
          </a:p>
          <a:p>
            <a:pPr lvl="1"/>
            <a:r>
              <a:rPr lang="en-US" i="1" dirty="0" smtClean="0"/>
              <a:t>n_estimators:</a:t>
            </a:r>
            <a:r>
              <a:rPr lang="en-US" dirty="0" smtClean="0"/>
              <a:t> 200</a:t>
            </a:r>
            <a:endParaRPr lang="pt-BR" dirty="0" smtClean="0"/>
          </a:p>
          <a:p>
            <a:pPr lvl="1">
              <a:buNone/>
            </a:pPr>
            <a:endParaRPr lang="pt-BR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8" y="2916510"/>
            <a:ext cx="9001125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692464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XGB com Radiação Solar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395536" y="977320"/>
          <a:ext cx="4284222" cy="173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074"/>
                <a:gridCol w="1428074"/>
                <a:gridCol w="1428074"/>
              </a:tblGrid>
              <a:tr h="304998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TREINO</a:t>
                      </a:r>
                      <a:endParaRPr lang="pt-BR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TESTE</a:t>
                      </a:r>
                      <a:endParaRPr lang="pt-BR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MSE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0.000973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0.000519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RMSE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0.031200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0.022789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r²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78.08 %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82.32 %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MAE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0.017253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0.012499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</a:tbl>
          </a:graphicData>
        </a:graphic>
      </p:graphicFrame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8" y="2916510"/>
            <a:ext cx="9001125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Espaço Reservado para Conteúdo 4"/>
          <p:cNvSpPr>
            <a:spLocks noGrp="1"/>
          </p:cNvSpPr>
          <p:nvPr>
            <p:ph sz="quarter" idx="4294967295"/>
          </p:nvPr>
        </p:nvSpPr>
        <p:spPr>
          <a:xfrm>
            <a:off x="4860032" y="908720"/>
            <a:ext cx="3960440" cy="2016224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r>
              <a:rPr lang="pt-BR" b="1" dirty="0" smtClean="0"/>
              <a:t>Parâmetros</a:t>
            </a:r>
            <a:endParaRPr lang="pt-BR" b="1" dirty="0"/>
          </a:p>
          <a:p>
            <a:pPr lvl="1"/>
            <a:r>
              <a:rPr lang="en-US" i="1" dirty="0" smtClean="0"/>
              <a:t>colsample_bytree:</a:t>
            </a:r>
            <a:r>
              <a:rPr lang="en-US" i="1" dirty="0" smtClean="0"/>
              <a:t> </a:t>
            </a:r>
            <a:r>
              <a:rPr lang="en-US" dirty="0" smtClean="0"/>
              <a:t>0.6</a:t>
            </a:r>
          </a:p>
          <a:p>
            <a:pPr lvl="1"/>
            <a:r>
              <a:rPr lang="en-US" i="1" dirty="0" smtClean="0"/>
              <a:t>learning_rate:</a:t>
            </a:r>
            <a:r>
              <a:rPr lang="en-US" i="1" dirty="0" smtClean="0"/>
              <a:t> </a:t>
            </a:r>
            <a:r>
              <a:rPr lang="en-US" dirty="0" smtClean="0"/>
              <a:t>0.03</a:t>
            </a:r>
          </a:p>
          <a:p>
            <a:pPr lvl="1"/>
            <a:r>
              <a:rPr lang="en-US" i="1" dirty="0" smtClean="0"/>
              <a:t>max_depth:</a:t>
            </a:r>
            <a:r>
              <a:rPr lang="en-US" i="1" dirty="0" smtClean="0"/>
              <a:t> </a:t>
            </a:r>
            <a:r>
              <a:rPr lang="en-US" dirty="0" smtClean="0"/>
              <a:t>3</a:t>
            </a:r>
          </a:p>
          <a:p>
            <a:pPr lvl="1"/>
            <a:r>
              <a:rPr lang="en-US" i="1" dirty="0" smtClean="0"/>
              <a:t>min_child_weight:</a:t>
            </a:r>
            <a:r>
              <a:rPr lang="en-US" i="1" dirty="0" smtClean="0"/>
              <a:t> </a:t>
            </a:r>
            <a:r>
              <a:rPr lang="en-US" dirty="0" smtClean="0"/>
              <a:t>8</a:t>
            </a:r>
          </a:p>
          <a:p>
            <a:pPr lvl="1"/>
            <a:r>
              <a:rPr lang="en-US" i="1" dirty="0" smtClean="0"/>
              <a:t>n_estimators:</a:t>
            </a:r>
            <a:r>
              <a:rPr lang="en-US" i="1" dirty="0" smtClean="0"/>
              <a:t> </a:t>
            </a:r>
            <a:r>
              <a:rPr lang="en-US" dirty="0" smtClean="0"/>
              <a:t>175</a:t>
            </a:r>
          </a:p>
          <a:p>
            <a:pPr lvl="1"/>
            <a:r>
              <a:rPr lang="en-US" i="1" dirty="0" smtClean="0"/>
              <a:t>n_jobs: </a:t>
            </a:r>
            <a:r>
              <a:rPr lang="en-US" dirty="0" smtClean="0"/>
              <a:t>4</a:t>
            </a:r>
          </a:p>
          <a:p>
            <a:pPr lvl="1"/>
            <a:r>
              <a:rPr lang="en-US" i="1" dirty="0" smtClean="0"/>
              <a:t>objective: </a:t>
            </a:r>
            <a:r>
              <a:rPr lang="en-US" dirty="0" smtClean="0"/>
              <a:t>'</a:t>
            </a:r>
            <a:r>
              <a:rPr lang="en-US" dirty="0" err="1" smtClean="0"/>
              <a:t>reg:squarederror</a:t>
            </a:r>
            <a:r>
              <a:rPr lang="en-US" dirty="0" smtClean="0"/>
              <a:t>‘</a:t>
            </a:r>
          </a:p>
          <a:p>
            <a:pPr lvl="1"/>
            <a:r>
              <a:rPr lang="en-US" i="1" dirty="0" smtClean="0"/>
              <a:t>subsample: </a:t>
            </a:r>
            <a:r>
              <a:rPr lang="en-US" dirty="0" smtClean="0"/>
              <a:t>0.7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50704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XGB </a:t>
            </a:r>
            <a:r>
              <a:rPr lang="pt-BR" dirty="0" smtClean="0"/>
              <a:t>sem</a:t>
            </a:r>
            <a:r>
              <a:rPr lang="pt-BR" dirty="0" smtClean="0"/>
              <a:t> </a:t>
            </a:r>
            <a:r>
              <a:rPr lang="pt-BR" dirty="0"/>
              <a:t>Radiação Solar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395536" y="977320"/>
          <a:ext cx="4284222" cy="173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074"/>
                <a:gridCol w="1428074"/>
                <a:gridCol w="1428074"/>
              </a:tblGrid>
              <a:tr h="304998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TREINO</a:t>
                      </a:r>
                      <a:endParaRPr lang="pt-BR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TESTE</a:t>
                      </a:r>
                      <a:endParaRPr lang="pt-BR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MSE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0.002295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0.001515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RMSE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0.047907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0.038922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r²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48.32 %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48.42 %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MAE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0.032339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0.024991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</a:tbl>
          </a:graphicData>
        </a:graphic>
      </p:graphicFrame>
      <p:sp>
        <p:nvSpPr>
          <p:cNvPr id="8" name="Espaço Reservado para Conteúdo 4"/>
          <p:cNvSpPr>
            <a:spLocks noGrp="1"/>
          </p:cNvSpPr>
          <p:nvPr>
            <p:ph sz="quarter" idx="4294967295"/>
          </p:nvPr>
        </p:nvSpPr>
        <p:spPr>
          <a:xfrm>
            <a:off x="4860032" y="908720"/>
            <a:ext cx="3960440" cy="2016224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r>
              <a:rPr lang="pt-BR" b="1" dirty="0" smtClean="0"/>
              <a:t>Parâmetros</a:t>
            </a:r>
            <a:endParaRPr lang="pt-BR" b="1" dirty="0"/>
          </a:p>
          <a:p>
            <a:pPr lvl="1"/>
            <a:r>
              <a:rPr lang="en-US" i="1" dirty="0" smtClean="0"/>
              <a:t>colsample_bytree:</a:t>
            </a:r>
            <a:r>
              <a:rPr lang="en-US" i="1" dirty="0" smtClean="0"/>
              <a:t> </a:t>
            </a:r>
            <a:r>
              <a:rPr lang="en-US" dirty="0" smtClean="0"/>
              <a:t>0.6</a:t>
            </a:r>
          </a:p>
          <a:p>
            <a:pPr lvl="1"/>
            <a:r>
              <a:rPr lang="en-US" i="1" dirty="0" smtClean="0"/>
              <a:t>learning_rate:</a:t>
            </a:r>
            <a:r>
              <a:rPr lang="en-US" i="1" dirty="0" smtClean="0"/>
              <a:t> </a:t>
            </a:r>
            <a:r>
              <a:rPr lang="en-US" dirty="0" smtClean="0"/>
              <a:t>0.03</a:t>
            </a:r>
          </a:p>
          <a:p>
            <a:pPr lvl="1"/>
            <a:r>
              <a:rPr lang="en-US" i="1" dirty="0" smtClean="0"/>
              <a:t>max_depth:</a:t>
            </a:r>
            <a:r>
              <a:rPr lang="en-US" i="1" dirty="0" smtClean="0"/>
              <a:t> </a:t>
            </a:r>
            <a:r>
              <a:rPr lang="en-US" dirty="0" smtClean="0"/>
              <a:t>3</a:t>
            </a:r>
          </a:p>
          <a:p>
            <a:pPr lvl="1"/>
            <a:r>
              <a:rPr lang="en-US" i="1" dirty="0" smtClean="0"/>
              <a:t>min_child_weight:</a:t>
            </a:r>
            <a:r>
              <a:rPr lang="en-US" i="1" dirty="0" smtClean="0"/>
              <a:t> </a:t>
            </a:r>
            <a:r>
              <a:rPr lang="en-US" dirty="0" smtClean="0"/>
              <a:t>8</a:t>
            </a:r>
          </a:p>
          <a:p>
            <a:pPr lvl="1"/>
            <a:r>
              <a:rPr lang="en-US" i="1" dirty="0" smtClean="0"/>
              <a:t>n_estimators:</a:t>
            </a:r>
            <a:r>
              <a:rPr lang="en-US" i="1" dirty="0" smtClean="0"/>
              <a:t> </a:t>
            </a:r>
            <a:r>
              <a:rPr lang="en-US" dirty="0" smtClean="0"/>
              <a:t>175</a:t>
            </a:r>
          </a:p>
          <a:p>
            <a:pPr lvl="1"/>
            <a:r>
              <a:rPr lang="en-US" i="1" dirty="0" smtClean="0"/>
              <a:t>n_jobs: </a:t>
            </a:r>
            <a:r>
              <a:rPr lang="en-US" dirty="0" smtClean="0"/>
              <a:t>4</a:t>
            </a:r>
          </a:p>
          <a:p>
            <a:pPr lvl="1"/>
            <a:r>
              <a:rPr lang="en-US" i="1" dirty="0" smtClean="0"/>
              <a:t>objective: </a:t>
            </a:r>
            <a:r>
              <a:rPr lang="en-US" dirty="0" smtClean="0"/>
              <a:t>'</a:t>
            </a:r>
            <a:r>
              <a:rPr lang="en-US" dirty="0" err="1" smtClean="0"/>
              <a:t>reg:squarederror</a:t>
            </a:r>
            <a:r>
              <a:rPr lang="en-US" dirty="0" smtClean="0"/>
              <a:t>‘</a:t>
            </a:r>
          </a:p>
          <a:p>
            <a:pPr lvl="1"/>
            <a:r>
              <a:rPr lang="en-US" i="1" dirty="0" smtClean="0"/>
              <a:t>subsample: </a:t>
            </a:r>
            <a:r>
              <a:rPr lang="en-US" dirty="0" smtClean="0"/>
              <a:t>0.7</a:t>
            </a:r>
            <a:endParaRPr lang="pt-B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8" y="2916510"/>
            <a:ext cx="9001125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50704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 smtClean="0"/>
              <a:t>LSTM </a:t>
            </a:r>
            <a:r>
              <a:rPr lang="pt-BR" dirty="0" smtClean="0"/>
              <a:t>sem</a:t>
            </a:r>
            <a:r>
              <a:rPr lang="pt-BR" dirty="0" smtClean="0"/>
              <a:t> </a:t>
            </a:r>
            <a:r>
              <a:rPr lang="pt-BR" dirty="0"/>
              <a:t>Radiação Solar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395536" y="977320"/>
          <a:ext cx="4284222" cy="173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074"/>
                <a:gridCol w="1428074"/>
                <a:gridCol w="1428074"/>
              </a:tblGrid>
              <a:tr h="304998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TREINO</a:t>
                      </a:r>
                      <a:endParaRPr lang="pt-BR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TESTE</a:t>
                      </a:r>
                      <a:endParaRPr lang="pt-BR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MSE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0.002600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0.001749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RMSE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0.050995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0.041819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r²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41.45 %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40.46 %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  <a:tr h="30499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/>
                        <a:t>MAE</a:t>
                      </a:r>
                      <a:endParaRPr lang="pt-BR" sz="1600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0.035378</a:t>
                      </a:r>
                      <a:endParaRPr lang="pt-BR" b="1" dirty="0"/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/>
                        <a:t>0.026966</a:t>
                      </a:r>
                      <a:endParaRPr lang="pt-BR" b="1" dirty="0"/>
                    </a:p>
                  </a:txBody>
                  <a:tcPr marL="72000" marR="72000" marT="36000" marB="36000"/>
                </a:tc>
              </a:tr>
            </a:tbl>
          </a:graphicData>
        </a:graphic>
      </p:graphicFrame>
      <p:sp>
        <p:nvSpPr>
          <p:cNvPr id="8" name="Espaço Reservado para Conteúdo 4"/>
          <p:cNvSpPr>
            <a:spLocks noGrp="1"/>
          </p:cNvSpPr>
          <p:nvPr>
            <p:ph sz="quarter" idx="4294967295"/>
          </p:nvPr>
        </p:nvSpPr>
        <p:spPr>
          <a:xfrm>
            <a:off x="4860032" y="908720"/>
            <a:ext cx="4283968" cy="2160240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r>
              <a:rPr lang="pt-BR" b="1" dirty="0" smtClean="0"/>
              <a:t>Topologia</a:t>
            </a:r>
          </a:p>
          <a:p>
            <a:pPr lvl="1"/>
            <a:r>
              <a:rPr lang="en-US" i="1" dirty="0" smtClean="0"/>
              <a:t>1ª Camada 50 neurônios</a:t>
            </a:r>
          </a:p>
          <a:p>
            <a:pPr lvl="1"/>
            <a:r>
              <a:rPr lang="en-US" i="1" dirty="0" smtClean="0"/>
              <a:t>2ª Camada Oculta 1 neurônio</a:t>
            </a:r>
          </a:p>
          <a:p>
            <a:pPr lvl="1"/>
            <a:r>
              <a:rPr lang="en-US" i="1" dirty="0" smtClean="0"/>
              <a:t>optimizer: ‘adam’</a:t>
            </a:r>
          </a:p>
          <a:p>
            <a:pPr lvl="1"/>
            <a:r>
              <a:rPr lang="en-US" i="1" dirty="0" smtClean="0"/>
              <a:t>max_epochs</a:t>
            </a:r>
            <a:r>
              <a:rPr lang="en-US" i="1" dirty="0" smtClean="0"/>
              <a:t>: </a:t>
            </a:r>
            <a:r>
              <a:rPr lang="en-US" i="1" dirty="0" smtClean="0"/>
              <a:t>70</a:t>
            </a:r>
          </a:p>
          <a:p>
            <a:pPr lvl="1"/>
            <a:r>
              <a:rPr lang="en-US" i="1" dirty="0" smtClean="0"/>
              <a:t>batch_size: 60</a:t>
            </a:r>
          </a:p>
          <a:p>
            <a:pPr lvl="1"/>
            <a:endParaRPr lang="en-US" i="1" dirty="0" smtClean="0"/>
          </a:p>
          <a:p>
            <a:pPr lvl="1"/>
            <a:endParaRPr lang="en-US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8" y="3251795"/>
            <a:ext cx="9001125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50704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Melhor resultado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" indent="0" algn="just"/>
            <a:r>
              <a:rPr lang="pt-BR" dirty="0" smtClean="0"/>
              <a:t>Mesmo sem o campo referente a radiação solar, os erros não apresentaram muita diferença.</a:t>
            </a:r>
          </a:p>
          <a:p>
            <a:pPr marL="36576" indent="0" algn="just"/>
            <a:r>
              <a:rPr lang="pt-BR" dirty="0" smtClean="0"/>
              <a:t>De </a:t>
            </a:r>
            <a:r>
              <a:rPr lang="pt-BR" dirty="0"/>
              <a:t>acordo com os treinamentos realizados, o resultado mais </a:t>
            </a:r>
            <a:r>
              <a:rPr lang="pt-BR" dirty="0" smtClean="0"/>
              <a:t>satisfatório (sem a radiação solar) </a:t>
            </a:r>
            <a:r>
              <a:rPr lang="pt-BR" dirty="0"/>
              <a:t>foi </a:t>
            </a:r>
            <a:r>
              <a:rPr lang="pt-BR" dirty="0" smtClean="0"/>
              <a:t>do modelo XGBRegressor</a:t>
            </a:r>
            <a:r>
              <a:rPr lang="pt-BR" dirty="0"/>
              <a:t>, se </a:t>
            </a:r>
            <a:r>
              <a:rPr lang="pt-BR" dirty="0" smtClean="0"/>
              <a:t>comparado os valores de erros obtidos.</a:t>
            </a:r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écnica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Técnica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écnica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1352</TotalTime>
  <Words>591</Words>
  <Application>Microsoft Office PowerPoint</Application>
  <PresentationFormat>Apresentação na tela (4:3)</PresentationFormat>
  <Paragraphs>215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18" baseType="lpstr">
      <vt:lpstr>Técnica</vt:lpstr>
      <vt:lpstr>Previsão de geração de Energia</vt:lpstr>
      <vt:lpstr>Problema</vt:lpstr>
      <vt:lpstr>Oportunidade</vt:lpstr>
      <vt:lpstr>Yingli</vt:lpstr>
      <vt:lpstr>Pesquisas e relações</vt:lpstr>
      <vt:lpstr>DataSets – (julho 2018 a junho 2019)</vt:lpstr>
      <vt:lpstr>Slide 7</vt:lpstr>
      <vt:lpstr>Slide 8</vt:lpstr>
      <vt:lpstr>Inicio do treinamento</vt:lpstr>
      <vt:lpstr>Regressão Linear com Radiação Solar</vt:lpstr>
      <vt:lpstr>Regressão Linear sem Radiação Solar</vt:lpstr>
      <vt:lpstr>Random Forest com Radiação Solar</vt:lpstr>
      <vt:lpstr>Random Forest sem Radiação Solar</vt:lpstr>
      <vt:lpstr>XGB com Radiação Solar</vt:lpstr>
      <vt:lpstr>XGB sem Radiação Solar</vt:lpstr>
      <vt:lpstr>LSTM sem Radiação Solar</vt:lpstr>
      <vt:lpstr>Melhor resultado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Previsão de geração de Potência</dc:title>
  <dc:creator>Léo</dc:creator>
  <cp:lastModifiedBy>Léo</cp:lastModifiedBy>
  <cp:revision>165</cp:revision>
  <dcterms:created xsi:type="dcterms:W3CDTF">2019-01-08T20:28:04Z</dcterms:created>
  <dcterms:modified xsi:type="dcterms:W3CDTF">2019-10-25T02:33:03Z</dcterms:modified>
</cp:coreProperties>
</file>