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67" r:id="rId5"/>
    <p:sldId id="259" r:id="rId6"/>
    <p:sldId id="265" r:id="rId7"/>
    <p:sldId id="262" r:id="rId8"/>
    <p:sldId id="266" r:id="rId9"/>
    <p:sldId id="263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4660"/>
  </p:normalViewPr>
  <p:slideViewPr>
    <p:cSldViewPr>
      <p:cViewPr varScale="1">
        <p:scale>
          <a:sx n="69" d="100"/>
          <a:sy n="69" d="100"/>
        </p:scale>
        <p:origin x="-136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AECCE36-3571-4968-83F3-3EDE54EE4C12}" type="datetimeFigureOut">
              <a:rPr lang="pt-BR" smtClean="0"/>
              <a:pPr/>
              <a:t>10/01/2019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pe.gov.br/pt/abcdenergia/matriz-energetica-e-eletrica" TargetMode="External"/><Relationship Id="rId2" Type="http://schemas.openxmlformats.org/officeDocument/2006/relationships/hyperlink" Target="https://www.portal-energia.com/matriz-energetica-brasileir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bluesol.com.br/energia-solar-no-brasil-panorama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9592" y="1700808"/>
            <a:ext cx="7380312" cy="2952328"/>
          </a:xfrm>
        </p:spPr>
        <p:txBody>
          <a:bodyPr/>
          <a:lstStyle/>
          <a:p>
            <a:pPr algn="ctr"/>
            <a:r>
              <a:rPr lang="pt-BR" i="1" dirty="0" smtClean="0"/>
              <a:t>Previsão de geração de Potência</a:t>
            </a:r>
            <a:endParaRPr lang="pt-BR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07704" y="4941168"/>
            <a:ext cx="6400800" cy="1057672"/>
          </a:xfrm>
        </p:spPr>
        <p:txBody>
          <a:bodyPr>
            <a:normAutofit/>
          </a:bodyPr>
          <a:lstStyle/>
          <a:p>
            <a:pPr algn="r"/>
            <a:r>
              <a:rPr lang="pt-BR" sz="2400" dirty="0" smtClean="0"/>
              <a:t>José Diniz Junior RA:183134</a:t>
            </a:r>
          </a:p>
          <a:p>
            <a:pPr algn="r"/>
            <a:r>
              <a:rPr lang="pt-BR" sz="2400" dirty="0" smtClean="0"/>
              <a:t>Roberto Leonardo Rodrigues RA:060235</a:t>
            </a:r>
            <a:endParaRPr lang="pt-B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Problema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3629000"/>
          </a:xfrm>
        </p:spPr>
        <p:txBody>
          <a:bodyPr/>
          <a:lstStyle/>
          <a:p>
            <a:pPr algn="just"/>
            <a:r>
              <a:rPr lang="pt-BR" dirty="0" smtClean="0"/>
              <a:t>Geração de energia por fontes não renováveis;</a:t>
            </a:r>
          </a:p>
          <a:p>
            <a:pPr algn="just"/>
            <a:r>
              <a:rPr lang="pt-BR" dirty="0" smtClean="0"/>
              <a:t>Qualidade do ar, meio ambiente;</a:t>
            </a:r>
          </a:p>
          <a:p>
            <a:pPr algn="just"/>
            <a:r>
              <a:rPr lang="pt-BR" dirty="0" smtClean="0"/>
              <a:t>A geração de energia através de painéis solares representa uma pequena fatia na matriz energética do Brasil, cerca de 0,82 %;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827584" y="5517232"/>
            <a:ext cx="7416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Fontes:</a:t>
            </a:r>
          </a:p>
          <a:p>
            <a:r>
              <a:rPr lang="pt-BR" dirty="0" smtClean="0">
                <a:hlinkClick r:id="rId2"/>
              </a:rPr>
              <a:t>https://www.portal-energia.com/matriz-energetica-brasileira/</a:t>
            </a:r>
            <a:endParaRPr lang="pt-BR" dirty="0" smtClean="0"/>
          </a:p>
          <a:p>
            <a:r>
              <a:rPr lang="pt-BR" dirty="0" smtClean="0">
                <a:hlinkClick r:id="rId3"/>
              </a:rPr>
              <a:t>http://</a:t>
            </a:r>
            <a:r>
              <a:rPr lang="pt-BR" dirty="0" smtClean="0">
                <a:hlinkClick r:id="rId3"/>
              </a:rPr>
              <a:t>www.epe.gov.br/pt/abcdenergia/matriz-energetica-e-eletrica</a:t>
            </a:r>
            <a:endParaRPr lang="pt-BR" dirty="0" smtClean="0"/>
          </a:p>
          <a:p>
            <a:r>
              <a:rPr lang="pt-BR" dirty="0" smtClean="0">
                <a:hlinkClick r:id="rId4"/>
              </a:rPr>
              <a:t>https://blog.bluesol.com.br/energia-solar-no-brasil-panorama</a:t>
            </a:r>
            <a:r>
              <a:rPr lang="pt-BR" dirty="0" smtClean="0">
                <a:hlinkClick r:id="rId4"/>
              </a:rPr>
              <a:t>/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Oportunidade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2980927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/>
              <a:t>Propor um sistema para previsão de geração de </a:t>
            </a:r>
            <a:r>
              <a:rPr lang="pt-BR" dirty="0" smtClean="0"/>
              <a:t>potência</a:t>
            </a:r>
            <a:r>
              <a:rPr lang="pt-BR" dirty="0" smtClean="0"/>
              <a:t>, utilizando técnicas de machine </a:t>
            </a:r>
            <a:r>
              <a:rPr lang="pt-BR" dirty="0" err="1" smtClean="0"/>
              <a:t>learning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Visando uma melhor estimativa para investimento  e geração de energia em um determinado local</a:t>
            </a:r>
            <a:r>
              <a:rPr lang="pt-BR" dirty="0" smtClean="0"/>
              <a:t>.</a:t>
            </a:r>
          </a:p>
          <a:p>
            <a:pPr algn="just"/>
            <a:endParaRPr lang="pt-BR" dirty="0" smtClean="0"/>
          </a:p>
          <a:p>
            <a:pPr algn="just">
              <a:buNone/>
            </a:pP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467544" y="5589240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971600" y="4653136"/>
            <a:ext cx="3053868" cy="538629"/>
          </a:xfrm>
          <a:prstGeom prst="rect">
            <a:avLst/>
          </a:prstGeom>
        </p:spPr>
        <p:txBody>
          <a:bodyPr vert="horz" lIns="45720" rIns="4572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Cálculo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Espaço Reservado para Texto 3"/>
          <p:cNvSpPr txBox="1">
            <a:spLocks/>
          </p:cNvSpPr>
          <p:nvPr/>
        </p:nvSpPr>
        <p:spPr>
          <a:xfrm>
            <a:off x="971600" y="5229200"/>
            <a:ext cx="4464496" cy="504056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pt-BR" dirty="0" smtClean="0"/>
              <a:t>Energia = Potência x tempo x rendimento</a:t>
            </a:r>
            <a:endParaRPr kumimoji="0" lang="pt-B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3284984"/>
            <a:ext cx="3053868" cy="538629"/>
          </a:xfrm>
        </p:spPr>
        <p:txBody>
          <a:bodyPr>
            <a:normAutofit/>
          </a:bodyPr>
          <a:lstStyle/>
          <a:p>
            <a:r>
              <a:rPr lang="pt-BR" sz="2800" dirty="0" smtClean="0"/>
              <a:t>Yingli</a:t>
            </a:r>
            <a:endParaRPr lang="pt-BR" sz="2800" dirty="0"/>
          </a:p>
        </p:txBody>
      </p:sp>
      <p:pic>
        <p:nvPicPr>
          <p:cNvPr id="5" name="Espaço Reservado para Imagem 4" descr="245w.jpg"/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21850" r="21850"/>
          <a:stretch>
            <a:fillRect/>
          </a:stretch>
        </p:blipFill>
        <p:spPr>
          <a:xfrm>
            <a:off x="4726360" y="620688"/>
            <a:ext cx="3960440" cy="3960440"/>
          </a:xfrm>
        </p:spPr>
      </p:pic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67546" y="3861048"/>
            <a:ext cx="3341898" cy="576064"/>
          </a:xfrm>
        </p:spPr>
        <p:txBody>
          <a:bodyPr>
            <a:normAutofit/>
          </a:bodyPr>
          <a:lstStyle/>
          <a:p>
            <a:r>
              <a:rPr lang="pt-BR" sz="2200" dirty="0" smtClean="0"/>
              <a:t>Modelo: </a:t>
            </a:r>
            <a:r>
              <a:rPr lang="pt-BR" sz="2200" dirty="0" smtClean="0"/>
              <a:t>245 </a:t>
            </a:r>
            <a:r>
              <a:rPr lang="pt-BR" sz="2200" dirty="0" smtClean="0"/>
              <a:t>W</a:t>
            </a:r>
          </a:p>
          <a:p>
            <a:endParaRPr lang="pt-BR" sz="1800" dirty="0" smtClean="0"/>
          </a:p>
          <a:p>
            <a:endParaRPr lang="pt-BR" sz="1800" dirty="0" smtClean="0"/>
          </a:p>
        </p:txBody>
      </p:sp>
      <p:sp>
        <p:nvSpPr>
          <p:cNvPr id="9" name="CaixaDeTexto 8"/>
          <p:cNvSpPr txBox="1"/>
          <p:nvPr/>
        </p:nvSpPr>
        <p:spPr>
          <a:xfrm>
            <a:off x="323528" y="1334378"/>
            <a:ext cx="41044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 smtClean="0"/>
              <a:t>Utilizando dados de estações meteorológicas e de painéis solares do </a:t>
            </a:r>
            <a:r>
              <a:rPr lang="pt-BR" sz="2200" dirty="0" err="1" smtClean="0"/>
              <a:t>Smart</a:t>
            </a:r>
            <a:r>
              <a:rPr lang="pt-BR" sz="2200" dirty="0" smtClean="0"/>
              <a:t> Campus </a:t>
            </a:r>
            <a:r>
              <a:rPr lang="pt-BR" sz="2200" dirty="0" err="1" smtClean="0"/>
              <a:t>Facens</a:t>
            </a:r>
            <a:r>
              <a:rPr lang="pt-BR" sz="2200" dirty="0" smtClean="0"/>
              <a:t>.</a:t>
            </a:r>
            <a:endParaRPr lang="pt-BR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DataSets – (setembro 2018)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459804" y="1340768"/>
            <a:ext cx="4040188" cy="462880"/>
          </a:xfrm>
        </p:spPr>
        <p:txBody>
          <a:bodyPr/>
          <a:lstStyle/>
          <a:p>
            <a:r>
              <a:rPr lang="pt-BR" i="1" u="sng" dirty="0" smtClean="0"/>
              <a:t>Fotovoltaico.csv</a:t>
            </a:r>
            <a:endParaRPr lang="pt-BR" i="1" u="sng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half" idx="3"/>
          </p:nvPr>
        </p:nvSpPr>
        <p:spPr>
          <a:xfrm>
            <a:off x="4644008" y="1340768"/>
            <a:ext cx="4041775" cy="462880"/>
          </a:xfrm>
        </p:spPr>
        <p:txBody>
          <a:bodyPr/>
          <a:lstStyle/>
          <a:p>
            <a:r>
              <a:rPr lang="pt-BR" i="1" u="sng" dirty="0" err="1" smtClean="0"/>
              <a:t>Meteorologico</a:t>
            </a:r>
            <a:r>
              <a:rPr lang="pt-BR" i="1" u="sng" dirty="0" smtClean="0"/>
              <a:t>.</a:t>
            </a:r>
            <a:r>
              <a:rPr lang="pt-BR" i="1" u="sng" dirty="0" err="1" smtClean="0"/>
              <a:t>csv</a:t>
            </a:r>
            <a:endParaRPr lang="pt-BR" i="1" u="sng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95536" y="1844824"/>
            <a:ext cx="4040188" cy="4536504"/>
          </a:xfrm>
        </p:spPr>
        <p:txBody>
          <a:bodyPr>
            <a:normAutofit/>
          </a:bodyPr>
          <a:lstStyle/>
          <a:p>
            <a:r>
              <a:rPr lang="pt-BR" dirty="0" smtClean="0"/>
              <a:t>Registros: 684.450</a:t>
            </a:r>
          </a:p>
          <a:p>
            <a:r>
              <a:rPr lang="pt-BR" dirty="0" smtClean="0"/>
              <a:t>Campos</a:t>
            </a:r>
          </a:p>
          <a:p>
            <a:pPr lvl="1"/>
            <a:r>
              <a:rPr lang="pt-BR" dirty="0" smtClean="0"/>
              <a:t>data </a:t>
            </a:r>
          </a:p>
          <a:p>
            <a:pPr lvl="1"/>
            <a:r>
              <a:rPr lang="pt-BR" dirty="0" smtClean="0"/>
              <a:t>energia_dia</a:t>
            </a:r>
          </a:p>
          <a:p>
            <a:pPr lvl="1"/>
            <a:r>
              <a:rPr lang="pt-BR" dirty="0" smtClean="0"/>
              <a:t>energia_ano</a:t>
            </a:r>
          </a:p>
          <a:p>
            <a:pPr lvl="1"/>
            <a:r>
              <a:rPr lang="pt-BR" dirty="0" smtClean="0"/>
              <a:t>energia_total</a:t>
            </a:r>
          </a:p>
          <a:p>
            <a:pPr lvl="1"/>
            <a:r>
              <a:rPr lang="pt-BR" dirty="0" smtClean="0"/>
              <a:t>potencia</a:t>
            </a:r>
          </a:p>
          <a:p>
            <a:pPr lvl="1"/>
            <a:r>
              <a:rPr lang="pt-BR" strike="sngStrike" dirty="0" smtClean="0"/>
              <a:t>power_led</a:t>
            </a:r>
          </a:p>
          <a:p>
            <a:pPr lvl="1"/>
            <a:r>
              <a:rPr lang="pt-BR" strike="sngStrike" dirty="0" smtClean="0"/>
              <a:t>solarnet_led</a:t>
            </a:r>
          </a:p>
          <a:p>
            <a:pPr lvl="1"/>
            <a:r>
              <a:rPr lang="pt-BR" strike="sngStrike" dirty="0" smtClean="0"/>
              <a:t>solarweb_led</a:t>
            </a:r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4"/>
          </p:nvPr>
        </p:nvSpPr>
        <p:spPr>
          <a:xfrm>
            <a:off x="4645025" y="1844823"/>
            <a:ext cx="4041775" cy="4680521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Registros: 4.297</a:t>
            </a:r>
          </a:p>
          <a:p>
            <a:r>
              <a:rPr lang="pt-BR" dirty="0" smtClean="0"/>
              <a:t>Campos</a:t>
            </a:r>
          </a:p>
          <a:p>
            <a:pPr lvl="1"/>
            <a:r>
              <a:rPr lang="pt-BR" dirty="0" smtClean="0"/>
              <a:t>data                   </a:t>
            </a:r>
          </a:p>
          <a:p>
            <a:pPr lvl="1"/>
            <a:r>
              <a:rPr lang="pt-BR" strike="sngStrike" dirty="0" smtClean="0"/>
              <a:t>deficit_vapor_vmin </a:t>
            </a:r>
            <a:r>
              <a:rPr lang="pt-BR" dirty="0" smtClean="0"/>
              <a:t>    </a:t>
            </a:r>
          </a:p>
          <a:p>
            <a:pPr lvl="1"/>
            <a:r>
              <a:rPr lang="pt-BR" strike="sngStrike" dirty="0" smtClean="0"/>
              <a:t>deficit_vapor_vmedio </a:t>
            </a:r>
            <a:r>
              <a:rPr lang="pt-BR" dirty="0" smtClean="0"/>
              <a:t>  </a:t>
            </a:r>
          </a:p>
          <a:p>
            <a:pPr lvl="1"/>
            <a:r>
              <a:rPr lang="pt-BR" strike="sngStrike" dirty="0" smtClean="0"/>
              <a:t>ponto_orvalho_vmin </a:t>
            </a:r>
            <a:r>
              <a:rPr lang="pt-BR" dirty="0" smtClean="0"/>
              <a:t>    </a:t>
            </a:r>
          </a:p>
          <a:p>
            <a:pPr lvl="1"/>
            <a:r>
              <a:rPr lang="pt-BR" strike="sngStrike" dirty="0" smtClean="0"/>
              <a:t>ponto_orvalho_vmedio</a:t>
            </a:r>
            <a:r>
              <a:rPr lang="pt-BR" dirty="0" smtClean="0"/>
              <a:t>   </a:t>
            </a:r>
          </a:p>
          <a:p>
            <a:pPr lvl="1"/>
            <a:r>
              <a:rPr lang="pt-BR" dirty="0" smtClean="0"/>
              <a:t>precipitacao_valor     </a:t>
            </a:r>
          </a:p>
          <a:p>
            <a:pPr lvl="1"/>
            <a:r>
              <a:rPr lang="pt-BR" dirty="0" smtClean="0"/>
              <a:t>radiacao_solar_valor   </a:t>
            </a:r>
          </a:p>
          <a:p>
            <a:pPr lvl="1"/>
            <a:r>
              <a:rPr lang="pt-BR" dirty="0" smtClean="0"/>
              <a:t>temperatura_ar_vmin    </a:t>
            </a:r>
          </a:p>
          <a:p>
            <a:pPr lvl="1"/>
            <a:r>
              <a:rPr lang="pt-BR" dirty="0" smtClean="0"/>
              <a:t>temperatura_ar_vmedio  </a:t>
            </a:r>
          </a:p>
          <a:p>
            <a:pPr lvl="1"/>
            <a:r>
              <a:rPr lang="pt-BR" dirty="0" smtClean="0"/>
              <a:t>temperatura_ar_vmax    </a:t>
            </a:r>
          </a:p>
          <a:p>
            <a:pPr lvl="1"/>
            <a:r>
              <a:rPr lang="pt-BR" dirty="0" smtClean="0"/>
              <a:t>umidade_ar_vmin        </a:t>
            </a:r>
          </a:p>
          <a:p>
            <a:pPr lvl="1"/>
            <a:r>
              <a:rPr lang="pt-BR" dirty="0" smtClean="0"/>
              <a:t>umidade_ar_vmedio      </a:t>
            </a:r>
          </a:p>
          <a:p>
            <a:pPr lvl="1"/>
            <a:r>
              <a:rPr lang="pt-BR" dirty="0" smtClean="0"/>
              <a:t>umidade_ar_vmax        </a:t>
            </a:r>
          </a:p>
          <a:p>
            <a:pPr lvl="1"/>
            <a:r>
              <a:rPr lang="pt-BR" strike="sngStrike" dirty="0" smtClean="0"/>
              <a:t>velocidade_vento_vmedio</a:t>
            </a:r>
          </a:p>
          <a:p>
            <a:pPr lvl="1"/>
            <a:r>
              <a:rPr lang="pt-BR" strike="sngStrike" dirty="0" smtClean="0"/>
              <a:t>velocidade_vento_vmax </a:t>
            </a:r>
            <a:endParaRPr lang="pt-BR" strike="sngStrik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443272"/>
          </a:xfrm>
        </p:spPr>
        <p:txBody>
          <a:bodyPr/>
          <a:lstStyle/>
          <a:p>
            <a:r>
              <a:rPr lang="pt-BR" dirty="0" smtClean="0"/>
              <a:t>Radiação por potência</a:t>
            </a:r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pt-BR" sz="4000" dirty="0" smtClean="0"/>
              <a:t>Gráficos</a:t>
            </a:r>
            <a:endParaRPr lang="pt-BR" sz="4000" dirty="0"/>
          </a:p>
        </p:txBody>
      </p:sp>
      <p:pic>
        <p:nvPicPr>
          <p:cNvPr id="9" name="Espaço Reservado para Conteúdo 8" descr="radiacaoxpotencia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628800"/>
            <a:ext cx="7643192" cy="410445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371264"/>
          </a:xfrm>
        </p:spPr>
        <p:txBody>
          <a:bodyPr/>
          <a:lstStyle/>
          <a:p>
            <a:r>
              <a:rPr lang="pt-BR" dirty="0" smtClean="0"/>
              <a:t>Umidade por potência</a:t>
            </a:r>
            <a:endParaRPr lang="pt-BR" dirty="0"/>
          </a:p>
        </p:txBody>
      </p:sp>
      <p:pic>
        <p:nvPicPr>
          <p:cNvPr id="5" name="Espaço Reservado para Conteúdo 4" descr="umidadexpotencia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628800"/>
            <a:ext cx="7632847" cy="410445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Pesquisas e relações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</a:t>
            </a:r>
            <a:r>
              <a:rPr lang="pt-BR" dirty="0" smtClean="0"/>
              <a:t>principal objetivo dos trabalhos analisados é a previsao de geração de energia com a junção de dados </a:t>
            </a:r>
            <a:r>
              <a:rPr lang="pt-BR" dirty="0" smtClean="0"/>
              <a:t>fotovoltaicos </a:t>
            </a:r>
            <a:r>
              <a:rPr lang="pt-BR" dirty="0" smtClean="0"/>
              <a:t>e </a:t>
            </a:r>
            <a:r>
              <a:rPr lang="pt-BR" dirty="0" smtClean="0"/>
              <a:t>meteorológicos.</a:t>
            </a:r>
            <a:endParaRPr lang="pt-BR" dirty="0" smtClean="0"/>
          </a:p>
          <a:p>
            <a:pPr marL="608076" indent="-571500" algn="just">
              <a:buFont typeface="+mj-lt"/>
              <a:buAutoNum type="romanUcPeriod"/>
            </a:pPr>
            <a:r>
              <a:rPr lang="pt-BR" dirty="0" smtClean="0"/>
              <a:t>Previsão com poucos dados;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 smtClean="0"/>
              <a:t>Previsão para próximas 24 horas;</a:t>
            </a:r>
            <a:endParaRPr lang="pt-BR" dirty="0"/>
          </a:p>
          <a:p>
            <a:pPr marL="608076" indent="-571500" algn="just">
              <a:buFont typeface="+mj-lt"/>
              <a:buAutoNum type="romanUcPeriod"/>
            </a:pPr>
            <a:r>
              <a:rPr lang="pt-BR" dirty="0" smtClean="0"/>
              <a:t>Variação de técnicas de classificação para encontrar erros no sistema de geração;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Continuidade do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Escolha </a:t>
            </a:r>
            <a:r>
              <a:rPr lang="pt-BR" dirty="0" smtClean="0"/>
              <a:t>do algoritmo;</a:t>
            </a:r>
          </a:p>
          <a:p>
            <a:r>
              <a:rPr lang="pt-BR" dirty="0" smtClean="0"/>
              <a:t>Treinar o modelo com dados de outros meses</a:t>
            </a:r>
            <a:r>
              <a:rPr lang="pt-BR" dirty="0" smtClean="0"/>
              <a:t>;</a:t>
            </a:r>
            <a:endParaRPr lang="pt-BR" dirty="0" smtClean="0"/>
          </a:p>
          <a:p>
            <a:r>
              <a:rPr lang="pt-BR" dirty="0" smtClean="0"/>
              <a:t>Verificação dos resultados com </a:t>
            </a:r>
            <a:r>
              <a:rPr lang="pt-BR" dirty="0" smtClean="0"/>
              <a:t>dados recentes;</a:t>
            </a:r>
          </a:p>
          <a:p>
            <a:r>
              <a:rPr lang="pt-BR" dirty="0" smtClean="0"/>
              <a:t>Estudo de melhorias;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écnica">
  <a:themeElements>
    <a:clrScheme name="Técnica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358</TotalTime>
  <Words>245</Words>
  <Application>Microsoft Office PowerPoint</Application>
  <PresentationFormat>Apresentação na tela (4:3)</PresentationFormat>
  <Paragraphs>62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Técnica</vt:lpstr>
      <vt:lpstr>Previsão de geração de Potência</vt:lpstr>
      <vt:lpstr>Problema</vt:lpstr>
      <vt:lpstr>Oportunidade</vt:lpstr>
      <vt:lpstr>Yingli</vt:lpstr>
      <vt:lpstr>DataSets – (setembro 2018)</vt:lpstr>
      <vt:lpstr>Radiação por potência</vt:lpstr>
      <vt:lpstr>Umidade por potência</vt:lpstr>
      <vt:lpstr>Pesquisas e relações</vt:lpstr>
      <vt:lpstr>Continuidade do projeto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geração de Potência</dc:title>
  <dc:creator>Léo</dc:creator>
  <cp:lastModifiedBy>Léo</cp:lastModifiedBy>
  <cp:revision>65</cp:revision>
  <dcterms:created xsi:type="dcterms:W3CDTF">2019-01-08T20:28:04Z</dcterms:created>
  <dcterms:modified xsi:type="dcterms:W3CDTF">2019-01-10T22:16:31Z</dcterms:modified>
</cp:coreProperties>
</file>