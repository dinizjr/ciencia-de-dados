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7" r:id="rId5"/>
    <p:sldId id="276" r:id="rId6"/>
    <p:sldId id="259" r:id="rId7"/>
    <p:sldId id="265" r:id="rId8"/>
    <p:sldId id="275" r:id="rId9"/>
    <p:sldId id="263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71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4660"/>
  </p:normalViewPr>
  <p:slideViewPr>
    <p:cSldViewPr>
      <p:cViewPr varScale="1">
        <p:scale>
          <a:sx n="109" d="100"/>
          <a:sy n="109" d="100"/>
        </p:scale>
        <p:origin x="100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Diniz" userId="663df9ca63940922" providerId="LiveId" clId="{53520EC5-D939-4ECE-B74B-A29B5B852936}"/>
    <pc:docChg chg="custSel modSld">
      <pc:chgData name="José Diniz" userId="663df9ca63940922" providerId="LiveId" clId="{53520EC5-D939-4ECE-B74B-A29B5B852936}" dt="2019-10-24T14:20:32.601" v="368" actId="123"/>
      <pc:docMkLst>
        <pc:docMk/>
      </pc:docMkLst>
      <pc:sldChg chg="modSp">
        <pc:chgData name="José Diniz" userId="663df9ca63940922" providerId="LiveId" clId="{53520EC5-D939-4ECE-B74B-A29B5B852936}" dt="2019-10-24T14:20:32.601" v="368" actId="123"/>
        <pc:sldMkLst>
          <pc:docMk/>
          <pc:sldMk cId="0" sldId="271"/>
        </pc:sldMkLst>
        <pc:spChg chg="mod">
          <ac:chgData name="José Diniz" userId="663df9ca63940922" providerId="LiveId" clId="{53520EC5-D939-4ECE-B74B-A29B5B852936}" dt="2019-10-24T14:20:32.601" v="368" actId="123"/>
          <ac:spMkLst>
            <pc:docMk/>
            <pc:sldMk cId="0" sldId="271"/>
            <ac:spMk id="3" creationId="{00000000-0000-0000-0000-000000000000}"/>
          </ac:spMkLst>
        </pc:spChg>
      </pc:sldChg>
      <pc:sldChg chg="addSp modSp">
        <pc:chgData name="José Diniz" userId="663df9ca63940922" providerId="LiveId" clId="{53520EC5-D939-4ECE-B74B-A29B5B852936}" dt="2019-10-24T14:10:31.257" v="140" actId="1036"/>
        <pc:sldMkLst>
          <pc:docMk/>
          <pc:sldMk cId="151139423" sldId="283"/>
        </pc:sldMkLst>
        <pc:spChg chg="add mod">
          <ac:chgData name="José Diniz" userId="663df9ca63940922" providerId="LiveId" clId="{53520EC5-D939-4ECE-B74B-A29B5B852936}" dt="2019-10-24T14:10:31.257" v="140" actId="1036"/>
          <ac:spMkLst>
            <pc:docMk/>
            <pc:sldMk cId="151139423" sldId="283"/>
            <ac:spMk id="10" creationId="{16650830-56EC-40BC-B8DF-D6FCFBA387B1}"/>
          </ac:spMkLst>
        </pc:spChg>
        <pc:picChg chg="mod">
          <ac:chgData name="José Diniz" userId="663df9ca63940922" providerId="LiveId" clId="{53520EC5-D939-4ECE-B74B-A29B5B852936}" dt="2019-10-24T13:55:12.557" v="1" actId="14100"/>
          <ac:picMkLst>
            <pc:docMk/>
            <pc:sldMk cId="151139423" sldId="283"/>
            <ac:picMk id="5" creationId="{31B00B4B-03E7-4261-B34D-1297485D1393}"/>
          </ac:picMkLst>
        </pc:picChg>
        <pc:picChg chg="mod">
          <ac:chgData name="José Diniz" userId="663df9ca63940922" providerId="LiveId" clId="{53520EC5-D939-4ECE-B74B-A29B5B852936}" dt="2019-10-24T13:55:10.230" v="0" actId="14100"/>
          <ac:picMkLst>
            <pc:docMk/>
            <pc:sldMk cId="151139423" sldId="283"/>
            <ac:picMk id="9" creationId="{EF51E316-209F-4B93-B1E2-B80E05A6E0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e.gov.br/pt/abcdenergia/matriz-energetica-e-eletrica" TargetMode="External"/><Relationship Id="rId2" Type="http://schemas.openxmlformats.org/officeDocument/2006/relationships/hyperlink" Target="https://www.portal-energia.com/matriz-energetica-brasileir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bluesol.com.br/energia-solar-no-brasil-panorama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9592" y="1700808"/>
            <a:ext cx="7380312" cy="2952328"/>
          </a:xfrm>
        </p:spPr>
        <p:txBody>
          <a:bodyPr/>
          <a:lstStyle/>
          <a:p>
            <a:pPr algn="ctr"/>
            <a:r>
              <a:rPr lang="pt-BR" i="1" dirty="0"/>
              <a:t>Previsão de geração de Energia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7704" y="4941168"/>
            <a:ext cx="6400800" cy="1057672"/>
          </a:xfrm>
        </p:spPr>
        <p:txBody>
          <a:bodyPr>
            <a:normAutofit/>
          </a:bodyPr>
          <a:lstStyle/>
          <a:p>
            <a:pPr algn="r"/>
            <a:r>
              <a:rPr lang="pt-BR" sz="2400" dirty="0"/>
              <a:t>José Diniz Junior RA:183134</a:t>
            </a:r>
          </a:p>
          <a:p>
            <a:pPr algn="r"/>
            <a:r>
              <a:rPr lang="pt-BR" sz="2400" dirty="0"/>
              <a:t>Roberto Leonardo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629000"/>
          </a:xfrm>
        </p:spPr>
        <p:txBody>
          <a:bodyPr/>
          <a:lstStyle/>
          <a:p>
            <a:pPr algn="just"/>
            <a:r>
              <a:rPr lang="pt-BR" dirty="0"/>
              <a:t>Geração de energia por fontes não renováveis;</a:t>
            </a:r>
          </a:p>
          <a:p>
            <a:pPr algn="just"/>
            <a:r>
              <a:rPr lang="pt-BR" dirty="0"/>
              <a:t>Qualidade do ar, meio ambiente;</a:t>
            </a:r>
          </a:p>
          <a:p>
            <a:pPr algn="just"/>
            <a:r>
              <a:rPr lang="pt-BR" dirty="0"/>
              <a:t>A geração de energia através de painéis solares representa uma pequena fatia na matriz energética do Brasil, cerca de 0,82 %;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827584" y="5517232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Fontes:</a:t>
            </a:r>
          </a:p>
          <a:p>
            <a:r>
              <a:rPr lang="pt-BR" dirty="0">
                <a:hlinkClick r:id="rId2"/>
              </a:rPr>
              <a:t>https://www.portal-energia.com/matriz-energetica-brasileira/</a:t>
            </a:r>
            <a:endParaRPr lang="pt-BR" dirty="0"/>
          </a:p>
          <a:p>
            <a:r>
              <a:rPr lang="pt-BR" dirty="0">
                <a:hlinkClick r:id="rId3"/>
              </a:rPr>
              <a:t>http://www.epe.gov.br/pt/abcdenergia/matriz-energetica-e-eletrica</a:t>
            </a:r>
            <a:endParaRPr lang="pt-BR" dirty="0"/>
          </a:p>
          <a:p>
            <a:r>
              <a:rPr lang="pt-BR" dirty="0">
                <a:hlinkClick r:id="rId4"/>
              </a:rPr>
              <a:t>https://blog.bluesol.com.br/energia-solar-no-brasil-panorama/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298092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Propor um sistema para previsão de geração de energia, utilizando técnicas de machine learning.</a:t>
            </a:r>
          </a:p>
          <a:p>
            <a:pPr algn="just"/>
            <a:r>
              <a:rPr lang="pt-BR" dirty="0"/>
              <a:t>Visando uma melhor estimativa para investimento  e geração de energia em um determinado local.</a:t>
            </a:r>
          </a:p>
          <a:p>
            <a:pPr algn="just"/>
            <a:endParaRPr lang="pt-BR" dirty="0"/>
          </a:p>
          <a:p>
            <a:pPr algn="just">
              <a:buNone/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67544" y="558924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971600" y="4653136"/>
            <a:ext cx="3053868" cy="538629"/>
          </a:xfrm>
          <a:prstGeom prst="rect">
            <a:avLst/>
          </a:prstGeom>
        </p:spPr>
        <p:txBody>
          <a:bodyPr vert="horz" lIns="45720" rIns="4572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Cálculo</a:t>
            </a:r>
          </a:p>
        </p:txBody>
      </p:sp>
      <p:sp>
        <p:nvSpPr>
          <p:cNvPr id="6" name="Espaço Reservado para Texto 3"/>
          <p:cNvSpPr txBox="1">
            <a:spLocks/>
          </p:cNvSpPr>
          <p:nvPr/>
        </p:nvSpPr>
        <p:spPr>
          <a:xfrm>
            <a:off x="971600" y="5229200"/>
            <a:ext cx="4464496" cy="504056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pt-BR" dirty="0"/>
              <a:t>Energia = Potência x tempo x rendimento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3284984"/>
            <a:ext cx="3053868" cy="538629"/>
          </a:xfrm>
        </p:spPr>
        <p:txBody>
          <a:bodyPr>
            <a:normAutofit/>
          </a:bodyPr>
          <a:lstStyle/>
          <a:p>
            <a:r>
              <a:rPr lang="pt-BR" sz="2800" dirty="0"/>
              <a:t>Yingli</a:t>
            </a:r>
          </a:p>
        </p:txBody>
      </p:sp>
      <p:pic>
        <p:nvPicPr>
          <p:cNvPr id="5" name="Espaço Reservado para Imagem 4" descr="245w.jpg"/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21850" r="21850"/>
          <a:stretch>
            <a:fillRect/>
          </a:stretch>
        </p:blipFill>
        <p:spPr>
          <a:xfrm>
            <a:off x="4726360" y="620688"/>
            <a:ext cx="3960440" cy="3960440"/>
          </a:xfrm>
        </p:spPr>
      </p:pic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7546" y="3861048"/>
            <a:ext cx="3341898" cy="576064"/>
          </a:xfrm>
        </p:spPr>
        <p:txBody>
          <a:bodyPr>
            <a:normAutofit/>
          </a:bodyPr>
          <a:lstStyle/>
          <a:p>
            <a:r>
              <a:rPr lang="pt-BR" sz="2200" dirty="0"/>
              <a:t>Modelo: 245 W</a:t>
            </a:r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23528" y="1334378"/>
            <a:ext cx="41044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dirty="0"/>
              <a:t>Utilizando dados de estações meteorológicas e de painéis solares do Smart Campus Facens.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e relações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principal objetivo dos trabalhos analisados é a previsao de geração de energia com a junção de dados fotovoltaicos e meteorológicos.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com poucos dados;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para próximas 24 horas;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Variação de técnicas de classificação para encontrar erros no sistema de geração;</a:t>
            </a:r>
          </a:p>
        </p:txBody>
      </p:sp>
    </p:spTree>
    <p:extLst>
      <p:ext uri="{BB962C8B-B14F-4D97-AF65-F5344CB8AC3E}">
        <p14:creationId xmlns:p14="http://schemas.microsoft.com/office/powerpoint/2010/main" val="34766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800" dirty="0"/>
              <a:t>DataSets – (julho 2018 a junho 2019)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179512" y="1268760"/>
            <a:ext cx="2023964" cy="462880"/>
          </a:xfrm>
        </p:spPr>
        <p:txBody>
          <a:bodyPr/>
          <a:lstStyle/>
          <a:p>
            <a:r>
              <a:rPr lang="pt-BR" i="1" u="sng" dirty="0"/>
              <a:t>Fotovoltaico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half" idx="3"/>
          </p:nvPr>
        </p:nvSpPr>
        <p:spPr>
          <a:xfrm>
            <a:off x="2483768" y="1268760"/>
            <a:ext cx="2376264" cy="462880"/>
          </a:xfrm>
        </p:spPr>
        <p:txBody>
          <a:bodyPr>
            <a:normAutofit/>
          </a:bodyPr>
          <a:lstStyle/>
          <a:p>
            <a:r>
              <a:rPr lang="pt-BR" i="1" u="sng" dirty="0"/>
              <a:t>Meteorologico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107504" y="1772816"/>
            <a:ext cx="2448272" cy="4536504"/>
          </a:xfrm>
        </p:spPr>
        <p:txBody>
          <a:bodyPr>
            <a:normAutofit/>
          </a:bodyPr>
          <a:lstStyle/>
          <a:p>
            <a:r>
              <a:rPr lang="pt-BR" dirty="0"/>
              <a:t>Registros: 8.022.697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</a:t>
            </a:r>
          </a:p>
          <a:p>
            <a:pPr lvl="1"/>
            <a:r>
              <a:rPr lang="pt-BR" strike="sngStrike" dirty="0"/>
              <a:t>energia_dia</a:t>
            </a:r>
          </a:p>
          <a:p>
            <a:pPr lvl="1"/>
            <a:r>
              <a:rPr lang="pt-BR" strike="sngStrike" dirty="0"/>
              <a:t>energia_ano</a:t>
            </a:r>
          </a:p>
          <a:p>
            <a:pPr lvl="1"/>
            <a:r>
              <a:rPr lang="pt-BR" strike="sngStrike" dirty="0"/>
              <a:t>energia_total</a:t>
            </a:r>
          </a:p>
          <a:p>
            <a:pPr lvl="1"/>
            <a:r>
              <a:rPr lang="pt-BR" strike="sngStrike" dirty="0"/>
              <a:t>potencia</a:t>
            </a:r>
          </a:p>
          <a:p>
            <a:pPr lvl="1"/>
            <a:r>
              <a:rPr lang="pt-BR" strike="sngStrike" dirty="0"/>
              <a:t>power_led</a:t>
            </a:r>
          </a:p>
          <a:p>
            <a:pPr lvl="1"/>
            <a:r>
              <a:rPr lang="pt-BR" strike="sngStrike" dirty="0"/>
              <a:t>solarnet_led</a:t>
            </a:r>
          </a:p>
          <a:p>
            <a:pPr lvl="1"/>
            <a:r>
              <a:rPr lang="pt-BR" strike="sngStrike" dirty="0"/>
              <a:t>solarweb_led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4"/>
          </p:nvPr>
        </p:nvSpPr>
        <p:spPr>
          <a:xfrm>
            <a:off x="2411760" y="1772816"/>
            <a:ext cx="3455367" cy="4680521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Registros: 50.502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                  </a:t>
            </a:r>
          </a:p>
          <a:p>
            <a:pPr lvl="1"/>
            <a:r>
              <a:rPr lang="pt-BR" strike="sngStrike" dirty="0"/>
              <a:t>deficit_vapor_vmin </a:t>
            </a:r>
            <a:r>
              <a:rPr lang="pt-BR" dirty="0"/>
              <a:t>    </a:t>
            </a:r>
          </a:p>
          <a:p>
            <a:pPr lvl="1"/>
            <a:r>
              <a:rPr lang="pt-BR" dirty="0"/>
              <a:t>deficit_vapor_vmedio   </a:t>
            </a:r>
          </a:p>
          <a:p>
            <a:pPr lvl="1"/>
            <a:r>
              <a:rPr lang="pt-BR" strike="sngStrike" dirty="0"/>
              <a:t>ponto_orvalho_vmin </a:t>
            </a:r>
            <a:r>
              <a:rPr lang="pt-BR" dirty="0"/>
              <a:t>    </a:t>
            </a:r>
          </a:p>
          <a:p>
            <a:pPr lvl="1"/>
            <a:r>
              <a:rPr lang="pt-BR" dirty="0"/>
              <a:t>ponto_orvalho_vmedio   </a:t>
            </a:r>
          </a:p>
          <a:p>
            <a:pPr lvl="1"/>
            <a:r>
              <a:rPr lang="pt-BR" dirty="0"/>
              <a:t>precipitacao_valor     </a:t>
            </a:r>
          </a:p>
          <a:p>
            <a:pPr lvl="1"/>
            <a:r>
              <a:rPr lang="pt-BR" dirty="0"/>
              <a:t>radiacao_solar_valor   </a:t>
            </a:r>
          </a:p>
          <a:p>
            <a:pPr lvl="1"/>
            <a:r>
              <a:rPr lang="pt-BR" strike="sngStrike" dirty="0"/>
              <a:t>temperatura_ar_vmin </a:t>
            </a:r>
            <a:r>
              <a:rPr lang="pt-BR" dirty="0"/>
              <a:t>   </a:t>
            </a:r>
          </a:p>
          <a:p>
            <a:pPr lvl="1"/>
            <a:r>
              <a:rPr lang="pt-BR" dirty="0"/>
              <a:t>temperatura_ar_vmedio  </a:t>
            </a:r>
          </a:p>
          <a:p>
            <a:pPr lvl="1"/>
            <a:r>
              <a:rPr lang="pt-BR" strike="sngStrike" dirty="0"/>
              <a:t>temperatura_ar_vmax </a:t>
            </a:r>
            <a:r>
              <a:rPr lang="pt-BR" dirty="0"/>
              <a:t>   </a:t>
            </a:r>
          </a:p>
          <a:p>
            <a:pPr lvl="1"/>
            <a:r>
              <a:rPr lang="pt-BR" strike="sngStrike" dirty="0"/>
              <a:t>umidade_ar_vmin  </a:t>
            </a:r>
            <a:r>
              <a:rPr lang="pt-BR" dirty="0"/>
              <a:t>      </a:t>
            </a:r>
          </a:p>
          <a:p>
            <a:pPr lvl="1"/>
            <a:r>
              <a:rPr lang="pt-BR" dirty="0"/>
              <a:t>umidade_ar_vmedio      </a:t>
            </a:r>
          </a:p>
          <a:p>
            <a:pPr lvl="1"/>
            <a:r>
              <a:rPr lang="pt-BR" strike="sngStrike" dirty="0"/>
              <a:t>umidade_ar_vmax  </a:t>
            </a:r>
            <a:r>
              <a:rPr lang="pt-BR" dirty="0"/>
              <a:t>      </a:t>
            </a:r>
          </a:p>
          <a:p>
            <a:pPr lvl="1"/>
            <a:r>
              <a:rPr lang="pt-BR" dirty="0"/>
              <a:t>velocidade_vento_vmedio</a:t>
            </a:r>
          </a:p>
          <a:p>
            <a:pPr lvl="1"/>
            <a:r>
              <a:rPr lang="pt-BR" strike="sngStrike" dirty="0"/>
              <a:t>velocidade_vento_vmax </a:t>
            </a:r>
          </a:p>
        </p:txBody>
      </p:sp>
      <p:sp>
        <p:nvSpPr>
          <p:cNvPr id="8" name="Espaço Reservado para Conteúdo 6"/>
          <p:cNvSpPr txBox="1">
            <a:spLocks/>
          </p:cNvSpPr>
          <p:nvPr/>
        </p:nvSpPr>
        <p:spPr>
          <a:xfrm>
            <a:off x="5508104" y="1772817"/>
            <a:ext cx="3563888" cy="460851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Registros: 44.352 (308 dias)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Campos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                  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energia  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deficit_vapor_vmedio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ponto_orvalho_vmedio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precipitacao_valor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radiacao_solar_valor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temperatura_ar_vmedio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umidade_ar_vmedio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velocidade_vento_vmedio</a:t>
            </a:r>
          </a:p>
        </p:txBody>
      </p:sp>
      <p:sp>
        <p:nvSpPr>
          <p:cNvPr id="9" name="Espaço Reservado para Texto 5"/>
          <p:cNvSpPr txBox="1">
            <a:spLocks/>
          </p:cNvSpPr>
          <p:nvPr/>
        </p:nvSpPr>
        <p:spPr>
          <a:xfrm>
            <a:off x="5508104" y="1309936"/>
            <a:ext cx="3635896" cy="46288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pt-BR" sz="2100" b="1" i="1" u="sng" dirty="0">
                <a:solidFill>
                  <a:schemeClr val="accent1"/>
                </a:solidFill>
              </a:rPr>
              <a:t>FotoMet_P1_DataSets_10T</a:t>
            </a:r>
            <a:endParaRPr kumimoji="0" lang="pt-BR" sz="2100" b="1" i="1" u="sng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7643192" cy="914400"/>
          </a:xfrm>
        </p:spPr>
        <p:txBody>
          <a:bodyPr>
            <a:normAutofit/>
          </a:bodyPr>
          <a:lstStyle/>
          <a:p>
            <a:r>
              <a:rPr lang="pt-BR" sz="4000" dirty="0"/>
              <a:t>Gráficos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8424936" cy="4680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6AC87817-5114-4B43-A2DE-0E3C9D621A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671117" y="1340768"/>
            <a:ext cx="7717307" cy="5298716"/>
          </a:xfrm>
          <a:prstGeom prst="rect">
            <a:avLst/>
          </a:prstGeom>
        </p:spPr>
      </p:pic>
      <p:sp>
        <p:nvSpPr>
          <p:cNvPr id="8" name="Espaço Reservado para Texto 10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7643192" cy="914400"/>
          </a:xfrm>
        </p:spPr>
        <p:txBody>
          <a:bodyPr>
            <a:normAutofit/>
          </a:bodyPr>
          <a:lstStyle/>
          <a:p>
            <a:r>
              <a:rPr lang="pt-BR" sz="4000" dirty="0"/>
              <a:t>Correlação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Inicio do treinamento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Com os dados normalizados, os mesmos foram divididos de forma contínua em 85% para treino e 15% para testes, isto é, aproximadamente 261 dias para treino e 46 dias para testes.</a:t>
            </a:r>
          </a:p>
          <a:p>
            <a:pPr algn="just"/>
            <a:r>
              <a:rPr lang="pt-BR" dirty="0"/>
              <a:t>Com os dados preparados e divididos, iniciou-se os treinamentos com alguns algoritmos de regressão.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Regressão Linear com Radiação Solar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846A1E-489F-4530-B5F1-EFA946B6B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91" y="980728"/>
            <a:ext cx="8334781" cy="560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83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Regressão Linear sem Radiação Solar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0471D-915E-4173-8959-7A6F7E88B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1982"/>
            <a:ext cx="8363272" cy="558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20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25D13-D19A-470B-9CCC-AB4E384F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995046"/>
            <a:ext cx="8363272" cy="558831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Randon Forest com Radiação Solar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572EAC-CC31-4A93-B71A-70FC6A73B84F}"/>
              </a:ext>
            </a:extLst>
          </p:cNvPr>
          <p:cNvSpPr/>
          <p:nvPr/>
        </p:nvSpPr>
        <p:spPr>
          <a:xfrm>
            <a:off x="5148064" y="980728"/>
            <a:ext cx="4104456" cy="1895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sz="2000" dirty="0">
                <a:solidFill>
                  <a:schemeClr val="tx1">
                    <a:lumMod val="50000"/>
                  </a:schemeClr>
                </a:solidFill>
              </a:rPr>
              <a:t>            Parâmetros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max_depth:9, 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max_features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‘sqrt’,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min_samples_leaf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12,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min_samples_split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2, n_estimators:200</a:t>
            </a:r>
            <a:endParaRPr lang="pt-B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46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0277D-D8CD-42E8-925E-1D9791B71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980728"/>
            <a:ext cx="8363272" cy="560263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Randon Forest sem Radiação Solar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932FC-6259-4628-8D85-7C32276EA134}"/>
              </a:ext>
            </a:extLst>
          </p:cNvPr>
          <p:cNvSpPr/>
          <p:nvPr/>
        </p:nvSpPr>
        <p:spPr>
          <a:xfrm>
            <a:off x="5148064" y="980728"/>
            <a:ext cx="4104456" cy="1895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sz="2000" dirty="0">
                <a:solidFill>
                  <a:schemeClr val="tx1">
                    <a:lumMod val="50000"/>
                  </a:schemeClr>
                </a:solidFill>
              </a:rPr>
              <a:t>            Parâmetros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max_depth:9, 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max_features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‘sqrt’,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min_samples_leaf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12,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min_samples_split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2, n_estimators:200</a:t>
            </a:r>
            <a:endParaRPr lang="pt-B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919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com Radiação Solar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E1E6AD-676A-40AD-B04D-963DBBF4F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0727"/>
            <a:ext cx="8291265" cy="56026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64F0A7-C3D2-4242-B6B4-C51CC60A2F9F}"/>
              </a:ext>
            </a:extLst>
          </p:cNvPr>
          <p:cNvSpPr/>
          <p:nvPr/>
        </p:nvSpPr>
        <p:spPr>
          <a:xfrm>
            <a:off x="4067944" y="940424"/>
            <a:ext cx="4824536" cy="161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sz="2000" dirty="0">
                <a:solidFill>
                  <a:schemeClr val="tx1">
                    <a:lumMod val="50000"/>
                  </a:schemeClr>
                </a:solidFill>
              </a:rPr>
              <a:t>                       Parâmetros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colsample_bytree: 0.6, learning_rate: 0.03, max_depth: 3, min_child_weight: 8, n_estimators: 175, n_jobs: 4, 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objective: ‘reg:squarederror’, subsample:0.7</a:t>
            </a:r>
          </a:p>
        </p:txBody>
      </p:sp>
    </p:spTree>
    <p:extLst>
      <p:ext uri="{BB962C8B-B14F-4D97-AF65-F5344CB8AC3E}">
        <p14:creationId xmlns:p14="http://schemas.microsoft.com/office/powerpoint/2010/main" val="50704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sem Radiação Solar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557311-CC9C-4E22-8EAD-3AA0F5B0F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0728"/>
            <a:ext cx="8299939" cy="56026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C0AD62-F742-4366-91C3-EF7344333F9F}"/>
              </a:ext>
            </a:extLst>
          </p:cNvPr>
          <p:cNvSpPr/>
          <p:nvPr/>
        </p:nvSpPr>
        <p:spPr>
          <a:xfrm>
            <a:off x="4067944" y="940424"/>
            <a:ext cx="4824536" cy="161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sz="2000" dirty="0">
                <a:solidFill>
                  <a:schemeClr val="tx1">
                    <a:lumMod val="50000"/>
                  </a:schemeClr>
                </a:solidFill>
              </a:rPr>
              <a:t>                       Parâmetros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colsample_bytree: 0.6, learning_rate: 0.03, max_depth: 3, min_child_weight: 8, n_estimators: 175, n_jobs: 4, 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objective: ‘reg:squarederror’, subsample:0.7</a:t>
            </a:r>
          </a:p>
        </p:txBody>
      </p:sp>
    </p:spTree>
    <p:extLst>
      <p:ext uri="{BB962C8B-B14F-4D97-AF65-F5344CB8AC3E}">
        <p14:creationId xmlns:p14="http://schemas.microsoft.com/office/powerpoint/2010/main" val="2626401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LSTM sem radiação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00B4B-03E7-4261-B34D-1297485D139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3184" y="2996952"/>
            <a:ext cx="8507288" cy="3586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1E316-209F-4B93-B1E2-B80E05A6E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980728"/>
            <a:ext cx="8496944" cy="20162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650830-56EC-40BC-B8DF-D6FCFBA387B1}"/>
              </a:ext>
            </a:extLst>
          </p:cNvPr>
          <p:cNvSpPr/>
          <p:nvPr/>
        </p:nvSpPr>
        <p:spPr>
          <a:xfrm>
            <a:off x="4080193" y="934849"/>
            <a:ext cx="48245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sz="2000" dirty="0">
                <a:solidFill>
                  <a:schemeClr val="tx1">
                    <a:lumMod val="50000"/>
                  </a:schemeClr>
                </a:solidFill>
              </a:rPr>
              <a:t>                       Parâmetros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1 entrada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1 camada oculta com 50 neurônios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1 saída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optimizer: ‘adam’</a:t>
            </a:r>
          </a:p>
          <a:p>
            <a:pPr marL="6400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</a:rPr>
              <a:t>batch_size: 60</a:t>
            </a:r>
          </a:p>
        </p:txBody>
      </p:sp>
    </p:spTree>
    <p:extLst>
      <p:ext uri="{BB962C8B-B14F-4D97-AF65-F5344CB8AC3E}">
        <p14:creationId xmlns:p14="http://schemas.microsoft.com/office/powerpoint/2010/main" val="15113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 resultado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" indent="0" algn="just">
              <a:buNone/>
            </a:pPr>
            <a:r>
              <a:rPr lang="pt-BR" dirty="0"/>
              <a:t>De acordo com os treinamentos realizados, o resultado mais satisfatório foi do XGBRegressor, se comparados os erros.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écnica">
  <a:themeElements>
    <a:clrScheme name="Concurso">
      <a:dk1>
        <a:sysClr val="windowText" lastClr="989EA3"/>
      </a:dk1>
      <a:lt1>
        <a:sysClr val="window" lastClr="2F3135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1164</TotalTime>
  <Words>665</Words>
  <Application>Microsoft Office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Franklin Gothic Book</vt:lpstr>
      <vt:lpstr>Wingdings 2</vt:lpstr>
      <vt:lpstr>Técnica</vt:lpstr>
      <vt:lpstr>Previsão de geração de Energia</vt:lpstr>
      <vt:lpstr>Problema</vt:lpstr>
      <vt:lpstr>Oportunidade</vt:lpstr>
      <vt:lpstr>Yingli</vt:lpstr>
      <vt:lpstr>Pesquisas e relações</vt:lpstr>
      <vt:lpstr>DataSets – (julho 2018 a junho 2019)</vt:lpstr>
      <vt:lpstr>PowerPoint Presentation</vt:lpstr>
      <vt:lpstr>PowerPoint Presentation</vt:lpstr>
      <vt:lpstr>Inicio do treinamento</vt:lpstr>
      <vt:lpstr>Regressão Linear com Radiação Solar</vt:lpstr>
      <vt:lpstr>Regressão Linear sem Radiação Solar</vt:lpstr>
      <vt:lpstr>Randon Forest com Radiação Solar</vt:lpstr>
      <vt:lpstr>Randon Forest sem Radiação Solar</vt:lpstr>
      <vt:lpstr>XGB com Radiação Solar</vt:lpstr>
      <vt:lpstr>XGB sem Radiação Solar</vt:lpstr>
      <vt:lpstr>LSTM sem radiação</vt:lpstr>
      <vt:lpstr>Melhor resultado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geração de Potência</dc:title>
  <dc:creator>Léo</dc:creator>
  <cp:lastModifiedBy>José Diniz</cp:lastModifiedBy>
  <cp:revision>126</cp:revision>
  <dcterms:created xsi:type="dcterms:W3CDTF">2019-01-08T20:28:04Z</dcterms:created>
  <dcterms:modified xsi:type="dcterms:W3CDTF">2019-10-24T21:02:17Z</dcterms:modified>
</cp:coreProperties>
</file>