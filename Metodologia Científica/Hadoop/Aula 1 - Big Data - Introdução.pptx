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</p:sldIdLst>
  <p:sldSz cy="5143500" cx="9144000"/>
  <p:notesSz cx="6858000" cy="9144000"/>
  <p:embeddedFontLst>
    <p:embeddedFont>
      <p:font typeface="Roboto"/>
      <p:regular r:id="rId104"/>
      <p:bold r:id="rId105"/>
      <p:italic r:id="rId106"/>
      <p:boldItalic r:id="rId107"/>
    </p:embeddedFont>
    <p:embeddedFont>
      <p:font typeface="Lato"/>
      <p:regular r:id="rId108"/>
      <p:bold r:id="rId109"/>
      <p:italic r:id="rId110"/>
      <p:boldItalic r:id="rId111"/>
    </p:embeddedFont>
    <p:embeddedFont>
      <p:font typeface="Oswald"/>
      <p:regular r:id="rId112"/>
      <p:bold r:id="rId113"/>
    </p:embeddedFont>
    <p:embeddedFont>
      <p:font typeface="Source Sans Pro"/>
      <p:regular r:id="rId114"/>
      <p:bold r:id="rId115"/>
      <p:italic r:id="rId116"/>
      <p:boldItalic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Roboto-boldItalic.fntdata"/><Relationship Id="rId106" Type="http://schemas.openxmlformats.org/officeDocument/2006/relationships/font" Target="fonts/Roboto-italic.fntdata"/><Relationship Id="rId105" Type="http://schemas.openxmlformats.org/officeDocument/2006/relationships/font" Target="fonts/Roboto-bold.fntdata"/><Relationship Id="rId104" Type="http://schemas.openxmlformats.org/officeDocument/2006/relationships/font" Target="fonts/Roboto-regular.fntdata"/><Relationship Id="rId109" Type="http://schemas.openxmlformats.org/officeDocument/2006/relationships/font" Target="fonts/Lato-bold.fntdata"/><Relationship Id="rId108" Type="http://schemas.openxmlformats.org/officeDocument/2006/relationships/font" Target="fonts/Lato-regular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7" Type="http://schemas.openxmlformats.org/officeDocument/2006/relationships/font" Target="fonts/SourceSansPro-boldItalic.fntdata"/><Relationship Id="rId116" Type="http://schemas.openxmlformats.org/officeDocument/2006/relationships/font" Target="fonts/SourceSansPro-italic.fntdata"/><Relationship Id="rId115" Type="http://schemas.openxmlformats.org/officeDocument/2006/relationships/font" Target="fonts/SourceSansPro-bold.fntdata"/><Relationship Id="rId15" Type="http://schemas.openxmlformats.org/officeDocument/2006/relationships/slide" Target="slides/slide10.xml"/><Relationship Id="rId110" Type="http://schemas.openxmlformats.org/officeDocument/2006/relationships/font" Target="fonts/Lato-italic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SourceSansPro-regular.fntdata"/><Relationship Id="rId18" Type="http://schemas.openxmlformats.org/officeDocument/2006/relationships/slide" Target="slides/slide13.xml"/><Relationship Id="rId113" Type="http://schemas.openxmlformats.org/officeDocument/2006/relationships/font" Target="fonts/Oswald-bold.fntdata"/><Relationship Id="rId112" Type="http://schemas.openxmlformats.org/officeDocument/2006/relationships/font" Target="fonts/Oswald-regular.fntdata"/><Relationship Id="rId111" Type="http://schemas.openxmlformats.org/officeDocument/2006/relationships/font" Target="fonts/Lato-boldItalic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cba54908c_0_55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cba54908c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d8a2caafe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d8a2caa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d8f41cc83_0_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d8f41cc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cba54908c_0_6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cba54908c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5cba54908c_0_6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5cba54908c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5cba54908c_0_61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5cba54908c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cba54908c_0_65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cba54908c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cba54908c_0_69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cba54908c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5cba54908c_0_7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5cba54908c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5cba54908c_0_73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5cba54908c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5cba54908c_0_78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5cba54908c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5cba54908c_0_8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5cba54908c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cba54908c_0_7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cba54908c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5cba54908c_0_83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5cba54908c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cba54908c_0_85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cba54908c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artigo em 1936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“The Bombe” ficou pronta em 1940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5d794f15f4_1_222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5d794f15f4_1_2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5d794f15f4_1_2228:notes"/>
          <p:cNvSpPr txBox="1"/>
          <p:nvPr>
            <p:ph idx="1" type="body"/>
          </p:nvPr>
        </p:nvSpPr>
        <p:spPr>
          <a:xfrm>
            <a:off x="685829" y="4343327"/>
            <a:ext cx="54864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5d794f15f4_1_2228:notes"/>
          <p:cNvSpPr/>
          <p:nvPr>
            <p:ph idx="2" type="sldImg"/>
          </p:nvPr>
        </p:nvSpPr>
        <p:spPr>
          <a:xfrm>
            <a:off x="196400" y="694895"/>
            <a:ext cx="6464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d794f15f4_1_2372:notes"/>
          <p:cNvSpPr txBox="1"/>
          <p:nvPr>
            <p:ph idx="1" type="body"/>
          </p:nvPr>
        </p:nvSpPr>
        <p:spPr>
          <a:xfrm>
            <a:off x="685829" y="4343327"/>
            <a:ext cx="54864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5d794f15f4_1_2372:notes"/>
          <p:cNvSpPr/>
          <p:nvPr>
            <p:ph idx="2" type="sldImg"/>
          </p:nvPr>
        </p:nvSpPr>
        <p:spPr>
          <a:xfrm>
            <a:off x="196400" y="694895"/>
            <a:ext cx="6464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d794f15f4_1_2249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5d794f15f4_1_2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5d794f15f4_1_2255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5d794f15f4_1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5d794f15f4_1_2261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5d794f15f4_1_2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5d794f15f4_1_2267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5d794f15f4_1_2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5d794f15f4_1_2273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5d794f15f4_1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d794f15f4_1_2279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d794f15f4_1_2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5d794f15f4_1_2285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5d794f15f4_1_2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d794f15f4_1_2291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d794f15f4_1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d794f15f4_1_2297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d794f15f4_1_2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5d794f15f4_1_2303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5d794f15f4_1_2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5d794f15f4_1_2309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5d794f15f4_1_2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5d794f15f4_1_2315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5d794f15f4_1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d794f15f4_1_2321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5d794f15f4_1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d794f15f4_1_2327:notes"/>
          <p:cNvSpPr/>
          <p:nvPr>
            <p:ph idx="2" type="sldImg"/>
          </p:nvPr>
        </p:nvSpPr>
        <p:spPr>
          <a:xfrm>
            <a:off x="38115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d794f15f4_1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5d794f15f4_1_2379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5d794f15f4_1_2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5d794f15f4_1_2384:notes"/>
          <p:cNvSpPr txBox="1"/>
          <p:nvPr>
            <p:ph idx="1" type="body"/>
          </p:nvPr>
        </p:nvSpPr>
        <p:spPr>
          <a:xfrm>
            <a:off x="685829" y="4343327"/>
            <a:ext cx="5486400" cy="41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5d794f15f4_1_2384:notes"/>
          <p:cNvSpPr/>
          <p:nvPr>
            <p:ph idx="2" type="sldImg"/>
          </p:nvPr>
        </p:nvSpPr>
        <p:spPr>
          <a:xfrm>
            <a:off x="196405" y="694895"/>
            <a:ext cx="64647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5d794f15f4_1_2390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5d794f15f4_1_2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5d794f15f4_1_249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5d794f15f4_1_2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5cba54908c_0_232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5cba54908c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5cba54908c_0_225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5cba54908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5cba54908c_0_239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5cba54908c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5cba54908c_0_250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5cba54908c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5cba54908c_0_261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5cba54908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5d6e21c314_0_22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5d6e21c314_0_2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5d6e21c314_0_2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5d6e21c314_0_2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5d6e21c314_0_2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5d6e21c314_0_2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d6e21c314_0_2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d6e21c314_0_2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5d6e21c314_0_2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5d6e21c314_0_2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5d6e21c314_0_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5d6e21c3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d6e21c314_0_11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5d6e21c314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5d6e21c314_0_11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5d6e21c314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5d6e21c314_0_454:notes"/>
          <p:cNvSpPr/>
          <p:nvPr>
            <p:ph idx="2" type="sldImg"/>
          </p:nvPr>
        </p:nvSpPr>
        <p:spPr>
          <a:xfrm>
            <a:off x="381150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5d6e21c31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5d6e21c314_0_9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5d6e21c314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5d6e21c314_0_102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5d6e21c314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5d6e21c314_0_10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5d6e21c314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5d6e21c314_0_106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5d6e21c314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5d6e21c314_0_111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5d6e21c314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5d6e21c314_0_118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5d6e21c314_0_1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5d6e21c314_0_113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5d6e21c314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5d4feb848b_0_42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5d4feb848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5d6e21c314_0_15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5d6e21c314_0_1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5d6e21c314_0_157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5d6e21c314_0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5d6e21c314_0_159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5d6e21c314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5d6e21c314_0_180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5d6e21c314_0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d6e21c314_0_17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5d6e21c314_0_1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5d6e21c314_0_185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5d6e21c314_0_1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5d6e21c314_0_186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5d6e21c314_0_1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5d6e21c314_0_187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5d6e21c314_0_1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5d6e21c314_0_160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5d6e21c314_0_1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5d6e21c314_0_190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5d6e21c314_0_1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5d6e21c314_0_156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5d6e21c314_0_1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5d6e21c314_0_166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5d6e21c314_0_1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5d6e21c314_0_124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5d6e21c314_0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5d6e21c314_0_162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5d6e21c314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5d6e21c314_0_169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5d6e21c314_0_1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5d794f15f4_1_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5d794f15f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5d794f15f4_1_2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5d794f15f4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5d794f15f4_1_15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5d794f15f4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d794f15f4_1_10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d794f15f4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5d794f15f4_1_19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5d794f15f4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5d794f15f4_1_34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5d794f15f4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5d794f15f4_1_3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5d794f15f4_1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5d794f15f4_1_53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5d794f15f4_1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5d794f15f4_1_49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5d794f15f4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5d794f15f4_1_61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5d794f15f4_1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5d6e21c314_0_206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5d6e21c314_0_2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5d6e21c314_0_2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5d6e21c314_0_2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5d6e21c314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5d6e21c314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5d6e21c314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5d6e21c314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5d6e21c314_0_2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5d6e21c314_0_2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5d6e21c314_0_1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5d6e21c3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d6e21c314_0_40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d6e21c31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5d6e21c314_0_20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5d6e21c314_0_2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5d6e21c314_0_204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5d6e21c314_0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5d794f15f4_1_8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5d794f15f4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5d6e21c314_0_42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5d6e21c314_0_4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5d6e21c314_0_58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5d6e21c314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5d6e21c314_0_61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5d6e21c314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5d6e21c314_0_65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5d6e21c314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3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 amt="50000"/>
          </a:blip>
          <a:srcRect b="19432" l="14820" r="1637" t="0"/>
          <a:stretch/>
        </p:blipFill>
        <p:spPr>
          <a:xfrm>
            <a:off x="5643575" y="3910800"/>
            <a:ext cx="2821525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4">
            <a:alphaModFix amt="50000"/>
          </a:blip>
          <a:srcRect b="26259" l="12000" r="17" t="0"/>
          <a:stretch/>
        </p:blipFill>
        <p:spPr>
          <a:xfrm rot="-19201">
            <a:off x="2590441" y="3815349"/>
            <a:ext cx="3457543" cy="133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159225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149361" y="11267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2">
  <p:cSld name="TITLE_1_2">
    <p:bg>
      <p:bgPr>
        <a:noFill/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0300" y="1832275"/>
            <a:ext cx="90000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0300" y="2650050"/>
            <a:ext cx="90000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3910797"/>
            <a:ext cx="2723667" cy="1243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7825" y="4531421"/>
            <a:ext cx="1345245" cy="61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 amt="50000"/>
          </a:blip>
          <a:srcRect b="18146" l="0" r="19" t="0"/>
          <a:stretch/>
        </p:blipFill>
        <p:spPr>
          <a:xfrm rot="226428">
            <a:off x="2221074" y="3816654"/>
            <a:ext cx="3929077" cy="1481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 amt="50000"/>
          </a:blip>
          <a:srcRect b="3217" l="0" r="0" t="22121"/>
          <a:stretch/>
        </p:blipFill>
        <p:spPr>
          <a:xfrm rot="10800000">
            <a:off x="204686" y="3558132"/>
            <a:ext cx="4297571" cy="15909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149361" y="24983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0"/>
              <a:buNone/>
              <a:defRPr b="1" sz="21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1798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4"/>
          <p:cNvCxnSpPr/>
          <p:nvPr/>
        </p:nvCxnSpPr>
        <p:spPr>
          <a:xfrm>
            <a:off x="149361" y="2213058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149361" y="440975"/>
            <a:ext cx="90141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">
  <p:cSld name="TITLE_AND_BODY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 1 1">
  <p:cSld name="TITLE_AND_BODY_1_1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199725" y="2388128"/>
            <a:ext cx="89442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Template">
  <p:cSld name="CUSTOM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m título-4.jpg" id="45" name="Google Shape;45;p10"/>
          <p:cNvPicPr preferRelativeResize="0"/>
          <p:nvPr/>
        </p:nvPicPr>
        <p:blipFill rotWithShape="1">
          <a:blip r:embed="rId2">
            <a:alphaModFix/>
          </a:blip>
          <a:srcRect b="0" l="4743" r="0" t="0"/>
          <a:stretch/>
        </p:blipFill>
        <p:spPr>
          <a:xfrm>
            <a:off x="1428750" y="0"/>
            <a:ext cx="69064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6" name="Google Shape;46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158031" y="0"/>
            <a:ext cx="133747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47" name="Google Shape;47;p10"/>
          <p:cNvPicPr preferRelativeResize="0"/>
          <p:nvPr/>
        </p:nvPicPr>
        <p:blipFill rotWithShape="1">
          <a:blip r:embed="rId2">
            <a:alphaModFix/>
          </a:blip>
          <a:srcRect b="0" l="2903" r="73450" t="0"/>
          <a:stretch/>
        </p:blipFill>
        <p:spPr>
          <a:xfrm>
            <a:off x="7806525" y="0"/>
            <a:ext cx="13374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2">
  <p:cSld name="TITLE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>
  <p:cSld name="TITLE_AND_BODY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4">
  <p:cSld name="TITLE_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_AND_BODY_3">
  <p:cSld name="TITLE_AND_BODY_3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3" name="Google Shape;63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11700" y="726851"/>
            <a:ext cx="85206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2100" lIns="92100" spcFirstLastPara="1" rIns="92100" wrap="square" tIns="9210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Calibri"/>
              <a:buChar char="■"/>
              <a:defRPr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63500" y="12795"/>
            <a:ext cx="8980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100" lIns="92100" spcFirstLastPara="1" rIns="92100" wrap="square" tIns="92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descr="8753_paginas.jpg"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97172" t="0"/>
          <a:stretch/>
        </p:blipFill>
        <p:spPr>
          <a:xfrm>
            <a:off x="-8253" y="0"/>
            <a:ext cx="1635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8753_paginas.jpg" id="9" name="Google Shape;9;p1"/>
          <p:cNvPicPr preferRelativeResize="0"/>
          <p:nvPr/>
        </p:nvPicPr>
        <p:blipFill rotWithShape="1">
          <a:blip r:embed="rId1">
            <a:alphaModFix/>
          </a:blip>
          <a:srcRect b="3411" l="74493" r="1772" t="81723"/>
          <a:stretch/>
        </p:blipFill>
        <p:spPr>
          <a:xfrm>
            <a:off x="8721875" y="4959850"/>
            <a:ext cx="422073" cy="18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-72025" y="4933875"/>
            <a:ext cx="498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/>
              <a:t>‹#›</a:t>
            </a:fld>
            <a:endParaRPr b="1" sz="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5.gif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7.jpg"/><Relationship Id="rId8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9.jp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10.jpg"/><Relationship Id="rId8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11.jpg"/><Relationship Id="rId8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jp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15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jpg"/><Relationship Id="rId10" Type="http://schemas.openxmlformats.org/officeDocument/2006/relationships/image" Target="../media/image29.jpg"/><Relationship Id="rId13" Type="http://schemas.openxmlformats.org/officeDocument/2006/relationships/image" Target="../media/image50.jp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5.jpg"/><Relationship Id="rId14" Type="http://schemas.openxmlformats.org/officeDocument/2006/relationships/image" Target="../media/image28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3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32.jpg"/><Relationship Id="rId8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15.gif"/><Relationship Id="rId7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3.png"/><Relationship Id="rId4" Type="http://schemas.openxmlformats.org/officeDocument/2006/relationships/image" Target="../media/image4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Relationship Id="rId4" Type="http://schemas.openxmlformats.org/officeDocument/2006/relationships/image" Target="../media/image63.png"/><Relationship Id="rId5" Type="http://schemas.openxmlformats.org/officeDocument/2006/relationships/image" Target="../media/image52.gif"/><Relationship Id="rId6" Type="http://schemas.openxmlformats.org/officeDocument/2006/relationships/image" Target="../media/image56.jpg"/><Relationship Id="rId7" Type="http://schemas.openxmlformats.org/officeDocument/2006/relationships/image" Target="../media/image54.png"/><Relationship Id="rId8" Type="http://schemas.openxmlformats.org/officeDocument/2006/relationships/image" Target="../media/image55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7.png"/><Relationship Id="rId4" Type="http://schemas.openxmlformats.org/officeDocument/2006/relationships/image" Target="../media/image58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4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0.jpg"/><Relationship Id="rId4" Type="http://schemas.openxmlformats.org/officeDocument/2006/relationships/image" Target="../media/image59.jpg"/><Relationship Id="rId5" Type="http://schemas.openxmlformats.org/officeDocument/2006/relationships/image" Target="../media/image78.png"/><Relationship Id="rId6" Type="http://schemas.openxmlformats.org/officeDocument/2006/relationships/image" Target="../media/image61.jpg"/><Relationship Id="rId7" Type="http://schemas.openxmlformats.org/officeDocument/2006/relationships/image" Target="../media/image6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5.gif"/><Relationship Id="rId4" Type="http://schemas.openxmlformats.org/officeDocument/2006/relationships/image" Target="../media/image66.gif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7.gif"/><Relationship Id="rId4" Type="http://schemas.openxmlformats.org/officeDocument/2006/relationships/image" Target="../media/image70.png"/><Relationship Id="rId5" Type="http://schemas.openxmlformats.org/officeDocument/2006/relationships/image" Target="../media/image6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2.png"/><Relationship Id="rId4" Type="http://schemas.openxmlformats.org/officeDocument/2006/relationships/image" Target="../media/image70.png"/><Relationship Id="rId5" Type="http://schemas.openxmlformats.org/officeDocument/2006/relationships/image" Target="../media/image6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Relationship Id="rId4" Type="http://schemas.openxmlformats.org/officeDocument/2006/relationships/image" Target="../media/image7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gif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2.jpg"/><Relationship Id="rId4" Type="http://schemas.openxmlformats.org/officeDocument/2006/relationships/image" Target="../media/image74.jpg"/><Relationship Id="rId5" Type="http://schemas.openxmlformats.org/officeDocument/2006/relationships/image" Target="../media/image7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6.png"/><Relationship Id="rId4" Type="http://schemas.openxmlformats.org/officeDocument/2006/relationships/image" Target="../media/image89.jpg"/><Relationship Id="rId5" Type="http://schemas.openxmlformats.org/officeDocument/2006/relationships/image" Target="../media/image7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0.gif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9.png"/><Relationship Id="rId4" Type="http://schemas.openxmlformats.org/officeDocument/2006/relationships/image" Target="../media/image8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6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7.png"/></Relationships>
</file>

<file path=ppt/slides/_rels/slide7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7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7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3" Type="http://schemas.openxmlformats.org/officeDocument/2006/relationships/image" Target="../media/image94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3" Type="http://schemas.openxmlformats.org/officeDocument/2006/relationships/image" Target="../media/image94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14" Type="http://schemas.openxmlformats.org/officeDocument/2006/relationships/image" Target="../media/image101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3" Type="http://schemas.openxmlformats.org/officeDocument/2006/relationships/image" Target="../media/image94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14" Type="http://schemas.openxmlformats.org/officeDocument/2006/relationships/image" Target="../media/image101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3" Type="http://schemas.openxmlformats.org/officeDocument/2006/relationships/image" Target="../media/image94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14" Type="http://schemas.openxmlformats.org/officeDocument/2006/relationships/image" Target="../media/image101.pn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87.png"/><Relationship Id="rId13" Type="http://schemas.openxmlformats.org/officeDocument/2006/relationships/image" Target="../media/image94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4.png"/><Relationship Id="rId15" Type="http://schemas.openxmlformats.org/officeDocument/2006/relationships/image" Target="../media/image98.png"/><Relationship Id="rId14" Type="http://schemas.openxmlformats.org/officeDocument/2006/relationships/image" Target="../media/image101.png"/><Relationship Id="rId16" Type="http://schemas.openxmlformats.org/officeDocument/2006/relationships/image" Target="../media/image99.jpg"/><Relationship Id="rId5" Type="http://schemas.openxmlformats.org/officeDocument/2006/relationships/image" Target="../media/image93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0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12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0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09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2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04.jpg"/><Relationship Id="rId4" Type="http://schemas.openxmlformats.org/officeDocument/2006/relationships/image" Target="../media/image103.png"/><Relationship Id="rId5" Type="http://schemas.openxmlformats.org/officeDocument/2006/relationships/image" Target="../media/image113.png"/><Relationship Id="rId6" Type="http://schemas.openxmlformats.org/officeDocument/2006/relationships/image" Target="../media/image102.png"/><Relationship Id="rId7" Type="http://schemas.openxmlformats.org/officeDocument/2006/relationships/image" Target="../media/image106.jpg"/><Relationship Id="rId8" Type="http://schemas.openxmlformats.org/officeDocument/2006/relationships/image" Target="../media/image10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2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2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ctrTitle"/>
          </p:nvPr>
        </p:nvSpPr>
        <p:spPr>
          <a:xfrm>
            <a:off x="150300" y="1832275"/>
            <a:ext cx="90000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80" name="Google Shape;80;p17"/>
          <p:cNvSpPr txBox="1"/>
          <p:nvPr>
            <p:ph idx="1" type="subTitle"/>
          </p:nvPr>
        </p:nvSpPr>
        <p:spPr>
          <a:xfrm>
            <a:off x="150300" y="2650050"/>
            <a:ext cx="90000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Mas antes...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199750" y="706405"/>
            <a:ext cx="8944200" cy="19866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Canvas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Planilha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Exercícios de sala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Trabalho em grupo -&gt;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Expectativas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Certificação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9927" y="562449"/>
            <a:ext cx="5702299" cy="42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Cenário atual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1263" l="0" r="0" t="0"/>
          <a:stretch/>
        </p:blipFill>
        <p:spPr>
          <a:xfrm>
            <a:off x="2477300" y="573900"/>
            <a:ext cx="4189399" cy="434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chegamos até aqui?</a:t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00" name="Google Shape;1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8802" y="777675"/>
            <a:ext cx="569680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075" y="566950"/>
            <a:ext cx="4801375" cy="274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 rot="-282123">
            <a:off x="5587970" y="4282008"/>
            <a:ext cx="69534" cy="598628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7" name="Google Shape;107;p21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1936 - Um dos maiores pontapés na produção de dados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road sign" id="109" name="Google Shape;10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6994">
            <a:off x="5324310" y="3780633"/>
            <a:ext cx="512550" cy="5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 rot="-277090">
            <a:off x="5300933" y="3917538"/>
            <a:ext cx="588711" cy="278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1930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car top"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525502">
            <a:off x="6021900" y="4506400"/>
            <a:ext cx="705100" cy="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2" name="Google Shape;11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5377" y="4165350"/>
            <a:ext cx="56968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234700" y="829050"/>
            <a:ext cx="7754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Um dos maiores pontapés na produção de dados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O dispositivo teórico conhecido como </a:t>
            </a:r>
            <a:r>
              <a:rPr b="1" lang="pt-BR" sz="1600">
                <a:latin typeface="Calibri"/>
                <a:ea typeface="Calibri"/>
                <a:cs typeface="Calibri"/>
                <a:sym typeface="Calibri"/>
              </a:rPr>
              <a:t>máquina universal (Alan Turing)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le:Turingmachine.jpg" id="114" name="Google Shape;114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475" y="1273444"/>
            <a:ext cx="3432600" cy="1600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uring" id="115" name="Google Shape;11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06175" y="1273451"/>
            <a:ext cx="1177592" cy="16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 rot="-237733">
            <a:off x="6499422" y="3993642"/>
            <a:ext cx="69466" cy="5983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road sign"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5294">
            <a:off x="6242246" y="3491755"/>
            <a:ext cx="512550" cy="5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 rot="-235023">
            <a:off x="6218914" y="3628876"/>
            <a:ext cx="588475" cy="278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1940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1940 - Processamento de dados ajuda a humanidade</a:t>
            </a:r>
            <a:endParaRPr/>
          </a:p>
        </p:txBody>
      </p:sp>
      <p:pic>
        <p:nvPicPr>
          <p:cNvPr descr="Image result for car top"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979540">
            <a:off x="6714850" y="4228775"/>
            <a:ext cx="705100" cy="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26" name="Google Shape;12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7702" y="4062625"/>
            <a:ext cx="569680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igma" id="127" name="Google Shape;12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350" y="1301194"/>
            <a:ext cx="2016244" cy="1572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bombe" id="128" name="Google Shape;12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34175" y="2946875"/>
            <a:ext cx="2016250" cy="1579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he bombe" id="129" name="Google Shape;12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350" y="2946885"/>
            <a:ext cx="2366962" cy="1584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uring" id="130" name="Google Shape;13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06175" y="1273451"/>
            <a:ext cx="1177592" cy="16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/>
          <p:nvPr/>
        </p:nvSpPr>
        <p:spPr>
          <a:xfrm rot="-237733">
            <a:off x="6499422" y="3993642"/>
            <a:ext cx="69466" cy="598372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descr="Image result for road sign"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5294">
            <a:off x="6242246" y="3491755"/>
            <a:ext cx="512550" cy="5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/>
          <p:nvPr/>
        </p:nvSpPr>
        <p:spPr>
          <a:xfrm rot="-235023">
            <a:off x="6218914" y="3628876"/>
            <a:ext cx="588475" cy="278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1940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1943 - Processamento de dados ajuda a humanidade</a:t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 rot="-277090">
            <a:off x="5300933" y="3917538"/>
            <a:ext cx="588711" cy="278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1930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car top" id="141" name="Google Shape;14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979540">
            <a:off x="6902950" y="4097650"/>
            <a:ext cx="705100" cy="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42" name="Google Shape;14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10652" y="3967850"/>
            <a:ext cx="56968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/>
        </p:nvSpPr>
        <p:spPr>
          <a:xfrm>
            <a:off x="199725" y="552425"/>
            <a:ext cx="89490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(WW2):  Colossus, a primeira máquina digital de processamento de dados.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Usada para </a:t>
            </a:r>
            <a:r>
              <a:rPr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decifrar</a:t>
            </a:r>
            <a:r>
              <a:rPr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códigos nazistas, ~5000 caracteres por segundo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lossus.jpg" id="144" name="Google Shape;144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725" y="1262906"/>
            <a:ext cx="2702062" cy="1803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lossus computer" id="145" name="Google Shape;145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725" y="3161662"/>
            <a:ext cx="4005075" cy="1543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/>
          <p:nvPr/>
        </p:nvSpPr>
        <p:spPr>
          <a:xfrm rot="-237733">
            <a:off x="7180667" y="3798181"/>
            <a:ext cx="69466" cy="323841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descr="Image result for road sign"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5294">
            <a:off x="6932796" y="3295980"/>
            <a:ext cx="512550" cy="5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 rot="-235023">
            <a:off x="6909464" y="3433101"/>
            <a:ext cx="588475" cy="278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1950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4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1950</a:t>
            </a:r>
            <a:r>
              <a:rPr lang="pt-BR"/>
              <a:t> - Salto de capacidade</a:t>
            </a:r>
            <a:endParaRPr/>
          </a:p>
        </p:txBody>
      </p:sp>
      <p:pic>
        <p:nvPicPr>
          <p:cNvPr descr="Image result for car top" id="155" name="Google Shape;15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8666504">
            <a:off x="7379550" y="3861125"/>
            <a:ext cx="705100" cy="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56" name="Google Shape;15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0777" y="3719950"/>
            <a:ext cx="56968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4"/>
          <p:cNvSpPr txBox="1"/>
          <p:nvPr/>
        </p:nvSpPr>
        <p:spPr>
          <a:xfrm>
            <a:off x="199725" y="552425"/>
            <a:ext cx="8949000" cy="9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RAMAC 350: Capacidade de processar megabytes!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ramac 350" id="158" name="Google Shape;15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725" y="1792401"/>
            <a:ext cx="4797203" cy="28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5"/>
          <p:cNvGrpSpPr/>
          <p:nvPr/>
        </p:nvGrpSpPr>
        <p:grpSpPr>
          <a:xfrm>
            <a:off x="7861612" y="2129725"/>
            <a:ext cx="497400" cy="759228"/>
            <a:chOff x="7861612" y="2129725"/>
            <a:chExt cx="497400" cy="759228"/>
          </a:xfrm>
        </p:grpSpPr>
        <p:sp>
          <p:nvSpPr>
            <p:cNvPr id="164" name="Google Shape;164;p25"/>
            <p:cNvSpPr/>
            <p:nvPr/>
          </p:nvSpPr>
          <p:spPr>
            <a:xfrm rot="-252851">
              <a:off x="8091398" y="2596174"/>
              <a:ext cx="57155" cy="29095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165" name="Google Shape;165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25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1990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 result for petabyte petabyte terabyte" id="167" name="Google Shape;167;p25"/>
          <p:cNvPicPr preferRelativeResize="0"/>
          <p:nvPr/>
        </p:nvPicPr>
        <p:blipFill rotWithShape="1">
          <a:blip r:embed="rId4">
            <a:alphaModFix/>
          </a:blip>
          <a:srcRect b="29373" l="0" r="0" t="0"/>
          <a:stretch/>
        </p:blipFill>
        <p:spPr>
          <a:xfrm>
            <a:off x="347900" y="1635550"/>
            <a:ext cx="5830351" cy="18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5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1986</a:t>
            </a:r>
            <a:r>
              <a:rPr lang="pt-BR"/>
              <a:t> - </a:t>
            </a:r>
            <a:r>
              <a:rPr lang="pt-BR"/>
              <a:t>tudo já produzido ocupava 2.6 exabytes</a:t>
            </a:r>
            <a:endParaRPr/>
          </a:p>
        </p:txBody>
      </p:sp>
      <p:pic>
        <p:nvPicPr>
          <p:cNvPr descr="Image result for car top" id="170" name="Google Shape;17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44164">
            <a:off x="7313755" y="2821393"/>
            <a:ext cx="631414" cy="631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71" name="Google Shape;171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3702" y="2594350"/>
            <a:ext cx="56968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/>
          <p:nvPr/>
        </p:nvSpPr>
        <p:spPr>
          <a:xfrm>
            <a:off x="700301" y="2736927"/>
            <a:ext cx="4181100" cy="185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/>
        </p:nvSpPr>
        <p:spPr>
          <a:xfrm>
            <a:off x="347911" y="1313000"/>
            <a:ext cx="32007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~10 milhões de filmes 4k 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347903" y="3841825"/>
            <a:ext cx="44997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latin typeface="Calibri"/>
                <a:ea typeface="Calibri"/>
                <a:cs typeface="Calibri"/>
                <a:sym typeface="Calibri"/>
              </a:rPr>
              <a:t>2010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: internet trafega 21 EB por mês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6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6"/>
          <p:cNvGrpSpPr/>
          <p:nvPr/>
        </p:nvGrpSpPr>
        <p:grpSpPr>
          <a:xfrm>
            <a:off x="5347012" y="1748725"/>
            <a:ext cx="497400" cy="759228"/>
            <a:chOff x="7861612" y="2129725"/>
            <a:chExt cx="497400" cy="759228"/>
          </a:xfrm>
        </p:grpSpPr>
        <p:sp>
          <p:nvSpPr>
            <p:cNvPr id="181" name="Google Shape;181;p26"/>
            <p:cNvSpPr/>
            <p:nvPr/>
          </p:nvSpPr>
          <p:spPr>
            <a:xfrm rot="-252851">
              <a:off x="8091398" y="2596174"/>
              <a:ext cx="57155" cy="29095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182" name="Google Shape;182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6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1998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26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1998</a:t>
            </a:r>
            <a:r>
              <a:rPr lang="pt-BR"/>
              <a:t> - Google entra na briga dos buscadores </a:t>
            </a:r>
            <a:endParaRPr/>
          </a:p>
        </p:txBody>
      </p:sp>
      <p:pic>
        <p:nvPicPr>
          <p:cNvPr descr="Image result for car top" id="185" name="Google Shape;1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44164">
            <a:off x="6201655" y="2499543"/>
            <a:ext cx="631414" cy="6314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86" name="Google Shape;18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9765" y="2257825"/>
            <a:ext cx="569680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first google logo" id="187" name="Google Shape;18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8238" y="2331687"/>
            <a:ext cx="745528" cy="24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buscadores antigos" id="188" name="Google Shape;188;p26"/>
          <p:cNvPicPr preferRelativeResize="0"/>
          <p:nvPr/>
        </p:nvPicPr>
        <p:blipFill rotWithShape="1">
          <a:blip r:embed="rId8">
            <a:alphaModFix/>
          </a:blip>
          <a:srcRect b="0" l="25373" r="0" t="0"/>
          <a:stretch/>
        </p:blipFill>
        <p:spPr>
          <a:xfrm>
            <a:off x="1579038" y="1339050"/>
            <a:ext cx="2384125" cy="148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buscadores antigos" id="189" name="Google Shape;189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95528" y="3261225"/>
            <a:ext cx="3151149" cy="125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7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p27"/>
          <p:cNvGrpSpPr/>
          <p:nvPr/>
        </p:nvGrpSpPr>
        <p:grpSpPr>
          <a:xfrm>
            <a:off x="5347012" y="1748725"/>
            <a:ext cx="497400" cy="759228"/>
            <a:chOff x="7861612" y="2129725"/>
            <a:chExt cx="497400" cy="759228"/>
          </a:xfrm>
        </p:grpSpPr>
        <p:sp>
          <p:nvSpPr>
            <p:cNvPr id="196" name="Google Shape;196;p27"/>
            <p:cNvSpPr/>
            <p:nvPr/>
          </p:nvSpPr>
          <p:spPr>
            <a:xfrm rot="-252851">
              <a:off x="8091398" y="2596174"/>
              <a:ext cx="57155" cy="29095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197" name="Google Shape;197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7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1998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2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2003 - meios digitais superam os meios analógicos</a:t>
            </a:r>
            <a:endParaRPr/>
          </a:p>
        </p:txBody>
      </p:sp>
      <p:pic>
        <p:nvPicPr>
          <p:cNvPr descr="Image result for car top" id="200" name="Google Shape;20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707645">
            <a:off x="5908436" y="1884223"/>
            <a:ext cx="488207" cy="488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01" name="Google Shape;20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2551" y="1748725"/>
            <a:ext cx="374233" cy="37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d rom" id="202" name="Google Shape;202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1836" y="487000"/>
            <a:ext cx="1218889" cy="103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eios digitais armazenamento" id="203" name="Google Shape;203;p27"/>
          <p:cNvPicPr preferRelativeResize="0"/>
          <p:nvPr/>
        </p:nvPicPr>
        <p:blipFill rotWithShape="1">
          <a:blip r:embed="rId8">
            <a:alphaModFix/>
          </a:blip>
          <a:srcRect b="8363" l="28399" r="48888" t="40013"/>
          <a:stretch/>
        </p:blipFill>
        <p:spPr>
          <a:xfrm>
            <a:off x="3228400" y="867645"/>
            <a:ext cx="669809" cy="1207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en drive" id="204" name="Google Shape;204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246062" y="1418970"/>
            <a:ext cx="865228" cy="82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livros" id="205" name="Google Shape;205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8750" y="3626500"/>
            <a:ext cx="1429018" cy="1398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rolos fotos kodak" id="206" name="Google Shape;206;p27"/>
          <p:cNvPicPr preferRelativeResize="0"/>
          <p:nvPr/>
        </p:nvPicPr>
        <p:blipFill rotWithShape="1">
          <a:blip r:embed="rId11">
            <a:alphaModFix/>
          </a:blip>
          <a:srcRect b="12647" l="9853" r="0" t="20111"/>
          <a:stretch/>
        </p:blipFill>
        <p:spPr>
          <a:xfrm>
            <a:off x="539200" y="2679150"/>
            <a:ext cx="1981126" cy="98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lp disc" id="207" name="Google Shape;207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79188" y="2657280"/>
            <a:ext cx="1119000" cy="1028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news paper old" id="208" name="Google Shape;208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943784" y="3733149"/>
            <a:ext cx="1598525" cy="13421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polaroid photo" id="209" name="Google Shape;209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51400" y="3626500"/>
            <a:ext cx="1549741" cy="15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/>
          <p:nvPr/>
        </p:nvSpPr>
        <p:spPr>
          <a:xfrm>
            <a:off x="1926175" y="1181500"/>
            <a:ext cx="1017600" cy="894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CFE2F3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8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8"/>
          <p:cNvGrpSpPr/>
          <p:nvPr/>
        </p:nvGrpSpPr>
        <p:grpSpPr>
          <a:xfrm>
            <a:off x="5347012" y="1748725"/>
            <a:ext cx="497400" cy="759228"/>
            <a:chOff x="7861612" y="2129725"/>
            <a:chExt cx="497400" cy="759228"/>
          </a:xfrm>
        </p:grpSpPr>
        <p:sp>
          <p:nvSpPr>
            <p:cNvPr id="217" name="Google Shape;217;p28"/>
            <p:cNvSpPr/>
            <p:nvPr/>
          </p:nvSpPr>
          <p:spPr>
            <a:xfrm rot="-252851">
              <a:off x="8091398" y="2596174"/>
              <a:ext cx="57155" cy="29095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218" name="Google Shape;218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8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1998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28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2003 - o frenesi das redes sociais começa</a:t>
            </a:r>
            <a:endParaRPr/>
          </a:p>
        </p:txBody>
      </p:sp>
      <p:pic>
        <p:nvPicPr>
          <p:cNvPr descr="Image result for car top" id="221" name="Google Shape;22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707645">
            <a:off x="5908436" y="1884223"/>
            <a:ext cx="488207" cy="488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22" name="Google Shape;22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2551" y="1748725"/>
            <a:ext cx="374233" cy="374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cial networks old" id="223" name="Google Shape;223;p28"/>
          <p:cNvPicPr preferRelativeResize="0"/>
          <p:nvPr/>
        </p:nvPicPr>
        <p:blipFill rotWithShape="1">
          <a:blip r:embed="rId7">
            <a:alphaModFix/>
          </a:blip>
          <a:srcRect b="0" l="38187" r="0" t="0"/>
          <a:stretch/>
        </p:blipFill>
        <p:spPr>
          <a:xfrm>
            <a:off x="2137000" y="806775"/>
            <a:ext cx="2326850" cy="37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/>
          <p:nvPr/>
        </p:nvSpPr>
        <p:spPr>
          <a:xfrm>
            <a:off x="1155725" y="2725775"/>
            <a:ext cx="1250100" cy="118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930150" y="2383900"/>
            <a:ext cx="1250100" cy="118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9"/>
          <p:cNvGrpSpPr/>
          <p:nvPr/>
        </p:nvGrpSpPr>
        <p:grpSpPr>
          <a:xfrm rot="247342">
            <a:off x="6766656" y="1176297"/>
            <a:ext cx="414461" cy="624388"/>
            <a:chOff x="7861612" y="2129725"/>
            <a:chExt cx="497400" cy="723227"/>
          </a:xfrm>
        </p:grpSpPr>
        <p:sp>
          <p:nvSpPr>
            <p:cNvPr id="232" name="Google Shape;232;p29"/>
            <p:cNvSpPr/>
            <p:nvPr/>
          </p:nvSpPr>
          <p:spPr>
            <a:xfrm rot="-252851">
              <a:off x="8090347" y="2596203"/>
              <a:ext cx="57155" cy="25489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233" name="Google Shape;233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29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2010</a:t>
              </a:r>
              <a:endParaRPr b="1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29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2007 - 110x mais dados que 1986 (~295 exabytes)</a:t>
            </a:r>
            <a:endParaRPr/>
          </a:p>
        </p:txBody>
      </p:sp>
      <p:pic>
        <p:nvPicPr>
          <p:cNvPr descr="Image result for car top" id="236" name="Google Shape;23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237379">
            <a:off x="6517924" y="1740151"/>
            <a:ext cx="394044" cy="39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37" name="Google Shape;23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8450" y="1594650"/>
            <a:ext cx="344700" cy="34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lancamentos 2007 2007" id="238" name="Google Shape;238;p29"/>
          <p:cNvPicPr preferRelativeResize="0"/>
          <p:nvPr/>
        </p:nvPicPr>
        <p:blipFill rotWithShape="1">
          <a:blip r:embed="rId7">
            <a:alphaModFix/>
          </a:blip>
          <a:srcRect b="0" l="23365" r="0" t="0"/>
          <a:stretch/>
        </p:blipFill>
        <p:spPr>
          <a:xfrm>
            <a:off x="1014475" y="668000"/>
            <a:ext cx="3467176" cy="185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phone lançamento steve jobs" id="239" name="Google Shape;239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3975" y="2846375"/>
            <a:ext cx="3008175" cy="20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0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30"/>
          <p:cNvGrpSpPr/>
          <p:nvPr/>
        </p:nvGrpSpPr>
        <p:grpSpPr>
          <a:xfrm rot="247342">
            <a:off x="6766656" y="1176297"/>
            <a:ext cx="414461" cy="624388"/>
            <a:chOff x="7861612" y="2129725"/>
            <a:chExt cx="497400" cy="723227"/>
          </a:xfrm>
        </p:grpSpPr>
        <p:sp>
          <p:nvSpPr>
            <p:cNvPr id="246" name="Google Shape;246;p30"/>
            <p:cNvSpPr/>
            <p:nvPr/>
          </p:nvSpPr>
          <p:spPr>
            <a:xfrm rot="-252851">
              <a:off x="8090347" y="2596203"/>
              <a:ext cx="57155" cy="25489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247" name="Google Shape;2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30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2010</a:t>
              </a:r>
              <a:endParaRPr b="1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30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2011</a:t>
            </a:r>
            <a:r>
              <a:rPr lang="pt-BR"/>
              <a:t> - </a:t>
            </a:r>
            <a:r>
              <a:rPr lang="pt-BR"/>
              <a:t>1.6 zettabytes - 1.5 bilhões de hds de 1tb</a:t>
            </a:r>
            <a:endParaRPr/>
          </a:p>
        </p:txBody>
      </p:sp>
      <p:pic>
        <p:nvPicPr>
          <p:cNvPr descr="Image result for car top" id="250" name="Google Shape;2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261965">
            <a:off x="7047799" y="1711076"/>
            <a:ext cx="394044" cy="39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51" name="Google Shape;25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9800" y="1543775"/>
            <a:ext cx="344700" cy="34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s pile" id="252" name="Google Shape;25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16275" y="1666687"/>
            <a:ext cx="2463450" cy="288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s pile" id="253" name="Google Shape;25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675" y="1819087"/>
            <a:ext cx="2463450" cy="288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s pile" id="254" name="Google Shape;254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9050" y="1349687"/>
            <a:ext cx="2463450" cy="288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ard drives pile" id="255" name="Google Shape;255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4175" y="1192112"/>
            <a:ext cx="2463450" cy="28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12118" t="0"/>
          <a:stretch/>
        </p:blipFill>
        <p:spPr>
          <a:xfrm>
            <a:off x="4768250" y="487000"/>
            <a:ext cx="4375749" cy="465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31"/>
          <p:cNvGrpSpPr/>
          <p:nvPr/>
        </p:nvGrpSpPr>
        <p:grpSpPr>
          <a:xfrm rot="413">
            <a:off x="7680676" y="1100947"/>
            <a:ext cx="414434" cy="624361"/>
            <a:chOff x="7861612" y="2129725"/>
            <a:chExt cx="497400" cy="723227"/>
          </a:xfrm>
        </p:grpSpPr>
        <p:sp>
          <p:nvSpPr>
            <p:cNvPr id="262" name="Google Shape;262;p31"/>
            <p:cNvSpPr/>
            <p:nvPr/>
          </p:nvSpPr>
          <p:spPr>
            <a:xfrm rot="-252851">
              <a:off x="8090347" y="2596203"/>
              <a:ext cx="57155" cy="25489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pic>
          <p:nvPicPr>
            <p:cNvPr descr="Image result for road sign" id="263" name="Google Shape;263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57477">
              <a:off x="7887857" y="2144984"/>
              <a:ext cx="420871" cy="4975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1"/>
            <p:cNvSpPr txBox="1"/>
            <p:nvPr/>
          </p:nvSpPr>
          <p:spPr>
            <a:xfrm rot="-256391">
              <a:off x="7868741" y="2268180"/>
              <a:ext cx="483143" cy="2500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2015</a:t>
              </a:r>
              <a:endParaRPr b="1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31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2015</a:t>
            </a:r>
            <a:r>
              <a:rPr lang="pt-BR"/>
              <a:t> - </a:t>
            </a:r>
            <a:r>
              <a:rPr lang="pt-BR"/>
              <a:t>humanidade tinha 8 zettabytes</a:t>
            </a:r>
            <a:endParaRPr/>
          </a:p>
        </p:txBody>
      </p:sp>
      <p:pic>
        <p:nvPicPr>
          <p:cNvPr descr="Image result for car top" id="266" name="Google Shape;26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261965">
            <a:off x="7440324" y="1682001"/>
            <a:ext cx="394044" cy="394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267" name="Google Shape;26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2025" y="1470050"/>
            <a:ext cx="344700" cy="3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1"/>
          <p:cNvSpPr txBox="1"/>
          <p:nvPr/>
        </p:nvSpPr>
        <p:spPr>
          <a:xfrm>
            <a:off x="698250" y="1149950"/>
            <a:ext cx="371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Apenas</a:t>
            </a:r>
            <a:r>
              <a:rPr lang="pt-BR" sz="1600"/>
              <a:t> o YouTube já tinha  ~1EB</a:t>
            </a:r>
            <a:endParaRPr sz="1600"/>
          </a:p>
        </p:txBody>
      </p:sp>
      <p:pic>
        <p:nvPicPr>
          <p:cNvPr descr="Image result for youtube icon" id="269" name="Google Shape;269;p31"/>
          <p:cNvPicPr preferRelativeResize="0"/>
          <p:nvPr/>
        </p:nvPicPr>
        <p:blipFill rotWithShape="1">
          <a:blip r:embed="rId7">
            <a:alphaModFix/>
          </a:blip>
          <a:srcRect b="27798" l="0" r="0" t="27400"/>
          <a:stretch/>
        </p:blipFill>
        <p:spPr>
          <a:xfrm>
            <a:off x="789850" y="1615225"/>
            <a:ext cx="3083906" cy="6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300"/>
              <a:t>O quão grande? O que dá para fazer?</a:t>
            </a:r>
            <a:endParaRPr sz="4300"/>
          </a:p>
        </p:txBody>
      </p:sp>
      <p:sp>
        <p:nvSpPr>
          <p:cNvPr id="275" name="Google Shape;275;p3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200" y="129163"/>
            <a:ext cx="6631599" cy="48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00" y="697350"/>
            <a:ext cx="8123801" cy="37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DBPedia release: 2007</a:t>
            </a:r>
            <a:endParaRPr/>
          </a:p>
        </p:txBody>
      </p:sp>
      <p:sp>
        <p:nvSpPr>
          <p:cNvPr id="291" name="Google Shape;291;p35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4882900" y="1858519"/>
            <a:ext cx="1627500" cy="1172700"/>
          </a:xfrm>
          <a:prstGeom prst="ellipse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latin typeface="Calibri"/>
                <a:ea typeface="Calibri"/>
                <a:cs typeface="Calibri"/>
                <a:sym typeface="Calibri"/>
              </a:rPr>
              <a:t>DBPedia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dataset icon" id="293" name="Google Shape;2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3425" y="2689400"/>
            <a:ext cx="600900" cy="6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2007.5</a:t>
            </a:r>
            <a:endParaRPr/>
          </a:p>
        </p:txBody>
      </p:sp>
      <p:sp>
        <p:nvSpPr>
          <p:cNvPr id="299" name="Google Shape;299;p36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00" name="Google Shape;30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200" y="1167750"/>
            <a:ext cx="4645890" cy="2881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od-cloud.net/versions/2008-02-28/lod-cloud.png" id="305" name="Google Shape;30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638" y="560784"/>
            <a:ext cx="5493544" cy="402193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7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2008.2</a:t>
            </a:r>
            <a:endParaRPr/>
          </a:p>
        </p:txBody>
      </p:sp>
      <p:sp>
        <p:nvSpPr>
          <p:cNvPr id="307" name="Google Shape;307;p37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od-cloud.net/versions/2008-09-18/lod-cloud.png" id="312" name="Google Shape;3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582216"/>
            <a:ext cx="5143500" cy="397906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8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/>
              <a:t>2008.9</a:t>
            </a:r>
            <a:endParaRPr/>
          </a:p>
        </p:txBody>
      </p:sp>
      <p:sp>
        <p:nvSpPr>
          <p:cNvPr id="314" name="Google Shape;314;p38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od-cloud.net/versions/2009-07-14/lod-cloud.png"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700" y="527484"/>
            <a:ext cx="5458968" cy="4088532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9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/>
              <a:t>2009.7</a:t>
            </a:r>
            <a:endParaRPr/>
          </a:p>
        </p:txBody>
      </p:sp>
      <p:sp>
        <p:nvSpPr>
          <p:cNvPr id="321" name="Google Shape;321;p39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40"/>
          <p:cNvPicPr preferRelativeResize="0"/>
          <p:nvPr/>
        </p:nvPicPr>
        <p:blipFill rotWithShape="1">
          <a:blip r:embed="rId3">
            <a:alphaModFix/>
          </a:blip>
          <a:srcRect b="0" l="737" r="865" t="0"/>
          <a:stretch/>
        </p:blipFill>
        <p:spPr>
          <a:xfrm>
            <a:off x="199718" y="452025"/>
            <a:ext cx="6708201" cy="444068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0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/>
              <a:t>2010.9</a:t>
            </a:r>
            <a:endParaRPr/>
          </a:p>
        </p:txBody>
      </p:sp>
      <p:sp>
        <p:nvSpPr>
          <p:cNvPr id="328" name="Google Shape;328;p40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18" y="477275"/>
            <a:ext cx="6708202" cy="442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1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/>
              <a:t>2011.9</a:t>
            </a:r>
            <a:endParaRPr/>
          </a:p>
        </p:txBody>
      </p:sp>
      <p:sp>
        <p:nvSpPr>
          <p:cNvPr id="335" name="Google Shape;335;p41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1" name="Google Shape;34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450" y="951956"/>
            <a:ext cx="5130076" cy="352575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2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2011</a:t>
            </a:r>
            <a:endParaRPr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8" name="Google Shape;3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718" y="557308"/>
            <a:ext cx="6698608" cy="438736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3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pt-BR"/>
              <a:t>2014.8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2017.1</a:t>
            </a:r>
            <a:endParaRPr/>
          </a:p>
        </p:txBody>
      </p:sp>
      <p:sp>
        <p:nvSpPr>
          <p:cNvPr id="355" name="Google Shape;355;p44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https://lod-cloud.net/versions/2017-01-26/cloudImage2017.png" id="356" name="Google Shape;356;p44"/>
          <p:cNvPicPr preferRelativeResize="0"/>
          <p:nvPr/>
        </p:nvPicPr>
        <p:blipFill rotWithShape="1">
          <a:blip r:embed="rId3">
            <a:alphaModFix/>
          </a:blip>
          <a:srcRect b="0" l="0" r="11933" t="0"/>
          <a:stretch/>
        </p:blipFill>
        <p:spPr>
          <a:xfrm>
            <a:off x="1901197" y="0"/>
            <a:ext cx="72428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https://lod-cloud.net/versions/2017-08-22/lod.png" id="362" name="Google Shape;362;p45"/>
          <p:cNvPicPr preferRelativeResize="0"/>
          <p:nvPr/>
        </p:nvPicPr>
        <p:blipFill rotWithShape="1">
          <a:blip r:embed="rId3">
            <a:alphaModFix/>
          </a:blip>
          <a:srcRect b="4561" l="0" r="7825" t="0"/>
          <a:stretch/>
        </p:blipFill>
        <p:spPr>
          <a:xfrm>
            <a:off x="2036409" y="274315"/>
            <a:ext cx="7107591" cy="4869049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5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2017.8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2018.4</a:t>
            </a:r>
            <a:endParaRPr/>
          </a:p>
        </p:txBody>
      </p:sp>
      <p:sp>
        <p:nvSpPr>
          <p:cNvPr id="369" name="Google Shape;369;p46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0" name="Google Shape;370;p46"/>
          <p:cNvPicPr preferRelativeResize="0"/>
          <p:nvPr/>
        </p:nvPicPr>
        <p:blipFill rotWithShape="1">
          <a:blip r:embed="rId3">
            <a:alphaModFix/>
          </a:blip>
          <a:srcRect b="0" l="25187" r="25998" t="12280"/>
          <a:stretch/>
        </p:blipFill>
        <p:spPr>
          <a:xfrm>
            <a:off x="2368300" y="0"/>
            <a:ext cx="6775699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2018.11</a:t>
            </a:r>
            <a:endParaRPr/>
          </a:p>
        </p:txBody>
      </p:sp>
      <p:sp>
        <p:nvSpPr>
          <p:cNvPr id="376" name="Google Shape;376;p47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7" name="Google Shape;377;p47"/>
          <p:cNvPicPr preferRelativeResize="0"/>
          <p:nvPr/>
        </p:nvPicPr>
        <p:blipFill rotWithShape="1">
          <a:blip r:embed="rId3">
            <a:alphaModFix/>
          </a:blip>
          <a:srcRect b="3048" l="25172" r="25585" t="9347"/>
          <a:stretch/>
        </p:blipFill>
        <p:spPr>
          <a:xfrm>
            <a:off x="2300427" y="0"/>
            <a:ext cx="6843572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 txBox="1"/>
          <p:nvPr>
            <p:ph type="title"/>
          </p:nvPr>
        </p:nvSpPr>
        <p:spPr>
          <a:xfrm>
            <a:off x="199725" y="91518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Linked-data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2019.3</a:t>
            </a:r>
            <a:endParaRPr/>
          </a:p>
        </p:txBody>
      </p:sp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-68222" y="4911505"/>
            <a:ext cx="469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4" name="Google Shape;384;p48"/>
          <p:cNvPicPr preferRelativeResize="0"/>
          <p:nvPr/>
        </p:nvPicPr>
        <p:blipFill rotWithShape="1">
          <a:blip r:embed="rId3">
            <a:alphaModFix/>
          </a:blip>
          <a:srcRect b="2861" l="25278" r="25377" t="9349"/>
          <a:stretch/>
        </p:blipFill>
        <p:spPr>
          <a:xfrm>
            <a:off x="2300316" y="-131"/>
            <a:ext cx="684368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675" y="1143000"/>
            <a:ext cx="52006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0"/>
          <p:cNvPicPr preferRelativeResize="0"/>
          <p:nvPr/>
        </p:nvPicPr>
        <p:blipFill rotWithShape="1">
          <a:blip r:embed="rId3">
            <a:alphaModFix/>
          </a:blip>
          <a:srcRect b="2600" l="0" r="0" t="0"/>
          <a:stretch/>
        </p:blipFill>
        <p:spPr>
          <a:xfrm>
            <a:off x="939500" y="167531"/>
            <a:ext cx="7264775" cy="469516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0"/>
          <p:cNvSpPr txBox="1"/>
          <p:nvPr/>
        </p:nvSpPr>
        <p:spPr>
          <a:xfrm>
            <a:off x="457172" y="205014"/>
            <a:ext cx="82287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000" strike="noStrike">
                <a:solidFill>
                  <a:srgbClr val="333366"/>
                </a:solidFill>
                <a:latin typeface="Trebuchet MS"/>
                <a:ea typeface="Trebuchet MS"/>
                <a:cs typeface="Trebuchet MS"/>
                <a:sym typeface="Trebuchet MS"/>
              </a:rPr>
              <a:t>Les Miserables</a:t>
            </a:r>
            <a:endParaRPr b="0" sz="2500" strike="noStrike">
              <a:solidFill>
                <a:srgbClr val="33336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Resultado de imagem para les miserables" id="396" name="Google Shape;39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1650" y="3291113"/>
            <a:ext cx="1871662" cy="124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075" y="1796150"/>
            <a:ext cx="2076094" cy="1140712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1"/>
          <p:cNvSpPr txBox="1"/>
          <p:nvPr/>
        </p:nvSpPr>
        <p:spPr>
          <a:xfrm>
            <a:off x="5574800" y="2108344"/>
            <a:ext cx="969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0">
                <a:latin typeface="Source Sans Pro"/>
                <a:ea typeface="Source Sans Pro"/>
                <a:cs typeface="Source Sans Pro"/>
                <a:sym typeface="Source Sans Pro"/>
              </a:rPr>
              <a:t>=</a:t>
            </a:r>
            <a:endParaRPr sz="83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03" name="Google Shape;403;p51"/>
          <p:cNvPicPr preferRelativeResize="0"/>
          <p:nvPr/>
        </p:nvPicPr>
        <p:blipFill rotWithShape="1">
          <a:blip r:embed="rId4">
            <a:alphaModFix/>
          </a:blip>
          <a:srcRect b="2600" l="0" r="0" t="0"/>
          <a:stretch/>
        </p:blipFill>
        <p:spPr>
          <a:xfrm>
            <a:off x="183825" y="357938"/>
            <a:ext cx="1913424" cy="123661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Image result for graph network" id="404" name="Google Shape;40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813" y="1733944"/>
            <a:ext cx="1295439" cy="1140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aph network" id="405" name="Google Shape;40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438" y="3014056"/>
            <a:ext cx="1790176" cy="1722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6" name="Google Shape;406;p51"/>
          <p:cNvSpPr txBox="1"/>
          <p:nvPr/>
        </p:nvSpPr>
        <p:spPr>
          <a:xfrm>
            <a:off x="1688600" y="2108344"/>
            <a:ext cx="969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0">
                <a:latin typeface="Source Sans Pro"/>
                <a:ea typeface="Source Sans Pro"/>
                <a:cs typeface="Source Sans Pro"/>
                <a:sym typeface="Source Sans Pro"/>
              </a:rPr>
              <a:t>+</a:t>
            </a:r>
            <a:endParaRPr sz="83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descr="Image result for social network icons" id="407" name="Google Shape;407;p51"/>
          <p:cNvPicPr preferRelativeResize="0"/>
          <p:nvPr/>
        </p:nvPicPr>
        <p:blipFill rotWithShape="1">
          <a:blip r:embed="rId7">
            <a:alphaModFix/>
          </a:blip>
          <a:srcRect b="72764" l="34799" r="32999" t="0"/>
          <a:stretch/>
        </p:blipFill>
        <p:spPr>
          <a:xfrm>
            <a:off x="2422587" y="1899900"/>
            <a:ext cx="1145506" cy="45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social network icons" id="408" name="Google Shape;408;p51"/>
          <p:cNvPicPr preferRelativeResize="0"/>
          <p:nvPr/>
        </p:nvPicPr>
        <p:blipFill rotWithShape="1">
          <a:blip r:embed="rId7">
            <a:alphaModFix/>
          </a:blip>
          <a:srcRect b="72764" l="0" r="67342" t="0"/>
          <a:stretch/>
        </p:blipFill>
        <p:spPr>
          <a:xfrm>
            <a:off x="2414475" y="2327425"/>
            <a:ext cx="1161725" cy="45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g" id="409" name="Google Shape;409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77150" y="2006200"/>
            <a:ext cx="726975" cy="72063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51"/>
          <p:cNvSpPr txBox="1"/>
          <p:nvPr/>
        </p:nvSpPr>
        <p:spPr>
          <a:xfrm>
            <a:off x="3822200" y="2108344"/>
            <a:ext cx="969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300">
                <a:latin typeface="Source Sans Pro"/>
                <a:ea typeface="Source Sans Pro"/>
                <a:cs typeface="Source Sans Pro"/>
                <a:sym typeface="Source Sans Pro"/>
              </a:rPr>
              <a:t>+</a:t>
            </a:r>
            <a:endParaRPr sz="83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11" name="Google Shape;411;p51"/>
          <p:cNvSpPr txBox="1"/>
          <p:nvPr/>
        </p:nvSpPr>
        <p:spPr>
          <a:xfrm>
            <a:off x="3880800" y="2658619"/>
            <a:ext cx="2768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Big Data Processing</a:t>
            </a:r>
            <a:br>
              <a:rPr b="1" lang="pt-BR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b="1" lang="pt-BR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Análise de Sentimento</a:t>
            </a:r>
            <a:endParaRPr b="1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2"/>
          <p:cNvSpPr txBox="1"/>
          <p:nvPr>
            <p:ph type="ctrTitle"/>
          </p:nvPr>
        </p:nvSpPr>
        <p:spPr>
          <a:xfrm>
            <a:off x="150300" y="460687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00"/>
              <a:t>Big Data é um caminho sem volta</a:t>
            </a:r>
            <a:endParaRPr sz="3900"/>
          </a:p>
        </p:txBody>
      </p:sp>
      <p:sp>
        <p:nvSpPr>
          <p:cNvPr id="417" name="Google Shape;417;p52"/>
          <p:cNvSpPr txBox="1"/>
          <p:nvPr>
            <p:ph idx="1" type="subTitle"/>
          </p:nvPr>
        </p:nvSpPr>
        <p:spPr>
          <a:xfrm>
            <a:off x="150300" y="1278450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3"/>
          <p:cNvSpPr txBox="1"/>
          <p:nvPr>
            <p:ph idx="4294967295" type="body"/>
          </p:nvPr>
        </p:nvSpPr>
        <p:spPr>
          <a:xfrm>
            <a:off x="304800" y="809250"/>
            <a:ext cx="7928700" cy="819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000">
                <a:solidFill>
                  <a:srgbClr val="434343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“Sociedades que mais lucram não são mais as que produzem commodities, mas as que gerenciam a informação” </a:t>
            </a:r>
            <a:endParaRPr b="1" i="1" sz="2000">
              <a:solidFill>
                <a:srgbClr val="434343"/>
              </a:solidFill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pt-BR" sz="20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Luciano Floridi</a:t>
            </a:r>
            <a:endParaRPr i="1" sz="3700"/>
          </a:p>
        </p:txBody>
      </p:sp>
      <p:pic>
        <p:nvPicPr>
          <p:cNvPr id="423" name="Google Shape;423;p53"/>
          <p:cNvPicPr preferRelativeResize="0"/>
          <p:nvPr/>
        </p:nvPicPr>
        <p:blipFill rotWithShape="1">
          <a:blip r:embed="rId3">
            <a:alphaModFix/>
          </a:blip>
          <a:srcRect b="11229" l="0" r="0" t="0"/>
          <a:stretch/>
        </p:blipFill>
        <p:spPr>
          <a:xfrm>
            <a:off x="6719150" y="2122425"/>
            <a:ext cx="1094675" cy="15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450" y="3031050"/>
            <a:ext cx="1988900" cy="1988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5" name="Google Shape;425;p53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Aceite o fato: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/>
              <a:t>Dados no centro da quarta revolução</a:t>
            </a:r>
            <a:endParaRPr b="1" sz="3100"/>
          </a:p>
        </p:txBody>
      </p:sp>
      <p:pic>
        <p:nvPicPr>
          <p:cNvPr descr="Image result for revoluções industriais" id="431" name="Google Shape;431;p54"/>
          <p:cNvPicPr preferRelativeResize="0"/>
          <p:nvPr/>
        </p:nvPicPr>
        <p:blipFill rotWithShape="1">
          <a:blip r:embed="rId3">
            <a:alphaModFix/>
          </a:blip>
          <a:srcRect b="1059" l="0" r="26900" t="22715"/>
          <a:stretch/>
        </p:blipFill>
        <p:spPr>
          <a:xfrm>
            <a:off x="372825" y="828625"/>
            <a:ext cx="6057298" cy="3612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revoluções industriais" id="432" name="Google Shape;432;p54"/>
          <p:cNvPicPr preferRelativeResize="0"/>
          <p:nvPr/>
        </p:nvPicPr>
        <p:blipFill rotWithShape="1">
          <a:blip r:embed="rId3">
            <a:alphaModFix/>
          </a:blip>
          <a:srcRect b="1059" l="73100" r="0" t="22715"/>
          <a:stretch/>
        </p:blipFill>
        <p:spPr>
          <a:xfrm>
            <a:off x="6430120" y="828625"/>
            <a:ext cx="2229005" cy="361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/>
              <a:t>Dados no centro da quarta revolução</a:t>
            </a:r>
            <a:endParaRPr b="1" sz="3100"/>
          </a:p>
        </p:txBody>
      </p:sp>
      <p:pic>
        <p:nvPicPr>
          <p:cNvPr descr="Image result for commodities" id="438" name="Google Shape;43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114425"/>
            <a:ext cx="3060199" cy="1433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modities" id="439" name="Google Shape;43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547794"/>
            <a:ext cx="3060200" cy="1114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vs icon" id="440" name="Google Shape;44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6475" y="1879087"/>
            <a:ext cx="916463" cy="138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5"/>
          <p:cNvSpPr txBox="1"/>
          <p:nvPr/>
        </p:nvSpPr>
        <p:spPr>
          <a:xfrm>
            <a:off x="0" y="381036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/>
              <a:t>Tecnologia pontual como instrumento de gerência </a:t>
            </a:r>
            <a:r>
              <a:rPr lang="pt-BR" sz="1600"/>
              <a:t>vs</a:t>
            </a:r>
            <a:r>
              <a:rPr b="1" lang="pt-BR" sz="1600"/>
              <a:t> tecnologia integrada gerando riqueza</a:t>
            </a:r>
            <a:endParaRPr b="1" sz="1600"/>
          </a:p>
        </p:txBody>
      </p:sp>
      <p:pic>
        <p:nvPicPr>
          <p:cNvPr descr="Image result for dados" id="442" name="Google Shape;442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37407" y="994406"/>
            <a:ext cx="1964531" cy="2023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loud" id="443" name="Google Shape;443;p55"/>
          <p:cNvPicPr preferRelativeResize="0"/>
          <p:nvPr/>
        </p:nvPicPr>
        <p:blipFill rotWithShape="1">
          <a:blip r:embed="rId7">
            <a:alphaModFix/>
          </a:blip>
          <a:srcRect b="34158" l="0" r="5508" t="0"/>
          <a:stretch/>
        </p:blipFill>
        <p:spPr>
          <a:xfrm>
            <a:off x="5937400" y="2674613"/>
            <a:ext cx="2619374" cy="912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/>
              <a:t>Cenário</a:t>
            </a:r>
            <a:endParaRPr b="1" sz="3100"/>
          </a:p>
        </p:txBody>
      </p:sp>
      <p:sp>
        <p:nvSpPr>
          <p:cNvPr id="449" name="Google Shape;449;p56"/>
          <p:cNvSpPr txBox="1"/>
          <p:nvPr>
            <p:ph idx="4294967295" type="body"/>
          </p:nvPr>
        </p:nvSpPr>
        <p:spPr>
          <a:xfrm>
            <a:off x="199725" y="728300"/>
            <a:ext cx="8944500" cy="11037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Sociedade         Tecnologia = dados, dados, dados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Globalização e alta competitividade</a:t>
            </a:r>
            <a:endParaRPr b="1" sz="2300"/>
          </a:p>
        </p:txBody>
      </p:sp>
      <p:sp>
        <p:nvSpPr>
          <p:cNvPr id="450" name="Google Shape;450;p56"/>
          <p:cNvSpPr txBox="1"/>
          <p:nvPr>
            <p:ph idx="4294967295" type="body"/>
          </p:nvPr>
        </p:nvSpPr>
        <p:spPr>
          <a:xfrm>
            <a:off x="199650" y="3090500"/>
            <a:ext cx="8944500" cy="11037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Dados, dados, dados:  Sem precedentes, como lidar?</a:t>
            </a:r>
            <a:endParaRPr b="1"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Alta competitividade:  Decisões rápidas e inteligentes</a:t>
            </a:r>
            <a:endParaRPr b="1" sz="2300"/>
          </a:p>
        </p:txBody>
      </p:sp>
      <p:pic>
        <p:nvPicPr>
          <p:cNvPr descr="Image result for pacman" id="451" name="Google Shape;451;p56"/>
          <p:cNvPicPr preferRelativeResize="0"/>
          <p:nvPr/>
        </p:nvPicPr>
        <p:blipFill rotWithShape="1">
          <a:blip r:embed="rId3">
            <a:alphaModFix/>
          </a:blip>
          <a:srcRect b="23597" l="20267" r="0" t="20800"/>
          <a:stretch/>
        </p:blipFill>
        <p:spPr>
          <a:xfrm>
            <a:off x="2058056" y="846556"/>
            <a:ext cx="612625" cy="320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452" name="Google Shape;45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9700" y="1577500"/>
            <a:ext cx="1395600" cy="13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100"/>
              <a:t>Respostas</a:t>
            </a:r>
            <a:endParaRPr b="1" sz="3100"/>
          </a:p>
        </p:txBody>
      </p:sp>
      <p:sp>
        <p:nvSpPr>
          <p:cNvPr id="458" name="Google Shape;458;p57"/>
          <p:cNvSpPr txBox="1"/>
          <p:nvPr>
            <p:ph idx="4294967295" type="body"/>
          </p:nvPr>
        </p:nvSpPr>
        <p:spPr>
          <a:xfrm>
            <a:off x="199725" y="975950"/>
            <a:ext cx="8944500" cy="7359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700"/>
              <a:t>Sem precedentes, como lidar?</a:t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2700"/>
              <a:t>Decisões rápidas e inteligentes</a:t>
            </a:r>
            <a:endParaRPr sz="2700"/>
          </a:p>
        </p:txBody>
      </p:sp>
      <p:pic>
        <p:nvPicPr>
          <p:cNvPr descr="Image result for arrow" id="459" name="Google Shape;4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818278" y="1007953"/>
            <a:ext cx="356981" cy="531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rrow" id="460" name="Google Shape;46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818278" y="3746416"/>
            <a:ext cx="356981" cy="531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ata hero" id="461" name="Google Shape;461;p57"/>
          <p:cNvPicPr preferRelativeResize="0"/>
          <p:nvPr/>
        </p:nvPicPr>
        <p:blipFill rotWithShape="1">
          <a:blip r:embed="rId4">
            <a:alphaModFix/>
          </a:blip>
          <a:srcRect b="14957" l="17229" r="26810" t="10404"/>
          <a:stretch/>
        </p:blipFill>
        <p:spPr>
          <a:xfrm>
            <a:off x="5486400" y="531488"/>
            <a:ext cx="3200400" cy="1676795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57"/>
          <p:cNvSpPr txBox="1"/>
          <p:nvPr/>
        </p:nvSpPr>
        <p:spPr>
          <a:xfrm>
            <a:off x="5486400" y="150881"/>
            <a:ext cx="3200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CEF6"/>
                </a:solidFill>
                <a:highlight>
                  <a:srgbClr val="073763"/>
                </a:highlight>
                <a:latin typeface="Oswald"/>
                <a:ea typeface="Oswald"/>
                <a:cs typeface="Oswald"/>
                <a:sym typeface="Oswald"/>
              </a:rPr>
              <a:t>Big Data</a:t>
            </a:r>
            <a:endParaRPr b="1" sz="2000">
              <a:solidFill>
                <a:srgbClr val="00CEF6"/>
              </a:solidFill>
              <a:highlight>
                <a:srgbClr val="073763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Image result for data hero" id="463" name="Google Shape;463;p57"/>
          <p:cNvPicPr preferRelativeResize="0"/>
          <p:nvPr/>
        </p:nvPicPr>
        <p:blipFill rotWithShape="1">
          <a:blip r:embed="rId5">
            <a:alphaModFix/>
          </a:blip>
          <a:srcRect b="18473" l="33964" r="37699" t="0"/>
          <a:stretch/>
        </p:blipFill>
        <p:spPr>
          <a:xfrm>
            <a:off x="5791073" y="2924719"/>
            <a:ext cx="2591050" cy="2174437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7"/>
          <p:cNvSpPr txBox="1"/>
          <p:nvPr/>
        </p:nvSpPr>
        <p:spPr>
          <a:xfrm>
            <a:off x="5486400" y="2551181"/>
            <a:ext cx="32004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CEF6"/>
                </a:solidFill>
                <a:highlight>
                  <a:srgbClr val="073763"/>
                </a:highlight>
                <a:latin typeface="Oswald"/>
                <a:ea typeface="Oswald"/>
                <a:cs typeface="Oswald"/>
                <a:sym typeface="Oswald"/>
              </a:rPr>
              <a:t> Data Science</a:t>
            </a:r>
            <a:endParaRPr b="1" sz="2000">
              <a:solidFill>
                <a:srgbClr val="00CEF6"/>
              </a:solidFill>
              <a:highlight>
                <a:srgbClr val="073763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Limites e Papéis</a:t>
            </a:r>
            <a:endParaRPr/>
          </a:p>
        </p:txBody>
      </p:sp>
      <p:sp>
        <p:nvSpPr>
          <p:cNvPr id="470" name="Google Shape;470;p58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ED vs. CD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Engenheiro de Dados</a:t>
            </a:r>
            <a:endParaRPr/>
          </a:p>
        </p:txBody>
      </p:sp>
      <p:sp>
        <p:nvSpPr>
          <p:cNvPr id="476" name="Google Shape;476;p59"/>
          <p:cNvSpPr txBox="1"/>
          <p:nvPr>
            <p:ph idx="1" type="body"/>
          </p:nvPr>
        </p:nvSpPr>
        <p:spPr>
          <a:xfrm>
            <a:off x="199750" y="706404"/>
            <a:ext cx="8944200" cy="21537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Profissional que projeta a infraestrutura de análise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Responsável por escalabilidade do </a:t>
            </a:r>
            <a:r>
              <a:rPr i="1" lang="pt-BR"/>
              <a:t>pipe </a:t>
            </a:r>
            <a:r>
              <a:rPr lang="pt-BR"/>
              <a:t>de dados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Gerencia</a:t>
            </a:r>
            <a:r>
              <a:rPr lang="pt-BR"/>
              <a:t> dezenas de fontes distintas e mantém relacionamentos entre as mesmas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Projeta, escala e coloca modelos em produção, usualmente respeitando um SLA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um </a:t>
            </a:r>
            <a:r>
              <a:rPr lang="pt-BR"/>
              <a:t>engenheiro</a:t>
            </a:r>
            <a:r>
              <a:rPr lang="pt-BR"/>
              <a:t> de software com amplo conhecimento de arquitetura de sistemas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Usualmente trabalha diretamente com área de ciência de dados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Cientista de Dados</a:t>
            </a:r>
            <a:endParaRPr/>
          </a:p>
        </p:txBody>
      </p:sp>
      <p:sp>
        <p:nvSpPr>
          <p:cNvPr id="482" name="Google Shape;482;p60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Utiliza métodos para buscar respostas latentes nos dados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Trabalha diretamente com área de engenharia de dados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Antes de tudo, pensam como cientistas (!)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Precisam conhecer muito do negócio</a:t>
            </a:r>
            <a:endParaRPr/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São capazes de usar dados para explicar/contar histórias</a:t>
            </a:r>
            <a:endParaRPr/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992" y="0"/>
            <a:ext cx="603401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ata hero" id="488" name="Google Shape;488;p61"/>
          <p:cNvPicPr preferRelativeResize="0"/>
          <p:nvPr/>
        </p:nvPicPr>
        <p:blipFill rotWithShape="1">
          <a:blip r:embed="rId4">
            <a:alphaModFix/>
          </a:blip>
          <a:srcRect b="14957" l="21396" r="39911" t="10404"/>
          <a:stretch/>
        </p:blipFill>
        <p:spPr>
          <a:xfrm>
            <a:off x="50401" y="2116025"/>
            <a:ext cx="1446449" cy="10960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ata hero" id="489" name="Google Shape;489;p61"/>
          <p:cNvPicPr preferRelativeResize="0"/>
          <p:nvPr/>
        </p:nvPicPr>
        <p:blipFill rotWithShape="1">
          <a:blip r:embed="rId5">
            <a:alphaModFix/>
          </a:blip>
          <a:srcRect b="18473" l="33964" r="37699" t="0"/>
          <a:stretch/>
        </p:blipFill>
        <p:spPr>
          <a:xfrm>
            <a:off x="7697550" y="1998199"/>
            <a:ext cx="1446449" cy="12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62"/>
          <p:cNvPicPr preferRelativeResize="0"/>
          <p:nvPr/>
        </p:nvPicPr>
        <p:blipFill rotWithShape="1">
          <a:blip r:embed="rId3">
            <a:alphaModFix/>
          </a:blip>
          <a:srcRect b="0" l="0" r="0" t="12296"/>
          <a:stretch/>
        </p:blipFill>
        <p:spPr>
          <a:xfrm>
            <a:off x="1880725" y="316188"/>
            <a:ext cx="5382550" cy="45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Big Data afinal?</a:t>
            </a:r>
            <a:endParaRPr/>
          </a:p>
        </p:txBody>
      </p:sp>
      <p:sp>
        <p:nvSpPr>
          <p:cNvPr id="500" name="Google Shape;500;p63"/>
          <p:cNvSpPr txBox="1"/>
          <p:nvPr>
            <p:ph idx="1" type="body"/>
          </p:nvPr>
        </p:nvSpPr>
        <p:spPr>
          <a:xfrm>
            <a:off x="-50" y="706400"/>
            <a:ext cx="91440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</a:t>
            </a:r>
            <a:r>
              <a:rPr lang="pt-BR"/>
              <a:t> termo  ’Big  Data’ apareceu pela primeira vez em 1998, na apresentação </a:t>
            </a:r>
            <a:r>
              <a:rPr i="1" lang="pt-BR"/>
              <a:t>“</a:t>
            </a:r>
            <a:r>
              <a:rPr i="1" lang="pt-BR"/>
              <a:t>Big Data and the Next Wave of InfraStress”</a:t>
            </a:r>
            <a:r>
              <a:rPr lang="pt-BR"/>
              <a:t> (John Mashey,</a:t>
            </a:r>
            <a:r>
              <a:rPr lang="pt-BR"/>
              <a:t> da falecida empresa Silicon Graphics Inc.)</a:t>
            </a:r>
            <a:br>
              <a:rPr lang="pt-BR"/>
            </a:b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pt-BR"/>
              <a:t>“</a:t>
            </a:r>
            <a:r>
              <a:rPr i="1" lang="pt-BR"/>
              <a:t>Big Data concern large-volume, complex, growing data sets with multiple, autonomous sources.” </a:t>
            </a:r>
            <a:r>
              <a:rPr lang="pt-BR"/>
              <a:t>[1] (2012)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“[...] term used to identify the datasets that, due to their large size and complexity, we can not manage with our current methodologies” </a:t>
            </a:r>
            <a:r>
              <a:rPr lang="pt-BR"/>
              <a:t>[2] (2014)</a:t>
            </a:r>
            <a:br>
              <a:rPr lang="pt-BR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“</a:t>
            </a:r>
            <a:r>
              <a:rPr i="1" lang="pt-BR"/>
              <a:t>[...] the </a:t>
            </a:r>
            <a:r>
              <a:rPr i="1" lang="pt-BR"/>
              <a:t>challenge</a:t>
            </a:r>
            <a:r>
              <a:rPr i="1" lang="pt-BR"/>
              <a:t> of extracting useful information from large datasets or streams of data,  that due to its volume, variability, and velocity, it was  not  possible  before</a:t>
            </a:r>
            <a:r>
              <a:rPr lang="pt-BR"/>
              <a:t>” [2] (2014)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Big Data afinal?</a:t>
            </a:r>
            <a:endParaRPr/>
          </a:p>
        </p:txBody>
      </p:sp>
      <p:sp>
        <p:nvSpPr>
          <p:cNvPr id="506" name="Google Shape;506;p64"/>
          <p:cNvSpPr txBox="1"/>
          <p:nvPr/>
        </p:nvSpPr>
        <p:spPr>
          <a:xfrm>
            <a:off x="727650" y="1228425"/>
            <a:ext cx="76887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Big data is </a:t>
            </a:r>
            <a:r>
              <a:rPr b="1"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high-volume, high-velocity and/or high-variety information</a:t>
            </a:r>
            <a:r>
              <a:rPr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assets that demand cost-effective,</a:t>
            </a:r>
            <a:r>
              <a:rPr i="1"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1"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innovative forms</a:t>
            </a:r>
            <a:r>
              <a:rPr i="1"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of information processing that enable enhanced </a:t>
            </a:r>
            <a:r>
              <a:rPr b="1" i="1"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insight, decision making, and process automation</a:t>
            </a:r>
            <a:r>
              <a:rPr i="1"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pt-BR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00">
                <a:latin typeface="Lato"/>
                <a:ea typeface="Lato"/>
                <a:cs typeface="Lato"/>
                <a:sym typeface="Lato"/>
              </a:rPr>
              <a:t>Gartner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Big Data afinal?</a:t>
            </a:r>
            <a:endParaRPr/>
          </a:p>
        </p:txBody>
      </p:sp>
      <p:pic>
        <p:nvPicPr>
          <p:cNvPr id="512" name="Google Shape;51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569" y="3135250"/>
            <a:ext cx="4764851" cy="15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5"/>
          <p:cNvSpPr txBox="1"/>
          <p:nvPr/>
        </p:nvSpPr>
        <p:spPr>
          <a:xfrm>
            <a:off x="727650" y="1228425"/>
            <a:ext cx="76887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latin typeface="Lato"/>
                <a:ea typeface="Lato"/>
                <a:cs typeface="Lato"/>
                <a:sym typeface="Lato"/>
              </a:rPr>
              <a:t>“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Big data is </a:t>
            </a:r>
            <a:r>
              <a:rPr b="1"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high-volume, high-velocity and/or high-variety information</a:t>
            </a:r>
            <a:r>
              <a:rPr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assets that demand cost-effective, </a:t>
            </a:r>
            <a:r>
              <a:rPr b="1"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innovative forms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 of information processing that enable enhanced </a:t>
            </a:r>
            <a:r>
              <a:rPr b="1" i="1" lang="pt-BR" sz="16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insight, decision making, and process automation</a:t>
            </a:r>
            <a:r>
              <a:rPr i="1" lang="pt-BR" sz="1600"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pt-BR" sz="1600">
                <a:latin typeface="Lato"/>
                <a:ea typeface="Lato"/>
                <a:cs typeface="Lato"/>
                <a:sym typeface="Lato"/>
              </a:rPr>
              <a:t>”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00">
                <a:latin typeface="Lato"/>
                <a:ea typeface="Lato"/>
                <a:cs typeface="Lato"/>
                <a:sym typeface="Lato"/>
              </a:rPr>
              <a:t>Gartner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 result for tool" id="514" name="Google Shape;51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643525" y="3104825"/>
            <a:ext cx="961175" cy="9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6"/>
          <p:cNvSpPr txBox="1"/>
          <p:nvPr/>
        </p:nvSpPr>
        <p:spPr>
          <a:xfrm>
            <a:off x="1275150" y="2136900"/>
            <a:ext cx="6593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0">
                <a:solidFill>
                  <a:srgbClr val="3468BC"/>
                </a:solidFill>
                <a:latin typeface="Oswald"/>
                <a:ea typeface="Oswald"/>
                <a:cs typeface="Oswald"/>
                <a:sym typeface="Oswald"/>
              </a:rPr>
              <a:t>BIG</a:t>
            </a:r>
            <a:r>
              <a:rPr b="1" lang="pt-BR" sz="10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rPr>
              <a:t> DATA</a:t>
            </a:r>
            <a:r>
              <a:rPr b="1" lang="pt-BR" sz="10000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b="1" lang="pt-BR" sz="10000">
                <a:solidFill>
                  <a:srgbClr val="00A7C8"/>
                </a:solidFill>
                <a:latin typeface="Oswald"/>
                <a:ea typeface="Oswald"/>
                <a:cs typeface="Oswald"/>
                <a:sym typeface="Oswald"/>
              </a:rPr>
              <a:t>V</a:t>
            </a:r>
            <a:r>
              <a:rPr b="1" lang="pt-BR" sz="5500">
                <a:solidFill>
                  <a:srgbClr val="00A7C8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endParaRPr b="1" sz="5500">
              <a:solidFill>
                <a:srgbClr val="00A7C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4" name="Google Shape;524;p67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25" name="Google Shape;525;p67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7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27" name="Google Shape;527;p67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2" name="Google Shape;532;p68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33" name="Google Shape;533;p68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34" name="Google Shape;534;p68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8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36" name="Google Shape;536;p68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537" name="Google Shape;537;p68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69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43" name="Google Shape;543;p69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44" name="Google Shape;544;p69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45" name="Google Shape;545;p69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9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69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9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49" name="Google Shape;549;p69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50" name="Google Shape;550;p69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551" name="Google Shape;551;p69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6" name="Google Shape;556;p70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57" name="Google Shape;557;p70"/>
          <p:cNvCxnSpPr/>
          <p:nvPr/>
        </p:nvCxnSpPr>
        <p:spPr>
          <a:xfrm flipH="1" rot="10800000">
            <a:off x="3482726" y="3650775"/>
            <a:ext cx="380100" cy="4404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58" name="Google Shape;558;p70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59" name="Google Shape;559;p70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60" name="Google Shape;560;p70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70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0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70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1766983" y="424357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Volatilidade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66" name="Google Shape;566;p70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567" name="Google Shape;567;p70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2" name="Google Shape;572;p71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73" name="Google Shape;573;p71"/>
          <p:cNvCxnSpPr/>
          <p:nvPr/>
        </p:nvCxnSpPr>
        <p:spPr>
          <a:xfrm flipH="1" rot="10800000">
            <a:off x="3482726" y="3650775"/>
            <a:ext cx="380100" cy="4404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74" name="Google Shape;574;p71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75" name="Google Shape;575;p71"/>
          <p:cNvCxnSpPr/>
          <p:nvPr/>
        </p:nvCxnSpPr>
        <p:spPr>
          <a:xfrm>
            <a:off x="295036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76" name="Google Shape;576;p71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77" name="Google Shape;577;p71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1"/>
          <p:cNvSpPr/>
          <p:nvPr/>
        </p:nvSpPr>
        <p:spPr>
          <a:xfrm flipH="1" rot="-1800047">
            <a:off x="3221956" y="1379373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71"/>
          <p:cNvSpPr/>
          <p:nvPr/>
        </p:nvSpPr>
        <p:spPr>
          <a:xfrm rot="-8100000">
            <a:off x="4382715" y="1320332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71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1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71"/>
          <p:cNvSpPr/>
          <p:nvPr/>
        </p:nvSpPr>
        <p:spPr>
          <a:xfrm rot="6359841">
            <a:off x="3315801" y="3140700"/>
            <a:ext cx="363580" cy="363580"/>
          </a:xfrm>
          <a:prstGeom prst="rtTriangl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71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4" name="Google Shape;584;p71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5" name="Google Shape;585;p71"/>
          <p:cNvSpPr txBox="1"/>
          <p:nvPr/>
        </p:nvSpPr>
        <p:spPr>
          <a:xfrm>
            <a:off x="1766983" y="424357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Volatilidade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6" name="Google Shape;586;p71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587" name="Google Shape;587;p71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88" name="Google Shape;588;p71"/>
          <p:cNvSpPr txBox="1"/>
          <p:nvPr/>
        </p:nvSpPr>
        <p:spPr>
          <a:xfrm>
            <a:off x="1005987" y="253039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Visualização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3" name="Google Shape;593;p72"/>
          <p:cNvCxnSpPr/>
          <p:nvPr/>
        </p:nvCxnSpPr>
        <p:spPr>
          <a:xfrm>
            <a:off x="3699750" y="1325089"/>
            <a:ext cx="341700" cy="2616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94" name="Google Shape;594;p72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95" name="Google Shape;595;p72"/>
          <p:cNvCxnSpPr/>
          <p:nvPr/>
        </p:nvCxnSpPr>
        <p:spPr>
          <a:xfrm flipH="1" rot="10800000">
            <a:off x="3482726" y="3650775"/>
            <a:ext cx="380100" cy="4404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96" name="Google Shape;596;p72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97" name="Google Shape;597;p72"/>
          <p:cNvCxnSpPr/>
          <p:nvPr/>
        </p:nvCxnSpPr>
        <p:spPr>
          <a:xfrm>
            <a:off x="295036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598" name="Google Shape;598;p72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99" name="Google Shape;599;p72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72"/>
          <p:cNvSpPr/>
          <p:nvPr/>
        </p:nvSpPr>
        <p:spPr>
          <a:xfrm flipH="1" rot="-1800047">
            <a:off x="3221956" y="1379373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2"/>
          <p:cNvSpPr/>
          <p:nvPr/>
        </p:nvSpPr>
        <p:spPr>
          <a:xfrm rot="-8100000">
            <a:off x="4382715" y="1320332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72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2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2"/>
          <p:cNvSpPr/>
          <p:nvPr/>
        </p:nvSpPr>
        <p:spPr>
          <a:xfrm rot="6359841">
            <a:off x="3315801" y="3140700"/>
            <a:ext cx="363580" cy="363580"/>
          </a:xfrm>
          <a:prstGeom prst="rtTriangl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72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6" name="Google Shape;606;p72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7" name="Google Shape;607;p72"/>
          <p:cNvSpPr txBox="1"/>
          <p:nvPr/>
        </p:nvSpPr>
        <p:spPr>
          <a:xfrm>
            <a:off x="1766983" y="424357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Volatilidade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08" name="Google Shape;608;p72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609" name="Google Shape;609;p72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0" name="Google Shape;610;p72"/>
          <p:cNvSpPr txBox="1"/>
          <p:nvPr/>
        </p:nvSpPr>
        <p:spPr>
          <a:xfrm>
            <a:off x="1013246" y="1074587"/>
            <a:ext cx="26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Veracidade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11" name="Google Shape;611;p72"/>
          <p:cNvSpPr txBox="1"/>
          <p:nvPr/>
        </p:nvSpPr>
        <p:spPr>
          <a:xfrm>
            <a:off x="1005987" y="253039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Visualização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3"/>
          <p:cNvSpPr/>
          <p:nvPr/>
        </p:nvSpPr>
        <p:spPr>
          <a:xfrm>
            <a:off x="3297500" y="1458680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CEF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73"/>
          <p:cNvSpPr/>
          <p:nvPr/>
        </p:nvSpPr>
        <p:spPr>
          <a:xfrm>
            <a:off x="3915600" y="2537338"/>
            <a:ext cx="1312800" cy="448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FFFFF"/>
                </a:solidFill>
                <a:highlight>
                  <a:srgbClr val="1155CC"/>
                </a:highlight>
              </a:rPr>
              <a:t>  </a:t>
            </a:r>
            <a:r>
              <a:rPr b="1" lang="pt-BR" sz="2100" u="sng">
                <a:solidFill>
                  <a:srgbClr val="FFFFFF"/>
                </a:solidFill>
                <a:highlight>
                  <a:srgbClr val="1155CC"/>
                </a:highlight>
              </a:rPr>
              <a:t>V</a:t>
            </a:r>
            <a:r>
              <a:rPr b="1" lang="pt-BR" sz="2100">
                <a:solidFill>
                  <a:srgbClr val="FFFFFF"/>
                </a:solidFill>
                <a:highlight>
                  <a:srgbClr val="1155CC"/>
                </a:highlight>
              </a:rPr>
              <a:t>alor</a:t>
            </a:r>
            <a:r>
              <a:rPr b="1" lang="pt-BR" sz="2600">
                <a:solidFill>
                  <a:srgbClr val="1155CC"/>
                </a:solidFill>
                <a:highlight>
                  <a:srgbClr val="1155CC"/>
                </a:highlight>
              </a:rPr>
              <a:t>.</a:t>
            </a:r>
            <a:endParaRPr/>
          </a:p>
        </p:txBody>
      </p:sp>
      <p:pic>
        <p:nvPicPr>
          <p:cNvPr descr="Related image" id="618" name="Google Shape;61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4575" y="2649837"/>
            <a:ext cx="252300" cy="25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73"/>
          <p:cNvCxnSpPr/>
          <p:nvPr/>
        </p:nvCxnSpPr>
        <p:spPr>
          <a:xfrm>
            <a:off x="3699750" y="1325089"/>
            <a:ext cx="341700" cy="2616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620" name="Google Shape;620;p73"/>
          <p:cNvCxnSpPr/>
          <p:nvPr/>
        </p:nvCxnSpPr>
        <p:spPr>
          <a:xfrm flipH="1">
            <a:off x="4983919" y="1321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621" name="Google Shape;621;p73"/>
          <p:cNvCxnSpPr/>
          <p:nvPr/>
        </p:nvCxnSpPr>
        <p:spPr>
          <a:xfrm flipH="1" rot="10800000">
            <a:off x="3482726" y="3650775"/>
            <a:ext cx="380100" cy="4404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622" name="Google Shape;622;p73"/>
          <p:cNvCxnSpPr/>
          <p:nvPr/>
        </p:nvCxnSpPr>
        <p:spPr>
          <a:xfrm flipH="1">
            <a:off x="574591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623" name="Google Shape;623;p73"/>
          <p:cNvCxnSpPr/>
          <p:nvPr/>
        </p:nvCxnSpPr>
        <p:spPr>
          <a:xfrm>
            <a:off x="2950369" y="2845638"/>
            <a:ext cx="433500" cy="2523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624" name="Google Shape;624;p73"/>
          <p:cNvCxnSpPr/>
          <p:nvPr/>
        </p:nvCxnSpPr>
        <p:spPr>
          <a:xfrm rot="10800000">
            <a:off x="5318463" y="3675656"/>
            <a:ext cx="356100" cy="4155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625" name="Google Shape;625;p73"/>
          <p:cNvSpPr/>
          <p:nvPr/>
        </p:nvSpPr>
        <p:spPr>
          <a:xfrm rot="1800047">
            <a:off x="3219843" y="1379373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73"/>
          <p:cNvSpPr/>
          <p:nvPr/>
        </p:nvSpPr>
        <p:spPr>
          <a:xfrm flipH="1" rot="-1800047">
            <a:off x="3221956" y="1379373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3"/>
          <p:cNvSpPr/>
          <p:nvPr/>
        </p:nvSpPr>
        <p:spPr>
          <a:xfrm rot="-8100000">
            <a:off x="4382715" y="1320332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73"/>
          <p:cNvSpPr/>
          <p:nvPr/>
        </p:nvSpPr>
        <p:spPr>
          <a:xfrm flipH="1" rot="-9000757">
            <a:off x="3220953" y="1377747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73"/>
          <p:cNvSpPr/>
          <p:nvPr/>
        </p:nvSpPr>
        <p:spPr>
          <a:xfrm rot="-1027861">
            <a:off x="5485874" y="3142771"/>
            <a:ext cx="312672" cy="312672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3"/>
          <p:cNvSpPr/>
          <p:nvPr/>
        </p:nvSpPr>
        <p:spPr>
          <a:xfrm rot="6359841">
            <a:off x="3315801" y="3140700"/>
            <a:ext cx="363580" cy="363580"/>
          </a:xfrm>
          <a:prstGeom prst="rtTriangl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3"/>
          <p:cNvSpPr txBox="1"/>
          <p:nvPr/>
        </p:nvSpPr>
        <p:spPr>
          <a:xfrm>
            <a:off x="5375337" y="10745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ariedade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2" name="Google Shape;632;p73"/>
          <p:cNvSpPr txBox="1"/>
          <p:nvPr/>
        </p:nvSpPr>
        <p:spPr>
          <a:xfrm>
            <a:off x="1013246" y="1074587"/>
            <a:ext cx="26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eracidade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3" name="Google Shape;633;p73"/>
          <p:cNvSpPr txBox="1"/>
          <p:nvPr/>
        </p:nvSpPr>
        <p:spPr>
          <a:xfrm>
            <a:off x="5522183" y="424356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elocidade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4" name="Google Shape;634;p73"/>
          <p:cNvSpPr txBox="1"/>
          <p:nvPr/>
        </p:nvSpPr>
        <p:spPr>
          <a:xfrm>
            <a:off x="1766983" y="424357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olatilidade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5" name="Google Shape;635;p73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Vs de Big Data</a:t>
            </a:r>
            <a:endParaRPr/>
          </a:p>
        </p:txBody>
      </p:sp>
      <p:sp>
        <p:nvSpPr>
          <p:cNvPr id="636" name="Google Shape;636;p73"/>
          <p:cNvSpPr txBox="1"/>
          <p:nvPr/>
        </p:nvSpPr>
        <p:spPr>
          <a:xfrm>
            <a:off x="1005987" y="253039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6D9EE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isualização</a:t>
            </a:r>
            <a:endParaRPr b="1" i="0" sz="2300" u="none" cap="none" strike="noStrike">
              <a:solidFill>
                <a:srgbClr val="6D9EE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7" name="Google Shape;637;p73"/>
          <p:cNvSpPr txBox="1"/>
          <p:nvPr/>
        </p:nvSpPr>
        <p:spPr>
          <a:xfrm>
            <a:off x="6151522" y="2530391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 u="sng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</a:t>
            </a:r>
            <a:r>
              <a:rPr b="1" lang="pt-BR" sz="2300">
                <a:solidFill>
                  <a:srgbClr val="307BF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olume</a:t>
            </a:r>
            <a:endParaRPr b="1" i="0" sz="2300" u="none" cap="none" strike="noStrike">
              <a:solidFill>
                <a:srgbClr val="307BF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4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Arquitetura</a:t>
            </a:r>
            <a:endParaRPr/>
          </a:p>
        </p:txBody>
      </p:sp>
      <p:sp>
        <p:nvSpPr>
          <p:cNvPr id="643" name="Google Shape;643;p74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 um ‘ancestral comum’ entre os projetos</a:t>
            </a:r>
            <a:endParaRPr/>
          </a:p>
        </p:txBody>
      </p:sp>
      <p:pic>
        <p:nvPicPr>
          <p:cNvPr descr="Image result for big data essentials" id="644" name="Google Shape;6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459" y="3248375"/>
            <a:ext cx="1152025" cy="1836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5" name="Google Shape;64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5996" y="3248375"/>
            <a:ext cx="1402041" cy="1836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46" name="Google Shape;64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2513" y="3248369"/>
            <a:ext cx="1402050" cy="183628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652" name="Google Shape;652;p7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3" name="Google Shape;653;p75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75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660" name="Google Shape;660;p76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61" name="Google Shape;661;p76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2" name="Google Shape;662;p76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3" name="Google Shape;663;p76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76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</a:t>
            </a: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5" name="Google Shape;665;p76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671" name="Google Shape;671;p7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2" name="Google Shape;672;p77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3" name="Google Shape;673;p77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77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7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</a:t>
            </a: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6" name="Google Shape;676;p77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7" name="Google Shape;677;p77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p77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77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685" name="Google Shape;685;p7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86" name="Google Shape;686;p78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78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8" name="Google Shape;688;p78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89" name="Google Shape;68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250" y="646275"/>
            <a:ext cx="6156321" cy="2398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0" name="Google Shape;690;p78"/>
          <p:cNvPicPr preferRelativeResize="0"/>
          <p:nvPr/>
        </p:nvPicPr>
        <p:blipFill rotWithShape="1">
          <a:blip r:embed="rId4">
            <a:alphaModFix/>
          </a:blip>
          <a:srcRect b="0" l="0" r="-4712" t="0"/>
          <a:stretch/>
        </p:blipFill>
        <p:spPr>
          <a:xfrm>
            <a:off x="2874250" y="3216575"/>
            <a:ext cx="2820247" cy="1880174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1" name="Google Shape;691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0475" y="3216578"/>
            <a:ext cx="3400100" cy="1880175"/>
          </a:xfrm>
          <a:prstGeom prst="rect">
            <a:avLst/>
          </a:prstGeom>
          <a:noFill/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697" name="Google Shape;697;p7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8" name="Google Shape;698;p79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9" name="Google Shape;699;p79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0" name="Google Shape;700;p79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predictive descriptive prescriptive" id="701" name="Google Shape;70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150" y="1896624"/>
            <a:ext cx="4993875" cy="19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79"/>
          <p:cNvSpPr/>
          <p:nvPr/>
        </p:nvSpPr>
        <p:spPr>
          <a:xfrm>
            <a:off x="3292699" y="1896625"/>
            <a:ext cx="953400" cy="200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79"/>
          <p:cNvSpPr/>
          <p:nvPr/>
        </p:nvSpPr>
        <p:spPr>
          <a:xfrm>
            <a:off x="1875075" y="3140071"/>
            <a:ext cx="4340100" cy="6882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79"/>
          <p:cNvSpPr/>
          <p:nvPr/>
        </p:nvSpPr>
        <p:spPr>
          <a:xfrm>
            <a:off x="1875075" y="2798931"/>
            <a:ext cx="4340100" cy="493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79"/>
          <p:cNvSpPr/>
          <p:nvPr/>
        </p:nvSpPr>
        <p:spPr>
          <a:xfrm>
            <a:off x="1875075" y="2443250"/>
            <a:ext cx="4340100" cy="4938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8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11" name="Google Shape;711;p8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12" name="Google Shape;712;p80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3" name="Google Shape;713;p80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4" name="Google Shape;714;p80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5" name="Google Shape;71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" y="683275"/>
            <a:ext cx="2946388" cy="249188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6" name="Google Shape;71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8391" y="2244099"/>
            <a:ext cx="3310458" cy="2491874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22" name="Google Shape;722;p8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3" name="Google Shape;723;p81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p81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5" name="Google Shape;725;p81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26" name="Google Shape;72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830" y="1157238"/>
            <a:ext cx="2269524" cy="321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8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32" name="Google Shape;732;p8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3" name="Google Shape;733;p82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82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82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41" name="Google Shape;741;p8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42" name="Google Shape;742;p83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3" name="Google Shape;743;p83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p83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83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</a:t>
            </a: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83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83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8" name="Google Shape;748;p83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83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83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1" name="Google Shape;751;p83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57" name="Google Shape;757;p84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8" name="Google Shape;758;p84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9" name="Google Shape;759;p84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0" name="Google Shape;760;p84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84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84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3" name="Google Shape;763;p84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4" name="Google Shape;764;p84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84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84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84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8" name="Google Shape;768;p84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8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74" name="Google Shape;774;p8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75" name="Google Shape;775;p85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85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85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85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</a:t>
            </a: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9" name="Google Shape;779;p85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85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85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2" name="Google Shape;782;p85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3" name="Google Shape;783;p85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85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85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6" name="Google Shape;786;p85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792" name="Google Shape;792;p86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3" name="Google Shape;793;p86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4" name="Google Shape;794;p86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86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86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7" name="Google Shape;797;p86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8" name="Google Shape;798;p86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9" name="Google Shape;799;p86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0" name="Google Shape;800;p86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1" name="Google Shape;801;p86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86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3" name="Google Shape;803;p86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6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5" name="Google Shape;805;p86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811" name="Google Shape;811;p8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12" name="Google Shape;812;p87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3" name="Google Shape;813;p87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4" name="Google Shape;814;p87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87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</a:t>
            </a: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6" name="Google Shape;816;p87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7" name="Google Shape;817;p87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8" name="Google Shape;818;p87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9" name="Google Shape;819;p87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0" name="Google Shape;820;p87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1" name="Google Shape;821;p87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87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87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87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87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</a:t>
            </a: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87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832" name="Google Shape;832;p8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3" name="Google Shape;833;p88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88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5" name="Google Shape;835;p88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88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7" name="Google Shape;837;p88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8" name="Google Shape;838;p88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9" name="Google Shape;839;p88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88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1" name="Google Shape;841;p88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88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88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88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5" name="Google Shape;845;p88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88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88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8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8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0" name="Google Shape;850;p88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A meta Arquitetura</a:t>
            </a:r>
            <a:endParaRPr/>
          </a:p>
        </p:txBody>
      </p:sp>
      <p:sp>
        <p:nvSpPr>
          <p:cNvPr id="856" name="Google Shape;856;p8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57" name="Google Shape;857;p89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p89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p89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89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1" name="Google Shape;861;p89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p89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3" name="Google Shape;863;p89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p89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5" name="Google Shape;865;p89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89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7" name="Google Shape;867;p89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8" name="Google Shape;868;p89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9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0" name="Google Shape;870;p89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89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89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89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89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89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89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7" name="Google Shape;877;p89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 - Exemplo</a:t>
            </a:r>
            <a:endParaRPr/>
          </a:p>
        </p:txBody>
      </p:sp>
      <p:sp>
        <p:nvSpPr>
          <p:cNvPr id="883" name="Google Shape;883;p9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4" name="Google Shape;884;p90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5" name="Google Shape;885;p90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6" name="Google Shape;886;p90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90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8" name="Google Shape;888;p90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90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0" name="Google Shape;890;p90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1" name="Google Shape;891;p90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90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3" name="Google Shape;893;p90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4" name="Google Shape;894;p90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5" name="Google Shape;895;p90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90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7" name="Google Shape;897;p90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90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90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90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90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90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90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p90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910" name="Google Shape;910;p91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1" name="Google Shape;911;p91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2" name="Google Shape;912;p91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3" name="Google Shape;913;p91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91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5" name="Google Shape;915;p91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6" name="Google Shape;916;p91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7" name="Google Shape;917;p91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8" name="Google Shape;918;p91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9" name="Google Shape;919;p91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91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1" name="Google Shape;921;p91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2" name="Google Shape;922;p91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91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4" name="Google Shape;924;p91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91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91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91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91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91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91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1" name="Google Shape;931;p91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aws logo" id="932" name="Google Shape;932;p91"/>
          <p:cNvPicPr preferRelativeResize="0"/>
          <p:nvPr/>
        </p:nvPicPr>
        <p:blipFill rotWithShape="1">
          <a:blip r:embed="rId3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933" name="Google Shape;933;p91"/>
          <p:cNvPicPr preferRelativeResize="0"/>
          <p:nvPr/>
        </p:nvPicPr>
        <p:blipFill rotWithShape="1">
          <a:blip r:embed="rId4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934" name="Google Shape;934;p91"/>
          <p:cNvPicPr preferRelativeResize="0"/>
          <p:nvPr/>
        </p:nvPicPr>
        <p:blipFill rotWithShape="1">
          <a:blip r:embed="rId5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935" name="Google Shape;935;p91"/>
          <p:cNvPicPr preferRelativeResize="0"/>
          <p:nvPr/>
        </p:nvPicPr>
        <p:blipFill rotWithShape="1">
          <a:blip r:embed="rId6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936" name="Google Shape;936;p91"/>
          <p:cNvPicPr preferRelativeResize="0"/>
          <p:nvPr/>
        </p:nvPicPr>
        <p:blipFill rotWithShape="1">
          <a:blip r:embed="rId7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2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942" name="Google Shape;942;p92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43" name="Google Shape;943;p92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4" name="Google Shape;944;p92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92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92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p92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p92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9" name="Google Shape;949;p92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0" name="Google Shape;950;p92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1" name="Google Shape;951;p92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2" name="Google Shape;952;p92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3" name="Google Shape;953;p92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4" name="Google Shape;954;p92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92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6" name="Google Shape;956;p92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92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92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92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92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92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92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3" name="Google Shape;963;p92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964" name="Google Shape;964;p92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965" name="Google Shape;965;p92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966" name="Google Shape;966;p92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967" name="Google Shape;967;p92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968" name="Google Shape;968;p92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969" name="Google Shape;969;p92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970" name="Google Shape;970;p92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971" name="Google Shape;971;p92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3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977" name="Google Shape;977;p93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8" name="Google Shape;978;p93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3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93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1" name="Google Shape;981;p93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2" name="Google Shape;982;p93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p93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93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5" name="Google Shape;985;p93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6" name="Google Shape;986;p93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p93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93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93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93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93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93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93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3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93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996" name="Google Shape;996;p93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997" name="Google Shape;997;p93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998" name="Google Shape;998;p93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999" name="Google Shape;999;p93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000" name="Google Shape;1000;p93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001" name="Google Shape;1001;p93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002" name="Google Shape;1002;p93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003" name="Google Shape;1003;p93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93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93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6" name="Google Shape;1006;p93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007" name="Google Shape;1007;p93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94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013" name="Google Shape;1013;p94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4" name="Google Shape;1014;p94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94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6" name="Google Shape;1016;p94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7" name="Google Shape;1017;p94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8" name="Google Shape;1018;p94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9" name="Google Shape;1019;p94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0" name="Google Shape;1020;p94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1" name="Google Shape;1021;p94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2" name="Google Shape;1022;p94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3" name="Google Shape;1023;p94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94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p94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94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94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94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94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94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4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032" name="Google Shape;1032;p94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033" name="Google Shape;1033;p94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034" name="Google Shape;1034;p94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035" name="Google Shape;1035;p94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036" name="Google Shape;1036;p94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037" name="Google Shape;1037;p94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038" name="Google Shape;1038;p94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039" name="Google Shape;1039;p94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94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1" name="Google Shape;1041;p94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p94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043" name="Google Shape;1043;p94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044" name="Google Shape;1044;p9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9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050" name="Google Shape;1050;p95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1" name="Google Shape;1051;p95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5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3" name="Google Shape;1053;p95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4" name="Google Shape;1054;p95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5" name="Google Shape;1055;p95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6" name="Google Shape;1056;p95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7" name="Google Shape;1057;p95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8" name="Google Shape;1058;p95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9" name="Google Shape;1059;p95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95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1" name="Google Shape;1061;p95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95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95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95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95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95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95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068" name="Google Shape;1068;p95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069" name="Google Shape;1069;p95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070" name="Google Shape;1070;p95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071" name="Google Shape;1071;p95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072" name="Google Shape;1072;p95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073" name="Google Shape;1073;p95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074" name="Google Shape;1074;p95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075" name="Google Shape;1075;p95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95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95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8" name="Google Shape;1078;p95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079" name="Google Shape;1079;p95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080" name="Google Shape;1080;p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081" name="Google Shape;1081;p95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5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96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088" name="Google Shape;1088;p96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9" name="Google Shape;1089;p96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96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96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2" name="Google Shape;1092;p96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3" name="Google Shape;1093;p96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96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5" name="Google Shape;1095;p96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6" name="Google Shape;1096;p96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7" name="Google Shape;1097;p96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6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9" name="Google Shape;1099;p96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96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96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96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96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96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106" name="Google Shape;1106;p96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107" name="Google Shape;1107;p96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108" name="Google Shape;1108;p96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109" name="Google Shape;1109;p96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110" name="Google Shape;1110;p96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11" name="Google Shape;1111;p96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112" name="Google Shape;1112;p96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113" name="Google Shape;1113;p96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96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5" name="Google Shape;1115;p96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6" name="Google Shape;1116;p96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117" name="Google Shape;1117;p96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118" name="Google Shape;1118;p9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119" name="Google Shape;1119;p96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6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spark" id="1121" name="Google Shape;1121;p96"/>
          <p:cNvPicPr preferRelativeResize="0"/>
          <p:nvPr/>
        </p:nvPicPr>
        <p:blipFill rotWithShape="1">
          <a:blip r:embed="rId14">
            <a:alphaModFix/>
          </a:blip>
          <a:srcRect b="13711" l="0" r="0" t="0"/>
          <a:stretch/>
        </p:blipFill>
        <p:spPr>
          <a:xfrm>
            <a:off x="4113161" y="1911125"/>
            <a:ext cx="926075" cy="55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7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127" name="Google Shape;1127;p97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8" name="Google Shape;1128;p97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97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0" name="Google Shape;1130;p97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1" name="Google Shape;1131;p97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2" name="Google Shape;1132;p97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3" name="Google Shape;1133;p97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4" name="Google Shape;1134;p97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5" name="Google Shape;1135;p97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6" name="Google Shape;1136;p97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97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97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97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7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97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97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7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97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145" name="Google Shape;1145;p97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146" name="Google Shape;1146;p97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147" name="Google Shape;1147;p97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148" name="Google Shape;1148;p97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149" name="Google Shape;1149;p97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50" name="Google Shape;1150;p97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151" name="Google Shape;1151;p97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152" name="Google Shape;1152;p97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7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4" name="Google Shape;1154;p97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p97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156" name="Google Shape;1156;p97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157" name="Google Shape;1157;p9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158" name="Google Shape;1158;p97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7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spark" id="1160" name="Google Shape;1160;p97"/>
          <p:cNvPicPr preferRelativeResize="0"/>
          <p:nvPr/>
        </p:nvPicPr>
        <p:blipFill rotWithShape="1">
          <a:blip r:embed="rId14">
            <a:alphaModFix/>
          </a:blip>
          <a:srcRect b="13711" l="0" r="0" t="0"/>
          <a:stretch/>
        </p:blipFill>
        <p:spPr>
          <a:xfrm>
            <a:off x="4113161" y="1911125"/>
            <a:ext cx="926075" cy="558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8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166" name="Google Shape;1166;p98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67" name="Google Shape;1167;p98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8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9" name="Google Shape;1169;p98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0" name="Google Shape;1170;p98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p98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2" name="Google Shape;1172;p98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3" name="Google Shape;1173;p98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4" name="Google Shape;1174;p98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5" name="Google Shape;1175;p98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98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7" name="Google Shape;1177;p98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98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8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98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8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8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184" name="Google Shape;1184;p98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185" name="Google Shape;1185;p98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186" name="Google Shape;1186;p98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187" name="Google Shape;1187;p98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188" name="Google Shape;1188;p98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89" name="Google Shape;1189;p98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190" name="Google Shape;1190;p98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191" name="Google Shape;1191;p98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8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3" name="Google Shape;1193;p98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4" name="Google Shape;1194;p98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195" name="Google Shape;1195;p98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196" name="Google Shape;1196;p9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197" name="Google Shape;1197;p98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98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spark" id="1199" name="Google Shape;1199;p98"/>
          <p:cNvPicPr preferRelativeResize="0"/>
          <p:nvPr/>
        </p:nvPicPr>
        <p:blipFill rotWithShape="1">
          <a:blip r:embed="rId14">
            <a:alphaModFix/>
          </a:blip>
          <a:srcRect b="13711" l="0" r="0" t="0"/>
          <a:stretch/>
        </p:blipFill>
        <p:spPr>
          <a:xfrm>
            <a:off x="4113161" y="1911125"/>
            <a:ext cx="926075" cy="558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200" name="Google Shape;1200;p98"/>
          <p:cNvPicPr preferRelativeResize="0"/>
          <p:nvPr/>
        </p:nvPicPr>
        <p:blipFill rotWithShape="1">
          <a:blip r:embed="rId11">
            <a:alphaModFix/>
          </a:blip>
          <a:srcRect b="47875" l="26722" r="35167" t="39542"/>
          <a:stretch/>
        </p:blipFill>
        <p:spPr>
          <a:xfrm>
            <a:off x="5485261" y="2611871"/>
            <a:ext cx="744935" cy="22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201" name="Google Shape;1201;p98"/>
          <p:cNvPicPr preferRelativeResize="0"/>
          <p:nvPr/>
        </p:nvPicPr>
        <p:blipFill rotWithShape="1">
          <a:blip r:embed="rId11">
            <a:alphaModFix/>
          </a:blip>
          <a:srcRect b="48483" l="12323" r="75715" t="38934"/>
          <a:stretch/>
        </p:blipFill>
        <p:spPr>
          <a:xfrm>
            <a:off x="5698596" y="2292130"/>
            <a:ext cx="323274" cy="307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</a:t>
            </a:r>
            <a:endParaRPr/>
          </a:p>
        </p:txBody>
      </p:sp>
      <p:sp>
        <p:nvSpPr>
          <p:cNvPr id="1207" name="Google Shape;1207;p9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08" name="Google Shape;1208;p99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99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0" name="Google Shape;1210;p99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1" name="Google Shape;1211;p99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2" name="Google Shape;1212;p99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3" name="Google Shape;1213;p99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4" name="Google Shape;1214;p99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6" name="Google Shape;1216;p99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8" name="Google Shape;1218;p99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99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99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99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99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99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99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hdfs logo" id="1225" name="Google Shape;1225;p99"/>
          <p:cNvPicPr preferRelativeResize="0"/>
          <p:nvPr/>
        </p:nvPicPr>
        <p:blipFill rotWithShape="1">
          <a:blip r:embed="rId3">
            <a:alphaModFix/>
          </a:blip>
          <a:srcRect b="24843" l="0" r="0" t="26018"/>
          <a:stretch/>
        </p:blipFill>
        <p:spPr>
          <a:xfrm>
            <a:off x="3370950" y="3424794"/>
            <a:ext cx="76030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s3" id="1226" name="Google Shape;1226;p99"/>
          <p:cNvPicPr preferRelativeResize="0"/>
          <p:nvPr/>
        </p:nvPicPr>
        <p:blipFill rotWithShape="1">
          <a:blip r:embed="rId4">
            <a:alphaModFix/>
          </a:blip>
          <a:srcRect b="7393" l="0" r="0" t="7529"/>
          <a:stretch/>
        </p:blipFill>
        <p:spPr>
          <a:xfrm>
            <a:off x="4264239" y="3417463"/>
            <a:ext cx="615550" cy="22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zure  logo" id="1227" name="Google Shape;1227;p99"/>
          <p:cNvPicPr preferRelativeResize="0"/>
          <p:nvPr/>
        </p:nvPicPr>
        <p:blipFill rotWithShape="1">
          <a:blip r:embed="rId5">
            <a:alphaModFix/>
          </a:blip>
          <a:srcRect b="33758" l="0" r="0" t="27506"/>
          <a:stretch/>
        </p:blipFill>
        <p:spPr>
          <a:xfrm>
            <a:off x="5012799" y="3447150"/>
            <a:ext cx="658900" cy="18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ws logo" id="1228" name="Google Shape;1228;p99"/>
          <p:cNvPicPr preferRelativeResize="0"/>
          <p:nvPr/>
        </p:nvPicPr>
        <p:blipFill rotWithShape="1">
          <a:blip r:embed="rId6">
            <a:alphaModFix/>
          </a:blip>
          <a:srcRect b="22185" l="0" r="0" t="28016"/>
          <a:stretch/>
        </p:blipFill>
        <p:spPr>
          <a:xfrm>
            <a:off x="3129525" y="3861200"/>
            <a:ext cx="51748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bm cloud logo" id="1229" name="Google Shape;1229;p99"/>
          <p:cNvPicPr preferRelativeResize="0"/>
          <p:nvPr/>
        </p:nvPicPr>
        <p:blipFill rotWithShape="1">
          <a:blip r:embed="rId7">
            <a:alphaModFix/>
          </a:blip>
          <a:srcRect b="19742" l="0" r="0" t="19001"/>
          <a:stretch/>
        </p:blipFill>
        <p:spPr>
          <a:xfrm>
            <a:off x="4529104" y="3832125"/>
            <a:ext cx="420684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230" name="Google Shape;1230;p99"/>
          <p:cNvPicPr preferRelativeResize="0"/>
          <p:nvPr/>
        </p:nvPicPr>
        <p:blipFill rotWithShape="1">
          <a:blip r:embed="rId8">
            <a:alphaModFix/>
          </a:blip>
          <a:srcRect b="34390" l="0" r="0" t="33834"/>
          <a:stretch/>
        </p:blipFill>
        <p:spPr>
          <a:xfrm>
            <a:off x="3738963" y="3879125"/>
            <a:ext cx="698200" cy="22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digital ocean" id="1231" name="Google Shape;1231;p99"/>
          <p:cNvPicPr preferRelativeResize="0"/>
          <p:nvPr/>
        </p:nvPicPr>
        <p:blipFill rotWithShape="1">
          <a:blip r:embed="rId9">
            <a:alphaModFix/>
          </a:blip>
          <a:srcRect b="10164" l="0" r="0" t="10116"/>
          <a:stretch/>
        </p:blipFill>
        <p:spPr>
          <a:xfrm>
            <a:off x="5691333" y="3861194"/>
            <a:ext cx="323255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soft azure logo" id="1232" name="Google Shape;1232;p99"/>
          <p:cNvPicPr preferRelativeResize="0"/>
          <p:nvPr/>
        </p:nvPicPr>
        <p:blipFill rotWithShape="1">
          <a:blip r:embed="rId10">
            <a:alphaModFix/>
          </a:blip>
          <a:srcRect b="13908" l="0" r="0" t="21219"/>
          <a:stretch/>
        </p:blipFill>
        <p:spPr>
          <a:xfrm>
            <a:off x="5012796" y="3900931"/>
            <a:ext cx="615553" cy="2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99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4" name="Google Shape;1234;p99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5" name="Google Shape;1235;p99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influxdb icon" id="1236" name="Google Shape;1236;p99"/>
          <p:cNvPicPr preferRelativeResize="0"/>
          <p:nvPr/>
        </p:nvPicPr>
        <p:blipFill rotWithShape="1">
          <a:blip r:embed="rId11">
            <a:alphaModFix/>
          </a:blip>
          <a:srcRect b="10541" l="12594" r="38531" t="76370"/>
          <a:stretch/>
        </p:blipFill>
        <p:spPr>
          <a:xfrm>
            <a:off x="1121219" y="2442900"/>
            <a:ext cx="1065176" cy="25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kafka" id="1237" name="Google Shape;1237;p9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48277" y="2202563"/>
            <a:ext cx="738338" cy="738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apreduce logo" id="1238" name="Google Shape;1238;p99"/>
          <p:cNvPicPr preferRelativeResize="0"/>
          <p:nvPr/>
        </p:nvPicPr>
        <p:blipFill rotWithShape="1">
          <a:blip r:embed="rId13">
            <a:alphaModFix/>
          </a:blip>
          <a:srcRect b="6491" l="7711" r="5051" t="3345"/>
          <a:stretch/>
        </p:blipFill>
        <p:spPr>
          <a:xfrm>
            <a:off x="4082509" y="2861050"/>
            <a:ext cx="987376" cy="275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99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 result for spark" id="1240" name="Google Shape;1240;p99"/>
          <p:cNvPicPr preferRelativeResize="0"/>
          <p:nvPr/>
        </p:nvPicPr>
        <p:blipFill rotWithShape="1">
          <a:blip r:embed="rId14">
            <a:alphaModFix/>
          </a:blip>
          <a:srcRect b="13711" l="0" r="0" t="0"/>
          <a:stretch/>
        </p:blipFill>
        <p:spPr>
          <a:xfrm>
            <a:off x="4113161" y="1911125"/>
            <a:ext cx="926075" cy="5581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241" name="Google Shape;1241;p99"/>
          <p:cNvPicPr preferRelativeResize="0"/>
          <p:nvPr/>
        </p:nvPicPr>
        <p:blipFill rotWithShape="1">
          <a:blip r:embed="rId11">
            <a:alphaModFix/>
          </a:blip>
          <a:srcRect b="47875" l="26722" r="35167" t="39542"/>
          <a:stretch/>
        </p:blipFill>
        <p:spPr>
          <a:xfrm>
            <a:off x="5485261" y="2611871"/>
            <a:ext cx="744935" cy="2221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influxdb icon" id="1242" name="Google Shape;1242;p99"/>
          <p:cNvPicPr preferRelativeResize="0"/>
          <p:nvPr/>
        </p:nvPicPr>
        <p:blipFill rotWithShape="1">
          <a:blip r:embed="rId11">
            <a:alphaModFix/>
          </a:blip>
          <a:srcRect b="48483" l="12323" r="75715" t="38934"/>
          <a:stretch/>
        </p:blipFill>
        <p:spPr>
          <a:xfrm>
            <a:off x="5698596" y="2292130"/>
            <a:ext cx="323274" cy="307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afana" id="1243" name="Google Shape;1243;p9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175275" y="2834083"/>
            <a:ext cx="615550" cy="615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tableau logo" id="1244" name="Google Shape;1244;p9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95916" y="3542309"/>
            <a:ext cx="615550" cy="5475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00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Big Data - Cases</a:t>
            </a:r>
            <a:endParaRPr/>
          </a:p>
        </p:txBody>
      </p:sp>
      <p:sp>
        <p:nvSpPr>
          <p:cNvPr id="1250" name="Google Shape;1250;p100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01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Netflix</a:t>
            </a:r>
            <a:endParaRPr/>
          </a:p>
        </p:txBody>
      </p:sp>
      <p:pic>
        <p:nvPicPr>
          <p:cNvPr id="1256" name="Google Shape;1256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787" y="1170225"/>
            <a:ext cx="7234775" cy="3079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02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VMware</a:t>
            </a:r>
            <a:endParaRPr/>
          </a:p>
        </p:txBody>
      </p:sp>
      <p:pic>
        <p:nvPicPr>
          <p:cNvPr id="1262" name="Google Shape;1262;p102"/>
          <p:cNvPicPr preferRelativeResize="0"/>
          <p:nvPr/>
        </p:nvPicPr>
        <p:blipFill rotWithShape="1">
          <a:blip r:embed="rId3">
            <a:alphaModFix/>
          </a:blip>
          <a:srcRect b="0" l="0" r="0" t="10690"/>
          <a:stretch/>
        </p:blipFill>
        <p:spPr>
          <a:xfrm>
            <a:off x="1572838" y="559687"/>
            <a:ext cx="5998325" cy="40241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3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Ticketmaster</a:t>
            </a:r>
            <a:endParaRPr sz="2000"/>
          </a:p>
        </p:txBody>
      </p:sp>
      <p:pic>
        <p:nvPicPr>
          <p:cNvPr id="1268" name="Google Shape;126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613" y="831200"/>
            <a:ext cx="6432775" cy="3938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4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Paypal</a:t>
            </a:r>
            <a:endParaRPr/>
          </a:p>
        </p:txBody>
      </p:sp>
      <p:pic>
        <p:nvPicPr>
          <p:cNvPr id="1274" name="Google Shape;127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725" y="889788"/>
            <a:ext cx="6534550" cy="336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5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280" name="Google Shape;1280;p105"/>
          <p:cNvSpPr txBox="1"/>
          <p:nvPr>
            <p:ph idx="1" type="body"/>
          </p:nvPr>
        </p:nvSpPr>
        <p:spPr>
          <a:xfrm>
            <a:off x="199750" y="706410"/>
            <a:ext cx="8944200" cy="3862500"/>
          </a:xfrm>
          <a:prstGeom prst="rect">
            <a:avLst/>
          </a:prstGeom>
        </p:spPr>
        <p:txBody>
          <a:bodyPr anchorCtr="0" anchor="t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[1] - </a:t>
            </a:r>
            <a:r>
              <a:rPr b="1" lang="pt-BR" sz="1500"/>
              <a:t> </a:t>
            </a:r>
            <a:r>
              <a:rPr b="1" lang="pt-BR" sz="1500"/>
              <a:t>“</a:t>
            </a:r>
            <a:r>
              <a:rPr b="1" i="1" lang="pt-BR" sz="1500"/>
              <a:t>Data mining with big data</a:t>
            </a:r>
            <a:r>
              <a:rPr b="1" lang="pt-BR" sz="1500"/>
              <a:t>”</a:t>
            </a:r>
            <a:r>
              <a:rPr b="1" lang="pt-BR" sz="1500"/>
              <a:t> </a:t>
            </a:r>
            <a:br>
              <a:rPr lang="pt-BR" sz="1500"/>
            </a:br>
            <a:r>
              <a:rPr lang="pt-BR" sz="1500"/>
              <a:t>X. Wu, X. Zhu, G. Wu and W. Ding. IEEE Transactions on Knowledge and Data Engineering, vol. 26, no. 1, pp. 97-107, Jan. 2014. doi: 10.1109/TKDE.2013.109</a:t>
            </a:r>
            <a:br>
              <a:rPr lang="pt-BR" sz="1500"/>
            </a:br>
            <a:r>
              <a:rPr lang="pt-BR" sz="1500"/>
              <a:t>https://ieeexplore.ieee.org/abstract/document/6547630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500"/>
              <a:t>[2] - </a:t>
            </a:r>
            <a:r>
              <a:rPr b="1" i="1" lang="pt-BR" sz="1500"/>
              <a:t>“</a:t>
            </a:r>
            <a:r>
              <a:rPr b="1" i="1" lang="pt-BR" sz="1500"/>
              <a:t>Mining big data: current status, and forecast to the future”</a:t>
            </a:r>
            <a:br>
              <a:rPr i="1" lang="pt-BR" sz="1500"/>
            </a:br>
            <a:r>
              <a:rPr lang="pt-BR" sz="1500"/>
              <a:t>Fan, Wei and Bifet, Albert. ACM SIGKDD Explorations Newsletter archive, vol. 14, 2012</a:t>
            </a:r>
            <a:r>
              <a:rPr lang="pt-BR" sz="1500"/>
              <a:t>.</a:t>
            </a:r>
            <a:br>
              <a:rPr lang="pt-BR" sz="1500"/>
            </a:br>
            <a:r>
              <a:rPr lang="pt-BR" sz="1500"/>
              <a:t>https://dl.acm.org/citation.cfm?id=2481246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500"/>
              <a:t>[3] - </a:t>
            </a:r>
            <a:r>
              <a:rPr b="1" lang="pt-BR" sz="1500"/>
              <a:t>“</a:t>
            </a:r>
            <a:r>
              <a:rPr b="1" i="1" lang="pt-BR" sz="1500"/>
              <a:t>Big Data Essentials”</a:t>
            </a:r>
            <a:endParaRPr b="1" i="1"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descr="Image result for big data essentials" id="1281" name="Google Shape;128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921" y="3307225"/>
            <a:ext cx="1152025" cy="1836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06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Backup</a:t>
            </a:r>
            <a:endParaRPr/>
          </a:p>
        </p:txBody>
      </p:sp>
      <p:sp>
        <p:nvSpPr>
          <p:cNvPr id="1287" name="Google Shape;1287;p106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2" name="Google Shape;129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087" y="114421"/>
            <a:ext cx="6537825" cy="4914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8"/>
          <p:cNvSpPr txBox="1"/>
          <p:nvPr>
            <p:ph type="ctrTitle"/>
          </p:nvPr>
        </p:nvSpPr>
        <p:spPr>
          <a:xfrm>
            <a:off x="300800" y="1565345"/>
            <a:ext cx="8843400" cy="741900"/>
          </a:xfrm>
          <a:prstGeom prst="rect">
            <a:avLst/>
          </a:prstGeom>
        </p:spPr>
        <p:txBody>
          <a:bodyPr anchorCtr="0" anchor="b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Arcabouço Big Data</a:t>
            </a:r>
            <a:endParaRPr/>
          </a:p>
        </p:txBody>
      </p:sp>
      <p:sp>
        <p:nvSpPr>
          <p:cNvPr id="1298" name="Google Shape;1298;p108"/>
          <p:cNvSpPr txBox="1"/>
          <p:nvPr>
            <p:ph idx="1" type="subTitle"/>
          </p:nvPr>
        </p:nvSpPr>
        <p:spPr>
          <a:xfrm>
            <a:off x="300800" y="2351002"/>
            <a:ext cx="8332800" cy="301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Muitas, muitas ferramentas/frameworks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9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Big Data-Exemplo</a:t>
            </a:r>
            <a:endParaRPr/>
          </a:p>
        </p:txBody>
      </p:sp>
      <p:sp>
        <p:nvSpPr>
          <p:cNvPr id="1304" name="Google Shape;1304;p109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5" name="Google Shape;1305;p109"/>
          <p:cNvSpPr/>
          <p:nvPr/>
        </p:nvSpPr>
        <p:spPr>
          <a:xfrm rot="10800000">
            <a:off x="103917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6" name="Google Shape;1306;p109"/>
          <p:cNvSpPr/>
          <p:nvPr/>
        </p:nvSpPr>
        <p:spPr>
          <a:xfrm>
            <a:off x="103907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Produção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[Fontes de Dados]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109"/>
          <p:cNvSpPr/>
          <p:nvPr/>
        </p:nvSpPr>
        <p:spPr>
          <a:xfrm rot="10800000">
            <a:off x="2697350" y="1213975"/>
            <a:ext cx="3749400" cy="3100200"/>
          </a:xfrm>
          <a:prstGeom prst="round2SameRect">
            <a:avLst>
              <a:gd fmla="val 5836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9"/>
          <p:cNvSpPr/>
          <p:nvPr/>
        </p:nvSpPr>
        <p:spPr>
          <a:xfrm>
            <a:off x="2697275" y="1134125"/>
            <a:ext cx="37494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Ecossistema Big Data</a:t>
            </a:r>
            <a:endParaRPr b="1" sz="2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9" name="Google Shape;1309;p109"/>
          <p:cNvSpPr/>
          <p:nvPr/>
        </p:nvSpPr>
        <p:spPr>
          <a:xfrm rot="10800000">
            <a:off x="6861125" y="1213975"/>
            <a:ext cx="1243800" cy="31002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0" name="Google Shape;1310;p109"/>
          <p:cNvSpPr/>
          <p:nvPr/>
        </p:nvSpPr>
        <p:spPr>
          <a:xfrm>
            <a:off x="6861125" y="1134125"/>
            <a:ext cx="1243800" cy="639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Consumo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[Aplicações]</a:t>
            </a:r>
            <a:endParaRPr b="1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1" name="Google Shape;1311;p109"/>
          <p:cNvSpPr/>
          <p:nvPr/>
        </p:nvSpPr>
        <p:spPr>
          <a:xfrm>
            <a:off x="3991588" y="1875300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Streaming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109"/>
          <p:cNvSpPr/>
          <p:nvPr/>
        </p:nvSpPr>
        <p:spPr>
          <a:xfrm>
            <a:off x="5364175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Organização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p109"/>
          <p:cNvSpPr/>
          <p:nvPr/>
        </p:nvSpPr>
        <p:spPr>
          <a:xfrm>
            <a:off x="3991588" y="2693875"/>
            <a:ext cx="1164900" cy="6099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 Batch</a:t>
            </a:r>
            <a:endParaRPr b="1" sz="10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109"/>
          <p:cNvSpPr/>
          <p:nvPr/>
        </p:nvSpPr>
        <p:spPr>
          <a:xfrm>
            <a:off x="2844925" y="3405475"/>
            <a:ext cx="3477600" cy="2577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Sistema de Arquivos Distribuídos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5" name="Google Shape;1315;p109"/>
          <p:cNvSpPr/>
          <p:nvPr/>
        </p:nvSpPr>
        <p:spPr>
          <a:xfrm>
            <a:off x="2844925" y="3753350"/>
            <a:ext cx="3477600" cy="4482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Processamento, Armazenamento, Rede, Infraestrutura </a:t>
            </a:r>
            <a:endParaRPr b="1" sz="9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6" name="Google Shape;1316;p109"/>
          <p:cNvSpPr/>
          <p:nvPr/>
        </p:nvSpPr>
        <p:spPr>
          <a:xfrm>
            <a:off x="2337000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09"/>
          <p:cNvSpPr/>
          <p:nvPr/>
        </p:nvSpPr>
        <p:spPr>
          <a:xfrm>
            <a:off x="2834300" y="1875300"/>
            <a:ext cx="958200" cy="1428600"/>
          </a:xfrm>
          <a:prstGeom prst="roundRect">
            <a:avLst>
              <a:gd fmla="val 16667" name="adj"/>
            </a:avLst>
          </a:prstGeom>
          <a:solidFill>
            <a:srgbClr val="307BF3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Ingestão</a:t>
            </a:r>
            <a:endParaRPr b="1"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8" name="Google Shape;1318;p109"/>
          <p:cNvSpPr/>
          <p:nvPr/>
        </p:nvSpPr>
        <p:spPr>
          <a:xfrm>
            <a:off x="3815850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09"/>
          <p:cNvSpPr/>
          <p:nvPr/>
        </p:nvSpPr>
        <p:spPr>
          <a:xfrm>
            <a:off x="3815850" y="29325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09"/>
          <p:cNvSpPr/>
          <p:nvPr/>
        </p:nvSpPr>
        <p:spPr>
          <a:xfrm>
            <a:off x="5184125" y="2113950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09"/>
          <p:cNvSpPr/>
          <p:nvPr/>
        </p:nvSpPr>
        <p:spPr>
          <a:xfrm>
            <a:off x="5184138" y="2810828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9"/>
          <p:cNvSpPr/>
          <p:nvPr/>
        </p:nvSpPr>
        <p:spPr>
          <a:xfrm rot="10800000">
            <a:off x="5184125" y="3046825"/>
            <a:ext cx="152400" cy="1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09"/>
          <p:cNvSpPr/>
          <p:nvPr/>
        </p:nvSpPr>
        <p:spPr>
          <a:xfrm>
            <a:off x="6500788" y="2582200"/>
            <a:ext cx="306300" cy="25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CEF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09"/>
          <p:cNvSpPr txBox="1"/>
          <p:nvPr/>
        </p:nvSpPr>
        <p:spPr>
          <a:xfrm>
            <a:off x="1039100" y="18026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Humano-Humano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[Redes Sociais]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Humano-Máquina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[Smart Devices]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Comunicação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Máquina-Máquina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[Supervisório]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Transações Business</a:t>
            </a:r>
            <a:endParaRPr b="1" sz="6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5" name="Google Shape;1325;p109"/>
          <p:cNvSpPr txBox="1"/>
          <p:nvPr/>
        </p:nvSpPr>
        <p:spPr>
          <a:xfrm>
            <a:off x="6861150" y="1799425"/>
            <a:ext cx="1243800" cy="23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Diagnóstico</a:t>
            </a:r>
            <a:endParaRPr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Predição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Prescrição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Visualização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Sumarização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Relatórios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QoS</a:t>
            </a:r>
            <a:endParaRPr b="1" sz="100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10"/>
          <p:cNvSpPr txBox="1"/>
          <p:nvPr>
            <p:ph type="title"/>
          </p:nvPr>
        </p:nvSpPr>
        <p:spPr>
          <a:xfrm>
            <a:off x="199725" y="0"/>
            <a:ext cx="8632500" cy="4359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começo - HDFS: GFS para todos</a:t>
            </a:r>
            <a:endParaRPr/>
          </a:p>
        </p:txBody>
      </p:sp>
      <p:sp>
        <p:nvSpPr>
          <p:cNvPr id="1331" name="Google Shape;1331;p110"/>
          <p:cNvSpPr txBox="1"/>
          <p:nvPr>
            <p:ph idx="12" type="sldNum"/>
          </p:nvPr>
        </p:nvSpPr>
        <p:spPr>
          <a:xfrm>
            <a:off x="-41559" y="4885920"/>
            <a:ext cx="2979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2" name="Google Shape;1332;p110"/>
          <p:cNvSpPr/>
          <p:nvPr/>
        </p:nvSpPr>
        <p:spPr>
          <a:xfrm>
            <a:off x="2754900" y="2666425"/>
            <a:ext cx="3634200" cy="661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HDFS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/>
              <a:t>Hadoop Distributed File System</a:t>
            </a:r>
            <a:endParaRPr b="1" sz="1000"/>
          </a:p>
        </p:txBody>
      </p:sp>
      <p:pic>
        <p:nvPicPr>
          <p:cNvPr descr="Related image" id="1333" name="Google Shape;133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9126" y="3480325"/>
            <a:ext cx="2286776" cy="1526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luster computing" id="1334" name="Google Shape;1334;p110"/>
          <p:cNvPicPr preferRelativeResize="0"/>
          <p:nvPr/>
        </p:nvPicPr>
        <p:blipFill rotWithShape="1">
          <a:blip r:embed="rId4">
            <a:alphaModFix/>
          </a:blip>
          <a:srcRect b="0" l="24092" r="0" t="0"/>
          <a:stretch/>
        </p:blipFill>
        <p:spPr>
          <a:xfrm>
            <a:off x="4753767" y="3480325"/>
            <a:ext cx="2190157" cy="15264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lated image" id="1335" name="Google Shape;1335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7400" y="849050"/>
            <a:ext cx="1161600" cy="116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omputer user icon" id="1336" name="Google Shape;1336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8000" y="1620925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337" name="Google Shape;1337;p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81050" y="1189275"/>
            <a:ext cx="1680425" cy="16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1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3900" y="588300"/>
            <a:ext cx="1747700" cy="17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3" name="Google Shape;1343;p111"/>
          <p:cNvCxnSpPr>
            <a:stCxn id="1344" idx="1"/>
          </p:cNvCxnSpPr>
          <p:nvPr/>
        </p:nvCxnSpPr>
        <p:spPr>
          <a:xfrm rot="10800000">
            <a:off x="5779047" y="2855028"/>
            <a:ext cx="387000" cy="91800"/>
          </a:xfrm>
          <a:prstGeom prst="straightConnector1">
            <a:avLst/>
          </a:prstGeom>
          <a:noFill/>
          <a:ln cap="flat" cmpd="sng" w="19050">
            <a:solidFill>
              <a:srgbClr val="307BF3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345" name="Google Shape;1345;p111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</a:t>
            </a:r>
            <a:endParaRPr/>
          </a:p>
        </p:txBody>
      </p:sp>
      <p:sp>
        <p:nvSpPr>
          <p:cNvPr id="1346" name="Google Shape;1346;p111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7" name="Google Shape;1347;p111"/>
          <p:cNvCxnSpPr/>
          <p:nvPr/>
        </p:nvCxnSpPr>
        <p:spPr>
          <a:xfrm flipH="1">
            <a:off x="5214050" y="1153772"/>
            <a:ext cx="273000" cy="3783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348" name="Google Shape;1348;p111"/>
          <p:cNvCxnSpPr/>
          <p:nvPr/>
        </p:nvCxnSpPr>
        <p:spPr>
          <a:xfrm>
            <a:off x="3634961" y="1153772"/>
            <a:ext cx="273000" cy="378300"/>
          </a:xfrm>
          <a:prstGeom prst="straightConnector1">
            <a:avLst/>
          </a:prstGeom>
          <a:noFill/>
          <a:ln cap="flat" cmpd="sng" w="19050">
            <a:solidFill>
              <a:srgbClr val="A1C3FA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349" name="Google Shape;1349;p111"/>
          <p:cNvCxnSpPr/>
          <p:nvPr/>
        </p:nvCxnSpPr>
        <p:spPr>
          <a:xfrm flipH="1" rot="10800000">
            <a:off x="3095718" y="3228875"/>
            <a:ext cx="450300" cy="1452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1350" name="Google Shape;1350;p111"/>
          <p:cNvCxnSpPr/>
          <p:nvPr/>
        </p:nvCxnSpPr>
        <p:spPr>
          <a:xfrm flipH="1" rot="10800000">
            <a:off x="4586525" y="3630700"/>
            <a:ext cx="7200" cy="476100"/>
          </a:xfrm>
          <a:prstGeom prst="straightConnector1">
            <a:avLst/>
          </a:prstGeom>
          <a:noFill/>
          <a:ln cap="flat" cmpd="sng" w="19050">
            <a:solidFill>
              <a:srgbClr val="0944A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351" name="Google Shape;1351;p111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fmla="val 14414370" name="adj1"/>
              <a:gd fmla="val 18998613" name="adj2"/>
              <a:gd fmla="val 8907" name="adj3"/>
            </a:avLst>
          </a:prstGeom>
          <a:solidFill>
            <a:srgbClr val="6D9EEB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11"/>
          <p:cNvSpPr/>
          <p:nvPr/>
        </p:nvSpPr>
        <p:spPr>
          <a:xfrm flipH="1" rot="-9000757">
            <a:off x="3225716" y="1084808"/>
            <a:ext cx="2690226" cy="2690226"/>
          </a:xfrm>
          <a:prstGeom prst="blockArc">
            <a:avLst>
              <a:gd fmla="val 20178804" name="adj1"/>
              <a:gd fmla="val 2623923" name="adj2"/>
              <a:gd fmla="val 8858" name="adj3"/>
            </a:avLst>
          </a:prstGeom>
          <a:solidFill>
            <a:srgbClr val="3C78D8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11"/>
          <p:cNvSpPr/>
          <p:nvPr/>
        </p:nvSpPr>
        <p:spPr>
          <a:xfrm rot="-3781968">
            <a:off x="5556765" y="1857984"/>
            <a:ext cx="363191" cy="363191"/>
          </a:xfrm>
          <a:prstGeom prst="rtTriangle">
            <a:avLst/>
          </a:prstGeom>
          <a:solidFill>
            <a:srgbClr val="6D9E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11"/>
          <p:cNvSpPr/>
          <p:nvPr/>
        </p:nvSpPr>
        <p:spPr>
          <a:xfrm flipH="1" rot="-1800109">
            <a:off x="3215030" y="1082474"/>
            <a:ext cx="2696852" cy="2696852"/>
          </a:xfrm>
          <a:prstGeom prst="blockArc">
            <a:avLst>
              <a:gd fmla="val 14334136" name="adj1"/>
              <a:gd fmla="val 18854681" name="adj2"/>
              <a:gd fmla="val 8846" name="adj3"/>
            </a:avLst>
          </a:prstGeom>
          <a:solidFill>
            <a:srgbClr val="C9DAF8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11"/>
          <p:cNvSpPr/>
          <p:nvPr/>
        </p:nvSpPr>
        <p:spPr>
          <a:xfrm rot="9000757">
            <a:off x="3207432" y="1087633"/>
            <a:ext cx="2690226" cy="2690226"/>
          </a:xfrm>
          <a:prstGeom prst="blockArc">
            <a:avLst>
              <a:gd fmla="val 20184517" name="adj1"/>
              <a:gd fmla="val 3007258" name="adj2"/>
              <a:gd fmla="val 9336" name="adj3"/>
            </a:avLst>
          </a:prstGeom>
          <a:solidFill>
            <a:srgbClr val="1C4587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11"/>
          <p:cNvSpPr/>
          <p:nvPr/>
        </p:nvSpPr>
        <p:spPr>
          <a:xfrm flipH="1" rot="-9000757">
            <a:off x="3207528" y="1089158"/>
            <a:ext cx="2690226" cy="2690226"/>
          </a:xfrm>
          <a:prstGeom prst="blockArc">
            <a:avLst>
              <a:gd fmla="val 15738599" name="adj1"/>
              <a:gd fmla="val 20008131" name="adj2"/>
              <a:gd fmla="val 9063" name="adj3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11"/>
          <p:cNvSpPr/>
          <p:nvPr/>
        </p:nvSpPr>
        <p:spPr>
          <a:xfrm rot="9240359">
            <a:off x="3213511" y="1857690"/>
            <a:ext cx="363469" cy="363469"/>
          </a:xfrm>
          <a:prstGeom prst="rtTriangle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11"/>
          <p:cNvSpPr/>
          <p:nvPr/>
        </p:nvSpPr>
        <p:spPr>
          <a:xfrm rot="476150">
            <a:off x="5119958" y="3239200"/>
            <a:ext cx="362875" cy="362875"/>
          </a:xfrm>
          <a:prstGeom prst="rtTriangl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11"/>
          <p:cNvSpPr/>
          <p:nvPr/>
        </p:nvSpPr>
        <p:spPr>
          <a:xfrm rot="4857950">
            <a:off x="3653723" y="3239151"/>
            <a:ext cx="363003" cy="363003"/>
          </a:xfrm>
          <a:prstGeom prst="rtTriangle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11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C9DA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11"/>
          <p:cNvSpPr/>
          <p:nvPr/>
        </p:nvSpPr>
        <p:spPr>
          <a:xfrm>
            <a:off x="3915600" y="2244400"/>
            <a:ext cx="1312800" cy="448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  <a:effectLst>
            <a:outerShdw blurRad="57150" rotWithShape="0" algn="bl" dir="5400000" dist="19050">
              <a:srgbClr val="0000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FFFFF"/>
                </a:solidFill>
                <a:highlight>
                  <a:srgbClr val="1155CC"/>
                </a:highlight>
              </a:rPr>
              <a:t> </a:t>
            </a:r>
            <a:r>
              <a:rPr b="1" lang="pt-BR" sz="2100">
                <a:solidFill>
                  <a:srgbClr val="FFFFFF"/>
                </a:solidFill>
                <a:highlight>
                  <a:srgbClr val="1155CC"/>
                </a:highlight>
              </a:rPr>
              <a:t>Valor</a:t>
            </a:r>
            <a:r>
              <a:rPr b="1" lang="pt-BR" sz="2600">
                <a:solidFill>
                  <a:srgbClr val="1155CC"/>
                </a:solidFill>
                <a:highlight>
                  <a:srgbClr val="1155CC"/>
                </a:highlight>
              </a:rPr>
              <a:t>.</a:t>
            </a:r>
            <a:endParaRPr/>
          </a:p>
        </p:txBody>
      </p:sp>
      <p:pic>
        <p:nvPicPr>
          <p:cNvPr descr="Image result for big data essentials" id="1362" name="Google Shape;136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074" y="3780775"/>
            <a:ext cx="854934" cy="1362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3" name="Google Shape;1363;p111"/>
          <p:cNvSpPr txBox="1"/>
          <p:nvPr/>
        </p:nvSpPr>
        <p:spPr>
          <a:xfrm>
            <a:off x="5375337" y="81597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C78D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3C78D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4" name="Google Shape;1364;p111"/>
          <p:cNvSpPr txBox="1"/>
          <p:nvPr/>
        </p:nvSpPr>
        <p:spPr>
          <a:xfrm>
            <a:off x="1174655" y="3211369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Veracidade</a:t>
            </a:r>
            <a:endParaRPr b="1" i="0" sz="2300" u="none" cap="none" strike="noStrike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44" name="Google Shape;1344;p111"/>
          <p:cNvSpPr txBox="1"/>
          <p:nvPr/>
        </p:nvSpPr>
        <p:spPr>
          <a:xfrm>
            <a:off x="6166047" y="2816028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0CE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Velocidade</a:t>
            </a:r>
            <a:endParaRPr b="1" i="0" sz="2300" u="none" cap="none" strike="noStrike">
              <a:solidFill>
                <a:srgbClr val="00CEF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5" name="Google Shape;1365;p111"/>
          <p:cNvSpPr txBox="1"/>
          <p:nvPr/>
        </p:nvSpPr>
        <p:spPr>
          <a:xfrm>
            <a:off x="1033565" y="870374"/>
            <a:ext cx="26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C78D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C78D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6" name="Google Shape;1366;p111"/>
          <p:cNvSpPr txBox="1"/>
          <p:nvPr/>
        </p:nvSpPr>
        <p:spPr>
          <a:xfrm>
            <a:off x="3603363" y="4150405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0CE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Volatilidade</a:t>
            </a:r>
            <a:endParaRPr b="1" sz="2300">
              <a:solidFill>
                <a:srgbClr val="00CEF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7" name="Google Shape;1367;p111"/>
          <p:cNvSpPr txBox="1"/>
          <p:nvPr/>
        </p:nvSpPr>
        <p:spPr>
          <a:xfrm>
            <a:off x="962732" y="2040869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1155C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Visualização</a:t>
            </a:r>
            <a:endParaRPr b="1" sz="2300">
              <a:solidFill>
                <a:srgbClr val="1155C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368" name="Google Shape;1368;p111"/>
          <p:cNvCxnSpPr/>
          <p:nvPr/>
        </p:nvCxnSpPr>
        <p:spPr>
          <a:xfrm>
            <a:off x="2871125" y="2202400"/>
            <a:ext cx="446400" cy="112200"/>
          </a:xfrm>
          <a:prstGeom prst="straightConnector1">
            <a:avLst/>
          </a:prstGeom>
          <a:noFill/>
          <a:ln cap="flat" cmpd="sng" w="19050">
            <a:solidFill>
              <a:srgbClr val="1C4587"/>
            </a:solidFill>
            <a:prstDash val="solid"/>
            <a:round/>
            <a:headEnd len="med" w="med" type="oval"/>
            <a:tailEnd len="sm" w="sm" type="none"/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1373;p112"/>
          <p:cNvGrpSpPr/>
          <p:nvPr/>
        </p:nvGrpSpPr>
        <p:grpSpPr>
          <a:xfrm>
            <a:off x="5817860" y="1976574"/>
            <a:ext cx="1907094" cy="669600"/>
            <a:chOff x="5436860" y="3271974"/>
            <a:chExt cx="1907094" cy="669600"/>
          </a:xfrm>
        </p:grpSpPr>
        <p:cxnSp>
          <p:nvCxnSpPr>
            <p:cNvPr id="1374" name="Google Shape;1374;p112"/>
            <p:cNvCxnSpPr>
              <a:endCxn id="1375" idx="2"/>
            </p:cNvCxnSpPr>
            <p:nvPr/>
          </p:nvCxnSpPr>
          <p:spPr>
            <a:xfrm rot="10800000">
              <a:off x="5436860" y="3579180"/>
              <a:ext cx="402300" cy="31500"/>
            </a:xfrm>
            <a:prstGeom prst="straightConnector1">
              <a:avLst/>
            </a:prstGeom>
            <a:noFill/>
            <a:ln cap="flat" cmpd="sng" w="19050">
              <a:solidFill>
                <a:srgbClr val="307B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76" name="Google Shape;1376;p112"/>
            <p:cNvSpPr txBox="1"/>
            <p:nvPr/>
          </p:nvSpPr>
          <p:spPr>
            <a:xfrm>
              <a:off x="5848754" y="327197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2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77" name="Google Shape;1377;p112"/>
          <p:cNvSpPr txBox="1"/>
          <p:nvPr>
            <p:ph type="title"/>
          </p:nvPr>
        </p:nvSpPr>
        <p:spPr>
          <a:xfrm>
            <a:off x="199725" y="-12172"/>
            <a:ext cx="8632500" cy="448200"/>
          </a:xfrm>
          <a:prstGeom prst="rect">
            <a:avLst/>
          </a:prstGeom>
        </p:spPr>
        <p:txBody>
          <a:bodyPr anchorCtr="0" anchor="ctr" bIns="92100" lIns="92100" spcFirstLastPara="1" rIns="92100" wrap="square" tIns="9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</a:t>
            </a:r>
            <a:endParaRPr/>
          </a:p>
        </p:txBody>
      </p:sp>
      <p:sp>
        <p:nvSpPr>
          <p:cNvPr id="1378" name="Google Shape;1378;p112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9" name="Google Shape;1379;p112"/>
          <p:cNvGrpSpPr/>
          <p:nvPr/>
        </p:nvGrpSpPr>
        <p:grpSpPr>
          <a:xfrm>
            <a:off x="5214050" y="681168"/>
            <a:ext cx="1787295" cy="850904"/>
            <a:chOff x="5214050" y="681168"/>
            <a:chExt cx="1787295" cy="850904"/>
          </a:xfrm>
        </p:grpSpPr>
        <p:cxnSp>
          <p:nvCxnSpPr>
            <p:cNvPr id="1380" name="Google Shape;1380;p112"/>
            <p:cNvCxnSpPr/>
            <p:nvPr/>
          </p:nvCxnSpPr>
          <p:spPr>
            <a:xfrm flipH="1">
              <a:off x="5214050" y="1153772"/>
              <a:ext cx="273000" cy="378300"/>
            </a:xfrm>
            <a:prstGeom prst="straightConnector1">
              <a:avLst/>
            </a:prstGeom>
            <a:noFill/>
            <a:ln cap="flat" cmpd="sng" w="19050">
              <a:solidFill>
                <a:srgbClr val="0944A1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81" name="Google Shape;1381;p112"/>
            <p:cNvSpPr txBox="1"/>
            <p:nvPr/>
          </p:nvSpPr>
          <p:spPr>
            <a:xfrm>
              <a:off x="5506145" y="681168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1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2" name="Google Shape;1382;p112"/>
          <p:cNvGrpSpPr/>
          <p:nvPr/>
        </p:nvGrpSpPr>
        <p:grpSpPr>
          <a:xfrm>
            <a:off x="2102252" y="648168"/>
            <a:ext cx="1805709" cy="883904"/>
            <a:chOff x="2102252" y="648168"/>
            <a:chExt cx="1805709" cy="883904"/>
          </a:xfrm>
        </p:grpSpPr>
        <p:cxnSp>
          <p:nvCxnSpPr>
            <p:cNvPr id="1383" name="Google Shape;1383;p112"/>
            <p:cNvCxnSpPr/>
            <p:nvPr/>
          </p:nvCxnSpPr>
          <p:spPr>
            <a:xfrm>
              <a:off x="3634961" y="1153772"/>
              <a:ext cx="273000" cy="378300"/>
            </a:xfrm>
            <a:prstGeom prst="straightConnector1">
              <a:avLst/>
            </a:prstGeom>
            <a:noFill/>
            <a:ln cap="flat" cmpd="sng" w="19050">
              <a:solidFill>
                <a:srgbClr val="A1C3FA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84" name="Google Shape;1384;p112"/>
            <p:cNvSpPr txBox="1"/>
            <p:nvPr/>
          </p:nvSpPr>
          <p:spPr>
            <a:xfrm>
              <a:off x="2102252" y="648168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6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5" name="Google Shape;1385;p112"/>
          <p:cNvGrpSpPr/>
          <p:nvPr/>
        </p:nvGrpSpPr>
        <p:grpSpPr>
          <a:xfrm>
            <a:off x="5396875" y="3271974"/>
            <a:ext cx="1947079" cy="669600"/>
            <a:chOff x="5396875" y="3271974"/>
            <a:chExt cx="1947079" cy="669600"/>
          </a:xfrm>
        </p:grpSpPr>
        <p:cxnSp>
          <p:nvCxnSpPr>
            <p:cNvPr id="1386" name="Google Shape;1386;p112"/>
            <p:cNvCxnSpPr/>
            <p:nvPr/>
          </p:nvCxnSpPr>
          <p:spPr>
            <a:xfrm rot="10800000">
              <a:off x="5396875" y="3457475"/>
              <a:ext cx="442200" cy="153300"/>
            </a:xfrm>
            <a:prstGeom prst="straightConnector1">
              <a:avLst/>
            </a:prstGeom>
            <a:noFill/>
            <a:ln cap="flat" cmpd="sng" w="19050">
              <a:solidFill>
                <a:srgbClr val="307B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87" name="Google Shape;1387;p112"/>
            <p:cNvSpPr txBox="1"/>
            <p:nvPr/>
          </p:nvSpPr>
          <p:spPr>
            <a:xfrm>
              <a:off x="5848754" y="327197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3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88" name="Google Shape;1388;p112"/>
          <p:cNvGrpSpPr/>
          <p:nvPr/>
        </p:nvGrpSpPr>
        <p:grpSpPr>
          <a:xfrm>
            <a:off x="1438434" y="2571667"/>
            <a:ext cx="1955185" cy="669600"/>
            <a:chOff x="1173490" y="1962067"/>
            <a:chExt cx="1955185" cy="669600"/>
          </a:xfrm>
        </p:grpSpPr>
        <p:cxnSp>
          <p:nvCxnSpPr>
            <p:cNvPr id="1389" name="Google Shape;1389;p112"/>
            <p:cNvCxnSpPr/>
            <p:nvPr/>
          </p:nvCxnSpPr>
          <p:spPr>
            <a:xfrm flipH="1" rot="10800000">
              <a:off x="2678375" y="2162075"/>
              <a:ext cx="450300" cy="145200"/>
            </a:xfrm>
            <a:prstGeom prst="straightConnector1">
              <a:avLst/>
            </a:prstGeom>
            <a:noFill/>
            <a:ln cap="flat" cmpd="sng" w="19050">
              <a:solidFill>
                <a:srgbClr val="307B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90" name="Google Shape;1390;p112"/>
            <p:cNvSpPr txBox="1"/>
            <p:nvPr/>
          </p:nvSpPr>
          <p:spPr>
            <a:xfrm>
              <a:off x="1173490" y="1962067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5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1" name="Google Shape;1391;p112"/>
          <p:cNvGrpSpPr/>
          <p:nvPr/>
        </p:nvGrpSpPr>
        <p:grpSpPr>
          <a:xfrm>
            <a:off x="3351026" y="3630700"/>
            <a:ext cx="1495200" cy="1048236"/>
            <a:chOff x="3808226" y="3630700"/>
            <a:chExt cx="1495200" cy="1048236"/>
          </a:xfrm>
        </p:grpSpPr>
        <p:cxnSp>
          <p:nvCxnSpPr>
            <p:cNvPr id="1392" name="Google Shape;1392;p112"/>
            <p:cNvCxnSpPr/>
            <p:nvPr/>
          </p:nvCxnSpPr>
          <p:spPr>
            <a:xfrm flipH="1" rot="10800000">
              <a:off x="4563402" y="3630700"/>
              <a:ext cx="335100" cy="399900"/>
            </a:xfrm>
            <a:prstGeom prst="straightConnector1">
              <a:avLst/>
            </a:prstGeom>
            <a:noFill/>
            <a:ln cap="flat" cmpd="sng" w="19050">
              <a:solidFill>
                <a:srgbClr val="0944A1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393" name="Google Shape;1393;p112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4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94" name="Google Shape;1394;p112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fmla="val 14414370" name="adj1"/>
              <a:gd fmla="val 18998613" name="adj2"/>
              <a:gd fmla="val 8907" name="adj3"/>
            </a:avLst>
          </a:prstGeom>
          <a:solidFill>
            <a:srgbClr val="0944A1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112"/>
          <p:cNvSpPr/>
          <p:nvPr/>
        </p:nvSpPr>
        <p:spPr>
          <a:xfrm flipH="1" rot="-9000757">
            <a:off x="3225716" y="1084808"/>
            <a:ext cx="2690226" cy="2690226"/>
          </a:xfrm>
          <a:prstGeom prst="blockArc">
            <a:avLst>
              <a:gd fmla="val 20178804" name="adj1"/>
              <a:gd fmla="val 2623923" name="adj2"/>
              <a:gd fmla="val 8858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2"/>
          <p:cNvSpPr/>
          <p:nvPr/>
        </p:nvSpPr>
        <p:spPr>
          <a:xfrm rot="-3781968">
            <a:off x="5556765" y="1857984"/>
            <a:ext cx="363191" cy="363191"/>
          </a:xfrm>
          <a:prstGeom prst="rtTriangle">
            <a:avLst/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2"/>
          <p:cNvSpPr/>
          <p:nvPr/>
        </p:nvSpPr>
        <p:spPr>
          <a:xfrm flipH="1" rot="-1800109">
            <a:off x="3215030" y="1082474"/>
            <a:ext cx="2696852" cy="2696852"/>
          </a:xfrm>
          <a:prstGeom prst="blockArc">
            <a:avLst>
              <a:gd fmla="val 14334136" name="adj1"/>
              <a:gd fmla="val 18854681" name="adj2"/>
              <a:gd fmla="val 8846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112"/>
          <p:cNvSpPr/>
          <p:nvPr/>
        </p:nvSpPr>
        <p:spPr>
          <a:xfrm rot="9000757">
            <a:off x="3207432" y="1087633"/>
            <a:ext cx="2690226" cy="2690226"/>
          </a:xfrm>
          <a:prstGeom prst="blockArc">
            <a:avLst>
              <a:gd fmla="val 20184517" name="adj1"/>
              <a:gd fmla="val 3007258" name="adj2"/>
              <a:gd fmla="val 9336" name="adj3"/>
            </a:avLst>
          </a:prstGeom>
          <a:solidFill>
            <a:srgbClr val="307BF3"/>
          </a:solidFill>
          <a:ln cap="flat" cmpd="sng" w="9525">
            <a:solidFill>
              <a:srgbClr val="307BF3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12"/>
          <p:cNvSpPr/>
          <p:nvPr/>
        </p:nvSpPr>
        <p:spPr>
          <a:xfrm flipH="1" rot="-9000757">
            <a:off x="3207528" y="1089158"/>
            <a:ext cx="2690226" cy="2690226"/>
          </a:xfrm>
          <a:prstGeom prst="blockArc">
            <a:avLst>
              <a:gd fmla="val 15738599" name="adj1"/>
              <a:gd fmla="val 20008131" name="adj2"/>
              <a:gd fmla="val 9063" name="adj3"/>
            </a:avLst>
          </a:prstGeom>
          <a:solidFill>
            <a:srgbClr val="0944A1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112"/>
          <p:cNvSpPr/>
          <p:nvPr/>
        </p:nvSpPr>
        <p:spPr>
          <a:xfrm rot="9240359">
            <a:off x="3213511" y="1857690"/>
            <a:ext cx="363469" cy="363469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112"/>
          <p:cNvSpPr/>
          <p:nvPr/>
        </p:nvSpPr>
        <p:spPr>
          <a:xfrm rot="476150">
            <a:off x="5119958" y="3239200"/>
            <a:ext cx="362875" cy="362875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/>
          <p:nvPr/>
        </p:nvSpPr>
        <p:spPr>
          <a:xfrm rot="4857950">
            <a:off x="3653723" y="3239151"/>
            <a:ext cx="363003" cy="363003"/>
          </a:xfrm>
          <a:prstGeom prst="rtTriangle">
            <a:avLst/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12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12"/>
          <p:cNvSpPr/>
          <p:nvPr/>
        </p:nvSpPr>
        <p:spPr>
          <a:xfrm>
            <a:off x="3909800" y="2244400"/>
            <a:ext cx="1312800" cy="448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FFFFF"/>
                </a:solidFill>
                <a:highlight>
                  <a:srgbClr val="1155CC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pt-BR" sz="2100">
                <a:solidFill>
                  <a:srgbClr val="FFFFFF"/>
                </a:solidFill>
                <a:highlight>
                  <a:srgbClr val="1155CC"/>
                </a:highlight>
                <a:latin typeface="Calibri"/>
                <a:ea typeface="Calibri"/>
                <a:cs typeface="Calibri"/>
                <a:sym typeface="Calibri"/>
              </a:rPr>
              <a:t>Valor</a:t>
            </a:r>
            <a:r>
              <a:rPr b="1" lang="pt-BR" sz="2600">
                <a:solidFill>
                  <a:srgbClr val="1155CC"/>
                </a:solidFill>
                <a:highlight>
                  <a:srgbClr val="1155C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pic>
        <p:nvPicPr>
          <p:cNvPr descr="Image result for big data essentials" id="1404" name="Google Shape;140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9074" y="3780775"/>
            <a:ext cx="854934" cy="13627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5" name="Google Shape;1405;p112"/>
          <p:cNvSpPr txBox="1"/>
          <p:nvPr/>
        </p:nvSpPr>
        <p:spPr>
          <a:xfrm>
            <a:off x="4572012" y="4602953"/>
            <a:ext cx="1977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00CEF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Volume</a:t>
            </a:r>
            <a:endParaRPr b="1" i="0" sz="2300" u="none" cap="none" strike="noStrike">
              <a:solidFill>
                <a:srgbClr val="00CEF6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6" name="Google Shape;1406;p112"/>
          <p:cNvSpPr txBox="1"/>
          <p:nvPr/>
        </p:nvSpPr>
        <p:spPr>
          <a:xfrm>
            <a:off x="6319418" y="4229744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Veracidade</a:t>
            </a:r>
            <a:endParaRPr b="1" i="0" sz="2300" u="none" cap="none" strike="noStrike">
              <a:solidFill>
                <a:srgbClr val="28324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7" name="Google Shape;1407;p112"/>
          <p:cNvSpPr txBox="1"/>
          <p:nvPr/>
        </p:nvSpPr>
        <p:spPr>
          <a:xfrm>
            <a:off x="244091" y="4722080"/>
            <a:ext cx="2691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3468BC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Variedade</a:t>
            </a:r>
            <a:endParaRPr b="1" i="0" sz="2300" u="none" cap="none" strike="noStrike">
              <a:solidFill>
                <a:srgbClr val="3468BC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8" name="Google Shape;1408;p112"/>
          <p:cNvSpPr txBox="1"/>
          <p:nvPr/>
        </p:nvSpPr>
        <p:spPr>
          <a:xfrm>
            <a:off x="2241818" y="4278580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741B47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Volatilidade</a:t>
            </a:r>
            <a:endParaRPr b="1" sz="2300">
              <a:solidFill>
                <a:srgbClr val="741B47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09" name="Google Shape;1409;p112"/>
          <p:cNvSpPr txBox="1"/>
          <p:nvPr/>
        </p:nvSpPr>
        <p:spPr>
          <a:xfrm>
            <a:off x="975268" y="3537112"/>
            <a:ext cx="1977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FF903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Visualização</a:t>
            </a:r>
            <a:endParaRPr b="1" sz="2300">
              <a:solidFill>
                <a:srgbClr val="FF903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10" name="Google Shape;1410;p112"/>
          <p:cNvSpPr/>
          <p:nvPr/>
        </p:nvSpPr>
        <p:spPr>
          <a:xfrm>
            <a:off x="536875" y="834050"/>
            <a:ext cx="1312800" cy="4482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FF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FFFFFF"/>
                </a:solidFill>
                <a:highlight>
                  <a:srgbClr val="1155CC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pt-BR" sz="2100">
                <a:solidFill>
                  <a:srgbClr val="FFFFFF"/>
                </a:solidFill>
                <a:highlight>
                  <a:srgbClr val="1155CC"/>
                </a:highlight>
                <a:latin typeface="Calibri"/>
                <a:ea typeface="Calibri"/>
                <a:cs typeface="Calibri"/>
                <a:sym typeface="Calibri"/>
              </a:rPr>
              <a:t>Valor</a:t>
            </a:r>
            <a:r>
              <a:rPr b="1" lang="pt-BR" sz="2600">
                <a:solidFill>
                  <a:srgbClr val="1155CC"/>
                </a:solidFill>
                <a:highlight>
                  <a:srgbClr val="1155CC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13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fmla="val 16067" name="adj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6" name="Google Shape;1416;p113"/>
          <p:cNvGrpSpPr/>
          <p:nvPr/>
        </p:nvGrpSpPr>
        <p:grpSpPr>
          <a:xfrm>
            <a:off x="2170624" y="705524"/>
            <a:ext cx="1931633" cy="669600"/>
            <a:chOff x="1680836" y="1315124"/>
            <a:chExt cx="1931633" cy="669600"/>
          </a:xfrm>
        </p:grpSpPr>
        <p:cxnSp>
          <p:nvCxnSpPr>
            <p:cNvPr id="1417" name="Google Shape;1417;p113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A1C3FA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18" name="Google Shape;1418;p113"/>
            <p:cNvSpPr txBox="1"/>
            <p:nvPr/>
          </p:nvSpPr>
          <p:spPr>
            <a:xfrm>
              <a:off x="1680836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3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9" name="Google Shape;1419;p113"/>
          <p:cNvGrpSpPr/>
          <p:nvPr/>
        </p:nvGrpSpPr>
        <p:grpSpPr>
          <a:xfrm>
            <a:off x="2893826" y="3306540"/>
            <a:ext cx="1495200" cy="1143796"/>
            <a:chOff x="3808226" y="3535140"/>
            <a:chExt cx="1495200" cy="1143796"/>
          </a:xfrm>
        </p:grpSpPr>
        <p:cxnSp>
          <p:nvCxnSpPr>
            <p:cNvPr id="1420" name="Google Shape;1420;p113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cap="flat" cmpd="sng" w="19050">
              <a:solidFill>
                <a:srgbClr val="307B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21" name="Google Shape;1421;p113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2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22" name="Google Shape;1422;p113"/>
          <p:cNvSpPr txBox="1"/>
          <p:nvPr/>
        </p:nvSpPr>
        <p:spPr>
          <a:xfrm>
            <a:off x="3845784" y="20564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latin typeface="Roboto"/>
                <a:ea typeface="Roboto"/>
                <a:cs typeface="Roboto"/>
                <a:sym typeface="Roboto"/>
              </a:rPr>
              <a:t>Vestibulum nec congue tempus</a:t>
            </a:r>
            <a:endParaRPr sz="1200"/>
          </a:p>
        </p:txBody>
      </p:sp>
      <p:sp>
        <p:nvSpPr>
          <p:cNvPr id="1423" name="Google Shape;1423;p113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fmla="val 14414370" name="adj1"/>
              <a:gd fmla="val 694" name="adj2"/>
              <a:gd fmla="val 9562" name="adj3"/>
            </a:avLst>
          </a:prstGeom>
          <a:solidFill>
            <a:srgbClr val="0944A1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3"/>
          <p:cNvSpPr/>
          <p:nvPr/>
        </p:nvSpPr>
        <p:spPr>
          <a:xfrm flipH="1" rot="-1800047">
            <a:off x="3221956" y="1086434"/>
            <a:ext cx="2690936" cy="2690936"/>
          </a:xfrm>
          <a:prstGeom prst="blockArc">
            <a:avLst>
              <a:gd fmla="val 14348563" name="adj1"/>
              <a:gd fmla="val 21472873" name="adj2"/>
              <a:gd fmla="val 9381" name="adj3"/>
            </a:avLst>
          </a:prstGeom>
          <a:solidFill>
            <a:srgbClr val="A1C3FA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3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A1C3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13"/>
          <p:cNvSpPr/>
          <p:nvPr/>
        </p:nvSpPr>
        <p:spPr>
          <a:xfrm flipH="1" rot="-9000757">
            <a:off x="3220953" y="1084808"/>
            <a:ext cx="2690226" cy="2690226"/>
          </a:xfrm>
          <a:prstGeom prst="blockArc">
            <a:avLst>
              <a:gd fmla="val 14316164" name="adj1"/>
              <a:gd fmla="val 21502663" name="adj2"/>
              <a:gd fmla="val 9415" name="adj3"/>
            </a:avLst>
          </a:prstGeom>
          <a:solidFill>
            <a:srgbClr val="307BF3"/>
          </a:solidFill>
          <a:ln>
            <a:noFill/>
          </a:ln>
          <a:effectLst>
            <a:outerShdw blurRad="71438" rotWithShape="0" algn="bl" dir="5400000" dist="9525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13"/>
          <p:cNvSpPr/>
          <p:nvPr/>
        </p:nvSpPr>
        <p:spPr>
          <a:xfrm rot="-1027861">
            <a:off x="5485874" y="2849832"/>
            <a:ext cx="312672" cy="312672"/>
          </a:xfrm>
          <a:prstGeom prst="rtTriangle">
            <a:avLst/>
          </a:prstGeom>
          <a:solidFill>
            <a:srgbClr val="0944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3"/>
          <p:cNvSpPr/>
          <p:nvPr/>
        </p:nvSpPr>
        <p:spPr>
          <a:xfrm rot="6359841">
            <a:off x="3315801" y="2847762"/>
            <a:ext cx="363580" cy="363580"/>
          </a:xfrm>
          <a:prstGeom prst="rtTriangle">
            <a:avLst/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9" name="Google Shape;1429;p113"/>
          <p:cNvGrpSpPr/>
          <p:nvPr/>
        </p:nvGrpSpPr>
        <p:grpSpPr>
          <a:xfrm>
            <a:off x="4983919" y="705524"/>
            <a:ext cx="1940006" cy="669600"/>
            <a:chOff x="5517319" y="1315124"/>
            <a:chExt cx="1940006" cy="669600"/>
          </a:xfrm>
        </p:grpSpPr>
        <p:cxnSp>
          <p:nvCxnSpPr>
            <p:cNvPr id="1430" name="Google Shape;1430;p113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0944A1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31" name="Google Shape;1431;p113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1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2" name="Google Shape;1432;p113"/>
          <p:cNvGrpSpPr/>
          <p:nvPr/>
        </p:nvGrpSpPr>
        <p:grpSpPr>
          <a:xfrm>
            <a:off x="5745919" y="2229524"/>
            <a:ext cx="1940006" cy="669600"/>
            <a:chOff x="5517319" y="1315124"/>
            <a:chExt cx="1940006" cy="669600"/>
          </a:xfrm>
        </p:grpSpPr>
        <p:cxnSp>
          <p:nvCxnSpPr>
            <p:cNvPr id="1433" name="Google Shape;1433;p113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0944A1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34" name="Google Shape;1434;p113"/>
            <p:cNvSpPr txBox="1"/>
            <p:nvPr/>
          </p:nvSpPr>
          <p:spPr>
            <a:xfrm>
              <a:off x="5962125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1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5" name="Google Shape;1435;p113"/>
          <p:cNvGrpSpPr/>
          <p:nvPr/>
        </p:nvGrpSpPr>
        <p:grpSpPr>
          <a:xfrm>
            <a:off x="1452236" y="2229524"/>
            <a:ext cx="1931633" cy="669600"/>
            <a:chOff x="1680836" y="1315124"/>
            <a:chExt cx="1931633" cy="669600"/>
          </a:xfrm>
        </p:grpSpPr>
        <p:cxnSp>
          <p:nvCxnSpPr>
            <p:cNvPr id="1436" name="Google Shape;1436;p113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cap="flat" cmpd="sng" w="19050">
              <a:solidFill>
                <a:srgbClr val="A1C3FA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37" name="Google Shape;1437;p113"/>
            <p:cNvSpPr txBox="1"/>
            <p:nvPr/>
          </p:nvSpPr>
          <p:spPr>
            <a:xfrm>
              <a:off x="1680836" y="1315124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3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8" name="Google Shape;1438;p113"/>
          <p:cNvGrpSpPr/>
          <p:nvPr/>
        </p:nvGrpSpPr>
        <p:grpSpPr>
          <a:xfrm>
            <a:off x="4722626" y="3306540"/>
            <a:ext cx="1495200" cy="1143796"/>
            <a:chOff x="3808226" y="3535140"/>
            <a:chExt cx="1495200" cy="1143796"/>
          </a:xfrm>
        </p:grpSpPr>
        <p:cxnSp>
          <p:nvCxnSpPr>
            <p:cNvPr id="1439" name="Google Shape;1439;p113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cap="flat" cmpd="sng" w="19050">
              <a:solidFill>
                <a:srgbClr val="307BF3"/>
              </a:solidFill>
              <a:prstDash val="solid"/>
              <a:round/>
              <a:headEnd len="med" w="med" type="oval"/>
              <a:tailEnd len="sm" w="sm" type="none"/>
            </a:ln>
          </p:spPr>
        </p:cxnSp>
        <p:sp>
          <p:nvSpPr>
            <p:cNvPr id="1440" name="Google Shape;1440;p113"/>
            <p:cNvSpPr txBox="1"/>
            <p:nvPr/>
          </p:nvSpPr>
          <p:spPr>
            <a:xfrm>
              <a:off x="3808226" y="4009336"/>
              <a:ext cx="14952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latin typeface="Roboto"/>
                  <a:ea typeface="Roboto"/>
                  <a:cs typeface="Roboto"/>
                  <a:sym typeface="Roboto"/>
                </a:rPr>
                <a:t>LOREM 2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latin typeface="Roboto"/>
                  <a:ea typeface="Roboto"/>
                  <a:cs typeface="Roboto"/>
                  <a:sym typeface="Roboto"/>
                </a:rPr>
                <a:t>Vestibulum nec congue tempus lorem ipsum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heus - Facen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