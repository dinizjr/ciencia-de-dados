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5143500" cx="9144000"/>
  <p:notesSz cx="6858000" cy="9144000"/>
  <p:embeddedFontLst>
    <p:embeddedFont>
      <p:font typeface="Ubuntu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2C10EBC2-7BE4-47AD-8BD9-168B8F2F506C}">
  <a:tblStyle styleId="{2C10EBC2-7BE4-47AD-8BD9-168B8F2F50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Ubuntu-bold.fntdata"/><Relationship Id="rId47" Type="http://schemas.openxmlformats.org/officeDocument/2006/relationships/font" Target="fonts/Ubuntu-regular.fntdata"/><Relationship Id="rId49" Type="http://schemas.openxmlformats.org/officeDocument/2006/relationships/font" Target="fonts/Ubuntu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font" Target="fonts/Ubuntu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5d7dd396dd_0_1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5d7dd396d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d8f5a70c2_0_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d8f5a70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d8f5a70c2_0_32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d8f5a70c2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5d8f5a70c2_0_32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5d8f5a70c2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5d8f5a70c2_0_34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5d8f5a70c2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5d8f5a70c2_0_36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5d8f5a70c2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5d8f5a70c2_0_37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5d8f5a70c2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5d8f5a70c2_0_38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5d8f5a70c2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5d8f5a70c2_0_40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5d8f5a70c2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5d8f5a70c2_0_39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5d8f5a70c2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5d8f5a70c2_0_45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5d8f5a70c2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5d8f5a70c2_0_33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5d8f5a70c2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5d8f5a70c2_0_34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5d8f5a70c2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5d8f5a70c2_0_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5d8f5a70c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5d8f5a70c2_0_1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5d8f5a70c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5d8f5a70c2_0_2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5d8f5a70c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5d8f5a70c2_0_8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5d8f5a70c2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5d8f5a70c2_0_14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5d8f5a70c2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5d8f5a70c2_0_15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5d8f5a70c2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5d8f5a70c2_0_16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5d8f5a70c2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5d8f5a70c2_0_16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5d8f5a70c2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5d8f5a70c2_0_19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5d8f5a70c2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5d8f5a70c2_0_21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5d8f5a70c2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5d8f5a70c2_0_28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5d8f5a70c2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5d8f5a70c2_0_24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5d8f5a70c2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5d8f5a70c2_0_31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5d8f5a70c2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5d89efe5fa_0_31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5d89efe5fa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5d8f5a70c2_0_62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5d8f5a70c2_0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5d8f5a70c2_0_50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5d8f5a70c2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5d8f5a70c2_0_51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5d8f5a70c2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5d8f5a70c2_0_51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5d8f5a70c2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5d8f5a70c2_0_58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5d8f5a70c2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5d8f5a70c2_0_67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5d8f5a70c2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5d8f5a70c2_0_67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5d8f5a70c2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5d8f5a70c2_0_68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5d8f5a70c2_0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5d8f5a70c2_1_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5d8f5a70c2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5d6e21c314_0_40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5d6e21c314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5d89efe5fa_0_31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5d89efe5fa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5d794f15f4_1_8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5d794f15f4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 1">
  <p:cSld name="TITLE_1">
    <p:bg>
      <p:bgPr>
        <a:noFill/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0300" y="460687"/>
            <a:ext cx="88434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0300" y="1278450"/>
            <a:ext cx="83328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None/>
              <a:defRPr b="1" sz="2100">
                <a:solidFill>
                  <a:srgbClr val="43434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2">
            <a:alphaModFix amt="50000"/>
          </a:blip>
          <a:srcRect b="19432" l="14820" r="1637" t="0"/>
          <a:stretch/>
        </p:blipFill>
        <p:spPr>
          <a:xfrm>
            <a:off x="5643575" y="3910800"/>
            <a:ext cx="2821525" cy="12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7825" y="4531421"/>
            <a:ext cx="1345245" cy="618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4">
            <a:alphaModFix amt="50000"/>
          </a:blip>
          <a:srcRect b="26259" l="12000" r="17" t="0"/>
          <a:stretch/>
        </p:blipFill>
        <p:spPr>
          <a:xfrm rot="-19201">
            <a:off x="2590441" y="3815349"/>
            <a:ext cx="3457543" cy="1334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5">
            <a:alphaModFix amt="50000"/>
          </a:blip>
          <a:srcRect b="3217" l="0" r="0" t="22121"/>
          <a:stretch/>
        </p:blipFill>
        <p:spPr>
          <a:xfrm rot="10800000">
            <a:off x="159225" y="3558132"/>
            <a:ext cx="4297571" cy="15909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Google Shape;18;p2"/>
          <p:cNvCxnSpPr/>
          <p:nvPr/>
        </p:nvCxnSpPr>
        <p:spPr>
          <a:xfrm>
            <a:off x="149361" y="1126775"/>
            <a:ext cx="90141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 1 2">
  <p:cSld name="TITLE_1_2">
    <p:bg>
      <p:bgPr>
        <a:noFill/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150300" y="1832275"/>
            <a:ext cx="90000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50300" y="2650050"/>
            <a:ext cx="90000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None/>
              <a:defRPr b="1" sz="2100">
                <a:solidFill>
                  <a:srgbClr val="434343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 amt="50000"/>
          </a:blip>
          <a:srcRect b="19432" l="17725" r="1629" t="0"/>
          <a:stretch/>
        </p:blipFill>
        <p:spPr>
          <a:xfrm>
            <a:off x="5512825" y="3910797"/>
            <a:ext cx="2723667" cy="1243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7825" y="4531421"/>
            <a:ext cx="1345245" cy="618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 rotWithShape="1">
          <a:blip r:embed="rId4">
            <a:alphaModFix amt="50000"/>
          </a:blip>
          <a:srcRect b="18146" l="0" r="19" t="0"/>
          <a:stretch/>
        </p:blipFill>
        <p:spPr>
          <a:xfrm rot="226428">
            <a:off x="2221074" y="3816654"/>
            <a:ext cx="3929077" cy="1481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 rotWithShape="1">
          <a:blip r:embed="rId5">
            <a:alphaModFix amt="50000"/>
          </a:blip>
          <a:srcRect b="3217" l="0" r="0" t="22121"/>
          <a:stretch/>
        </p:blipFill>
        <p:spPr>
          <a:xfrm rot="10800000">
            <a:off x="204686" y="3558132"/>
            <a:ext cx="4297571" cy="15909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" name="Google Shape;26;p3"/>
          <p:cNvCxnSpPr/>
          <p:nvPr/>
        </p:nvCxnSpPr>
        <p:spPr>
          <a:xfrm>
            <a:off x="149361" y="2498375"/>
            <a:ext cx="90141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 1 1">
  <p:cSld name="TITLE_1_1">
    <p:bg>
      <p:bgPr>
        <a:noFill/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ctrTitle"/>
          </p:nvPr>
        </p:nvSpPr>
        <p:spPr>
          <a:xfrm>
            <a:off x="300800" y="1565345"/>
            <a:ext cx="88434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subTitle"/>
          </p:nvPr>
        </p:nvSpPr>
        <p:spPr>
          <a:xfrm>
            <a:off x="300800" y="2351002"/>
            <a:ext cx="83328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None/>
              <a:defRPr b="1" sz="2100">
                <a:solidFill>
                  <a:srgbClr val="43434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9pPr>
          </a:lstStyle>
          <a:p/>
        </p:txBody>
      </p:sp>
      <p:pic>
        <p:nvPicPr>
          <p:cNvPr id="30" name="Google Shape;30;p4"/>
          <p:cNvPicPr preferRelativeResize="0"/>
          <p:nvPr/>
        </p:nvPicPr>
        <p:blipFill rotWithShape="1">
          <a:blip r:embed="rId2">
            <a:alphaModFix amt="55000"/>
          </a:blip>
          <a:srcRect b="0" l="0" r="0" t="23564"/>
          <a:stretch/>
        </p:blipFill>
        <p:spPr>
          <a:xfrm>
            <a:off x="3117975" y="-1"/>
            <a:ext cx="6026026" cy="21798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" name="Google Shape;31;p4"/>
          <p:cNvCxnSpPr/>
          <p:nvPr/>
        </p:nvCxnSpPr>
        <p:spPr>
          <a:xfrm>
            <a:off x="149361" y="2213058"/>
            <a:ext cx="90141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 1">
  <p:cSld name="TITLE_AND_BODY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199750" y="706410"/>
            <a:ext cx="8944200" cy="38625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5" name="Google Shape;35;p5"/>
          <p:cNvCxnSpPr/>
          <p:nvPr/>
        </p:nvCxnSpPr>
        <p:spPr>
          <a:xfrm>
            <a:off x="149361" y="440975"/>
            <a:ext cx="90141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 1 1">
  <p:cSld name="TITLE_AND_BODY_1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8" name="Google Shape;38;p6"/>
          <p:cNvCxnSpPr/>
          <p:nvPr/>
        </p:nvCxnSpPr>
        <p:spPr>
          <a:xfrm>
            <a:off x="149361" y="440975"/>
            <a:ext cx="90141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 1 1 1">
  <p:cSld name="TITLE_AND_BODY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 1 1 1 1">
  <p:cSld name="TITLE_AND_BODY_1_1_1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199725" y="2388128"/>
            <a:ext cx="89442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1">
  <p:cSld name="CUSTOM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Layout Facens - Template">
  <p:cSld name="CUSTOM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em título-4.jpg" id="45" name="Google Shape;45;p10"/>
          <p:cNvPicPr preferRelativeResize="0"/>
          <p:nvPr/>
        </p:nvPicPr>
        <p:blipFill rotWithShape="1">
          <a:blip r:embed="rId2">
            <a:alphaModFix/>
          </a:blip>
          <a:srcRect b="0" l="4743" r="0" t="0"/>
          <a:stretch/>
        </p:blipFill>
        <p:spPr>
          <a:xfrm>
            <a:off x="1428750" y="0"/>
            <a:ext cx="6906499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m título-4.jpg" id="46" name="Google Shape;46;p10"/>
          <p:cNvPicPr preferRelativeResize="0"/>
          <p:nvPr/>
        </p:nvPicPr>
        <p:blipFill rotWithShape="1">
          <a:blip r:embed="rId2">
            <a:alphaModFix/>
          </a:blip>
          <a:srcRect b="0" l="2903" r="73450" t="0"/>
          <a:stretch/>
        </p:blipFill>
        <p:spPr>
          <a:xfrm>
            <a:off x="158031" y="0"/>
            <a:ext cx="133747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m título-4.jpg" id="47" name="Google Shape;47;p10"/>
          <p:cNvPicPr preferRelativeResize="0"/>
          <p:nvPr/>
        </p:nvPicPr>
        <p:blipFill rotWithShape="1">
          <a:blip r:embed="rId2">
            <a:alphaModFix/>
          </a:blip>
          <a:srcRect b="0" l="2903" r="73450" t="0"/>
          <a:stretch/>
        </p:blipFill>
        <p:spPr>
          <a:xfrm>
            <a:off x="7806525" y="0"/>
            <a:ext cx="133747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_2">
  <p:cSld name="TITLE_2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0" name="Google Shape;50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1 column">
  <p:cSld name="TITLE_AND_BODY_2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_4">
  <p:cSld name="TITLE_4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_AND_BODY_3">
  <p:cSld name="TITLE_AND_BODY_3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" name="Google Shape;62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3" name="Google Shape;63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" name="Google Shape;65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11700" y="726851"/>
            <a:ext cx="8520600" cy="4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2100" lIns="92100" spcFirstLastPara="1" rIns="92100" wrap="square" tIns="9210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alibri"/>
              <a:buChar char="■"/>
              <a:def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63500" y="12795"/>
            <a:ext cx="89805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100" lIns="92100" spcFirstLastPara="1" rIns="92100" wrap="square" tIns="92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descr="8753_paginas.jpg"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97172" t="0"/>
          <a:stretch/>
        </p:blipFill>
        <p:spPr>
          <a:xfrm>
            <a:off x="-8253" y="0"/>
            <a:ext cx="1635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8753_paginas.jpg" id="9" name="Google Shape;9;p1"/>
          <p:cNvPicPr preferRelativeResize="0"/>
          <p:nvPr/>
        </p:nvPicPr>
        <p:blipFill rotWithShape="1">
          <a:blip r:embed="rId1">
            <a:alphaModFix/>
          </a:blip>
          <a:srcRect b="3411" l="74493" r="1772" t="81723"/>
          <a:stretch/>
        </p:blipFill>
        <p:spPr>
          <a:xfrm>
            <a:off x="8721875" y="4959850"/>
            <a:ext cx="422073" cy="18362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-72025" y="4933875"/>
            <a:ext cx="498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/>
              <a:t>‹#›</a:t>
            </a:fld>
            <a:endParaRPr b="1" sz="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8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8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8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8.gif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Relationship Id="rId4" Type="http://schemas.openxmlformats.org/officeDocument/2006/relationships/image" Target="../media/image24.gif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gif"/><Relationship Id="rId4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gif"/><Relationship Id="rId4" Type="http://schemas.openxmlformats.org/officeDocument/2006/relationships/image" Target="../media/image12.png"/><Relationship Id="rId5" Type="http://schemas.openxmlformats.org/officeDocument/2006/relationships/image" Target="../media/image1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ctrTitle"/>
          </p:nvPr>
        </p:nvSpPr>
        <p:spPr>
          <a:xfrm>
            <a:off x="150300" y="460687"/>
            <a:ext cx="88434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Hadoop MapReduce</a:t>
            </a:r>
            <a:endParaRPr/>
          </a:p>
        </p:txBody>
      </p:sp>
      <p:sp>
        <p:nvSpPr>
          <p:cNvPr id="80" name="Google Shape;80;p17"/>
          <p:cNvSpPr txBox="1"/>
          <p:nvPr>
            <p:ph idx="1" type="subTitle"/>
          </p:nvPr>
        </p:nvSpPr>
        <p:spPr>
          <a:xfrm>
            <a:off x="150300" y="1278450"/>
            <a:ext cx="83328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MapReduce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199750" y="706410"/>
            <a:ext cx="8944200" cy="38625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Vamos separar as coisas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MapReduce - Técnica de Programação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Forma de pensar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Não resolve todos os problemas, mas pode ser adaptado para a maioria deles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MapReduce - Componente do Hadoop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APIs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Java Interfaces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Java Classes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MapReduce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199750" y="706410"/>
            <a:ext cx="8944200" cy="38625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Vamos separar as coisas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MapReduce - Técnica de Programação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pt-BR">
                <a:solidFill>
                  <a:srgbClr val="FF0000"/>
                </a:solidFill>
              </a:rPr>
              <a:t>Forma de pensar</a:t>
            </a:r>
            <a:endParaRPr b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Não resolve todos os problemas, mas pode ser adaptado para a maioria deles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MapReduce - Componente do Hadoop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APIs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Java Interfaces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Java Classes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MapReduce - Como organizar cartas de um baralho?</a:t>
            </a:r>
            <a:endParaRPr/>
          </a:p>
        </p:txBody>
      </p:sp>
      <p:pic>
        <p:nvPicPr>
          <p:cNvPr descr="Image result for baralho"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7623" y="977650"/>
            <a:ext cx="4508776" cy="33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MapReduce - Como organizar cartas de um baralho?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199750" y="706403"/>
            <a:ext cx="8944200" cy="26226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/>
              <a:t>Alternativas</a:t>
            </a:r>
            <a:endParaRPr sz="21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Carta por carta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Separar em pilhas por tipo  (13 pilhas)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Separar em pilhas por naipe  (4 pilhas)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MapReduce - Como organizar cartas de um baralho?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199750" y="706403"/>
            <a:ext cx="8944200" cy="26226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/>
              <a:t>Alternativas</a:t>
            </a:r>
            <a:endParaRPr sz="21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Carta por carta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Separar em pilhas por tipo  (13 pilhas)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Separar em pilhas por naipe  (4 pilhas)</a:t>
            </a:r>
            <a:endParaRPr/>
          </a:p>
        </p:txBody>
      </p:sp>
      <p:pic>
        <p:nvPicPr>
          <p:cNvPr id="111" name="Google Shape;111;p22"/>
          <p:cNvPicPr preferRelativeResize="0"/>
          <p:nvPr/>
        </p:nvPicPr>
        <p:blipFill rotWithShape="1">
          <a:blip r:embed="rId3">
            <a:alphaModFix/>
          </a:blip>
          <a:srcRect b="0" l="0" r="92162" t="0"/>
          <a:stretch/>
        </p:blipFill>
        <p:spPr>
          <a:xfrm>
            <a:off x="2579850" y="2478625"/>
            <a:ext cx="480249" cy="251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2"/>
          <p:cNvPicPr preferRelativeResize="0"/>
          <p:nvPr/>
        </p:nvPicPr>
        <p:blipFill rotWithShape="1">
          <a:blip r:embed="rId3">
            <a:alphaModFix/>
          </a:blip>
          <a:srcRect b="0" l="7877" r="84284" t="0"/>
          <a:stretch/>
        </p:blipFill>
        <p:spPr>
          <a:xfrm>
            <a:off x="3750625" y="2478625"/>
            <a:ext cx="480249" cy="251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2"/>
          <p:cNvPicPr preferRelativeResize="0"/>
          <p:nvPr/>
        </p:nvPicPr>
        <p:blipFill rotWithShape="1">
          <a:blip r:embed="rId3">
            <a:alphaModFix/>
          </a:blip>
          <a:srcRect b="0" l="15458" r="76703" t="0"/>
          <a:stretch/>
        </p:blipFill>
        <p:spPr>
          <a:xfrm>
            <a:off x="2054575" y="2478625"/>
            <a:ext cx="480249" cy="251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2"/>
          <p:cNvSpPr txBox="1"/>
          <p:nvPr/>
        </p:nvSpPr>
        <p:spPr>
          <a:xfrm>
            <a:off x="4317850" y="3278150"/>
            <a:ext cx="13956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>
                <a:latin typeface="Calibri"/>
                <a:ea typeface="Calibri"/>
                <a:cs typeface="Calibri"/>
                <a:sym typeface="Calibri"/>
              </a:rPr>
              <a:t>...</a:t>
            </a:r>
            <a:endParaRPr sz="5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22"/>
          <p:cNvPicPr preferRelativeResize="0"/>
          <p:nvPr/>
        </p:nvPicPr>
        <p:blipFill rotWithShape="1">
          <a:blip r:embed="rId3">
            <a:alphaModFix/>
          </a:blip>
          <a:srcRect b="0" l="92335" r="-173" t="0"/>
          <a:stretch/>
        </p:blipFill>
        <p:spPr>
          <a:xfrm>
            <a:off x="3183400" y="2478625"/>
            <a:ext cx="480249" cy="251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MapReduce - Como organizar cartas de um baralho?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199750" y="706403"/>
            <a:ext cx="8944200" cy="26226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/>
              <a:t>Alternativas</a:t>
            </a:r>
            <a:endParaRPr sz="21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Carta por carta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Separar em pilhas por tipo  (13 pilhas)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Separar em pilhas por naipe  (4 pilhas)</a:t>
            </a:r>
            <a:endParaRPr/>
          </a:p>
        </p:txBody>
      </p:sp>
      <p:pic>
        <p:nvPicPr>
          <p:cNvPr id="122" name="Google Shape;122;p23"/>
          <p:cNvPicPr preferRelativeResize="0"/>
          <p:nvPr/>
        </p:nvPicPr>
        <p:blipFill rotWithShape="1">
          <a:blip r:embed="rId3">
            <a:alphaModFix/>
          </a:blip>
          <a:srcRect b="0" l="0" r="92162" t="0"/>
          <a:stretch/>
        </p:blipFill>
        <p:spPr>
          <a:xfrm>
            <a:off x="1932950" y="2478625"/>
            <a:ext cx="480249" cy="251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3"/>
          <p:cNvPicPr preferRelativeResize="0"/>
          <p:nvPr/>
        </p:nvPicPr>
        <p:blipFill rotWithShape="1">
          <a:blip r:embed="rId3">
            <a:alphaModFix/>
          </a:blip>
          <a:srcRect b="0" l="7877" r="84284" t="0"/>
          <a:stretch/>
        </p:blipFill>
        <p:spPr>
          <a:xfrm>
            <a:off x="2542550" y="2478625"/>
            <a:ext cx="480249" cy="251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3"/>
          <p:cNvPicPr preferRelativeResize="0"/>
          <p:nvPr/>
        </p:nvPicPr>
        <p:blipFill rotWithShape="1">
          <a:blip r:embed="rId3">
            <a:alphaModFix/>
          </a:blip>
          <a:srcRect b="0" l="15458" r="76703" t="0"/>
          <a:stretch/>
        </p:blipFill>
        <p:spPr>
          <a:xfrm>
            <a:off x="3152150" y="2478625"/>
            <a:ext cx="480249" cy="251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/>
        </p:nvSpPr>
        <p:spPr>
          <a:xfrm>
            <a:off x="3452600" y="3212725"/>
            <a:ext cx="13956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>
                <a:latin typeface="Calibri"/>
                <a:ea typeface="Calibri"/>
                <a:cs typeface="Calibri"/>
                <a:sym typeface="Calibri"/>
              </a:rPr>
              <a:t>...</a:t>
            </a:r>
            <a:endParaRPr sz="5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23"/>
          <p:cNvPicPr preferRelativeResize="0"/>
          <p:nvPr/>
        </p:nvPicPr>
        <p:blipFill rotWithShape="1">
          <a:blip r:embed="rId3">
            <a:alphaModFix/>
          </a:blip>
          <a:srcRect b="0" l="92335" r="-173" t="0"/>
          <a:stretch/>
        </p:blipFill>
        <p:spPr>
          <a:xfrm>
            <a:off x="4676150" y="2478625"/>
            <a:ext cx="480249" cy="251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MapReduce - Como organizar cartas de um baralho?</a:t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199750" y="706403"/>
            <a:ext cx="8944200" cy="26226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/>
              <a:t>Alternativas</a:t>
            </a:r>
            <a:endParaRPr sz="21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Carta por carta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Separar em pilhas por tipo  (13 pilhas)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Separar em pilhas por naipe  (4 pilhas)</a:t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2948" y="2478625"/>
            <a:ext cx="6127801" cy="251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MapReduce - Como organizar cartas de um baralho?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199750" y="706403"/>
            <a:ext cx="8944200" cy="26226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/>
              <a:t>Alternativas</a:t>
            </a:r>
            <a:endParaRPr sz="21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Carta por carta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Separar em pilhas por tipo  (13 pilhas)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Separar em pilhas por naipe  (4 pilhas)</a:t>
            </a:r>
            <a:endParaRPr b="1"/>
          </a:p>
        </p:txBody>
      </p:sp>
      <p:pic>
        <p:nvPicPr>
          <p:cNvPr id="140" name="Google Shape;140;p25"/>
          <p:cNvPicPr preferRelativeResize="0"/>
          <p:nvPr/>
        </p:nvPicPr>
        <p:blipFill rotWithShape="1">
          <a:blip r:embed="rId3">
            <a:alphaModFix/>
          </a:blip>
          <a:srcRect b="74258" l="-121" r="76831" t="0"/>
          <a:stretch/>
        </p:blipFill>
        <p:spPr>
          <a:xfrm>
            <a:off x="2054575" y="2478625"/>
            <a:ext cx="1427124" cy="64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5"/>
          <p:cNvPicPr preferRelativeResize="0"/>
          <p:nvPr/>
        </p:nvPicPr>
        <p:blipFill rotWithShape="1">
          <a:blip r:embed="rId3">
            <a:alphaModFix/>
          </a:blip>
          <a:srcRect b="74258" l="76985" r="-274" t="0"/>
          <a:stretch/>
        </p:blipFill>
        <p:spPr>
          <a:xfrm>
            <a:off x="3473300" y="2478625"/>
            <a:ext cx="1427124" cy="64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5"/>
          <p:cNvPicPr preferRelativeResize="0"/>
          <p:nvPr/>
        </p:nvPicPr>
        <p:blipFill rotWithShape="1">
          <a:blip r:embed="rId3">
            <a:alphaModFix/>
          </a:blip>
          <a:srcRect b="74258" l="53949" r="22760" t="0"/>
          <a:stretch/>
        </p:blipFill>
        <p:spPr>
          <a:xfrm>
            <a:off x="4903050" y="2478625"/>
            <a:ext cx="1427124" cy="64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5"/>
          <p:cNvPicPr preferRelativeResize="0"/>
          <p:nvPr/>
        </p:nvPicPr>
        <p:blipFill rotWithShape="1">
          <a:blip r:embed="rId3">
            <a:alphaModFix/>
          </a:blip>
          <a:srcRect b="74258" l="22858" r="53852" t="0"/>
          <a:stretch/>
        </p:blipFill>
        <p:spPr>
          <a:xfrm>
            <a:off x="6281918" y="2478625"/>
            <a:ext cx="1427124" cy="64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5"/>
          <p:cNvPicPr preferRelativeResize="0"/>
          <p:nvPr/>
        </p:nvPicPr>
        <p:blipFill rotWithShape="1">
          <a:blip r:embed="rId3">
            <a:alphaModFix/>
          </a:blip>
          <a:srcRect b="74258" l="46012" r="45615" t="0"/>
          <a:stretch/>
        </p:blipFill>
        <p:spPr>
          <a:xfrm>
            <a:off x="7707902" y="2478625"/>
            <a:ext cx="512974" cy="64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5"/>
          <p:cNvPicPr preferRelativeResize="0"/>
          <p:nvPr/>
        </p:nvPicPr>
        <p:blipFill rotWithShape="1">
          <a:blip r:embed="rId3">
            <a:alphaModFix/>
          </a:blip>
          <a:srcRect b="-684" l="84544" r="7586" t="74943"/>
          <a:stretch/>
        </p:blipFill>
        <p:spPr>
          <a:xfrm>
            <a:off x="2054575" y="4514225"/>
            <a:ext cx="482200" cy="64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5"/>
          <p:cNvSpPr txBox="1"/>
          <p:nvPr/>
        </p:nvSpPr>
        <p:spPr>
          <a:xfrm>
            <a:off x="4420675" y="3575675"/>
            <a:ext cx="13956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>
                <a:latin typeface="Calibri"/>
                <a:ea typeface="Calibri"/>
                <a:cs typeface="Calibri"/>
                <a:sym typeface="Calibri"/>
              </a:rPr>
              <a:t>...</a:t>
            </a:r>
            <a:endParaRPr sz="5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25"/>
          <p:cNvPicPr preferRelativeResize="0"/>
          <p:nvPr/>
        </p:nvPicPr>
        <p:blipFill rotWithShape="1">
          <a:blip r:embed="rId3">
            <a:alphaModFix/>
          </a:blip>
          <a:srcRect b="-684" l="69213" r="22917" t="74943"/>
          <a:stretch/>
        </p:blipFill>
        <p:spPr>
          <a:xfrm>
            <a:off x="2566169" y="4514225"/>
            <a:ext cx="482200" cy="64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5"/>
          <p:cNvPicPr preferRelativeResize="0"/>
          <p:nvPr/>
        </p:nvPicPr>
        <p:blipFill rotWithShape="1">
          <a:blip r:embed="rId3">
            <a:alphaModFix/>
          </a:blip>
          <a:srcRect b="-684" l="38423" r="53707" t="74943"/>
          <a:stretch/>
        </p:blipFill>
        <p:spPr>
          <a:xfrm>
            <a:off x="3026882" y="4514225"/>
            <a:ext cx="482200" cy="64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/>
          <p:cNvPicPr preferRelativeResize="0"/>
          <p:nvPr/>
        </p:nvPicPr>
        <p:blipFill rotWithShape="1">
          <a:blip r:embed="rId3">
            <a:alphaModFix/>
          </a:blip>
          <a:srcRect b="-684" l="92296" r="-166" t="74943"/>
          <a:stretch/>
        </p:blipFill>
        <p:spPr>
          <a:xfrm>
            <a:off x="3491351" y="4514225"/>
            <a:ext cx="482200" cy="64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5"/>
          <p:cNvPicPr preferRelativeResize="0"/>
          <p:nvPr/>
        </p:nvPicPr>
        <p:blipFill rotWithShape="1">
          <a:blip r:embed="rId3">
            <a:alphaModFix/>
          </a:blip>
          <a:srcRect b="-684" l="-120" r="61253" t="74943"/>
          <a:stretch/>
        </p:blipFill>
        <p:spPr>
          <a:xfrm>
            <a:off x="3948547" y="4514225"/>
            <a:ext cx="2381625" cy="64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5"/>
          <p:cNvPicPr preferRelativeResize="0"/>
          <p:nvPr/>
        </p:nvPicPr>
        <p:blipFill rotWithShape="1">
          <a:blip r:embed="rId3">
            <a:alphaModFix/>
          </a:blip>
          <a:srcRect b="-684" l="77099" r="15031" t="74943"/>
          <a:stretch/>
        </p:blipFill>
        <p:spPr>
          <a:xfrm>
            <a:off x="6310750" y="4514225"/>
            <a:ext cx="482200" cy="64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5"/>
          <p:cNvPicPr preferRelativeResize="0"/>
          <p:nvPr/>
        </p:nvPicPr>
        <p:blipFill rotWithShape="1">
          <a:blip r:embed="rId3">
            <a:alphaModFix/>
          </a:blip>
          <a:srcRect b="-684" l="46016" r="30693" t="74943"/>
          <a:stretch/>
        </p:blipFill>
        <p:spPr>
          <a:xfrm>
            <a:off x="6769650" y="4514225"/>
            <a:ext cx="1427124" cy="64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MapReduce - Como organizar cartas de um baralho?</a:t>
            </a:r>
            <a:endParaRPr/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199750" y="706403"/>
            <a:ext cx="8944200" cy="26226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/>
              <a:t>Alternativas</a:t>
            </a:r>
            <a:endParaRPr sz="21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Carta por carta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Separar em pilhas por tipo  (13 pilhas)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Separar em pilhas por naipe  (4 pilhas)</a:t>
            </a:r>
            <a:endParaRPr b="1"/>
          </a:p>
        </p:txBody>
      </p:sp>
      <p:pic>
        <p:nvPicPr>
          <p:cNvPr id="159" name="Google Shape;159;p26"/>
          <p:cNvPicPr preferRelativeResize="0"/>
          <p:nvPr/>
        </p:nvPicPr>
        <p:blipFill rotWithShape="1">
          <a:blip r:embed="rId3">
            <a:alphaModFix/>
          </a:blip>
          <a:srcRect b="74258" l="-120" r="119" t="0"/>
          <a:stretch/>
        </p:blipFill>
        <p:spPr>
          <a:xfrm>
            <a:off x="2054575" y="2478625"/>
            <a:ext cx="6127801" cy="64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/>
          <p:cNvPicPr preferRelativeResize="0"/>
          <p:nvPr/>
        </p:nvPicPr>
        <p:blipFill rotWithShape="1">
          <a:blip r:embed="rId3">
            <a:alphaModFix/>
          </a:blip>
          <a:srcRect b="-684" l="-120" r="119" t="74943"/>
          <a:stretch/>
        </p:blipFill>
        <p:spPr>
          <a:xfrm>
            <a:off x="2054575" y="4514219"/>
            <a:ext cx="6127801" cy="64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7"/>
          <p:cNvPicPr preferRelativeResize="0"/>
          <p:nvPr/>
        </p:nvPicPr>
        <p:blipFill rotWithShape="1">
          <a:blip r:embed="rId3">
            <a:alphaModFix/>
          </a:blip>
          <a:srcRect b="0" l="48571" r="26541" t="0"/>
          <a:stretch/>
        </p:blipFill>
        <p:spPr>
          <a:xfrm>
            <a:off x="4571999" y="602850"/>
            <a:ext cx="1955275" cy="440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7"/>
          <p:cNvPicPr preferRelativeResize="0"/>
          <p:nvPr/>
        </p:nvPicPr>
        <p:blipFill rotWithShape="1">
          <a:blip r:embed="rId3">
            <a:alphaModFix/>
          </a:blip>
          <a:srcRect b="0" l="12490" r="67248" t="0"/>
          <a:stretch/>
        </p:blipFill>
        <p:spPr>
          <a:xfrm>
            <a:off x="1737225" y="602850"/>
            <a:ext cx="1591825" cy="44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7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MapReduce - Analogia 2</a:t>
            </a:r>
            <a:endParaRPr/>
          </a:p>
        </p:txBody>
      </p:sp>
      <p:pic>
        <p:nvPicPr>
          <p:cNvPr id="168" name="Google Shape;168;p27"/>
          <p:cNvPicPr preferRelativeResize="0"/>
          <p:nvPr/>
        </p:nvPicPr>
        <p:blipFill rotWithShape="1">
          <a:blip r:embed="rId3">
            <a:alphaModFix/>
          </a:blip>
          <a:srcRect b="0" l="0" r="87507" t="0"/>
          <a:stretch/>
        </p:blipFill>
        <p:spPr>
          <a:xfrm>
            <a:off x="755700" y="602850"/>
            <a:ext cx="981524" cy="440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7"/>
          <p:cNvPicPr preferRelativeResize="0"/>
          <p:nvPr/>
        </p:nvPicPr>
        <p:blipFill rotWithShape="1">
          <a:blip r:embed="rId3">
            <a:alphaModFix/>
          </a:blip>
          <a:srcRect b="0" l="73460" r="0" t="0"/>
          <a:stretch/>
        </p:blipFill>
        <p:spPr>
          <a:xfrm>
            <a:off x="6527272" y="602850"/>
            <a:ext cx="2085150" cy="440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7"/>
          <p:cNvPicPr preferRelativeResize="0"/>
          <p:nvPr/>
        </p:nvPicPr>
        <p:blipFill rotWithShape="1">
          <a:blip r:embed="rId3">
            <a:alphaModFix/>
          </a:blip>
          <a:srcRect b="0" l="32753" r="51426" t="0"/>
          <a:stretch/>
        </p:blipFill>
        <p:spPr>
          <a:xfrm>
            <a:off x="3329050" y="602850"/>
            <a:ext cx="1242950" cy="4402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27"/>
          <p:cNvCxnSpPr/>
          <p:nvPr/>
        </p:nvCxnSpPr>
        <p:spPr>
          <a:xfrm>
            <a:off x="1741200" y="1010350"/>
            <a:ext cx="156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" name="Google Shape;172;p27"/>
          <p:cNvCxnSpPr/>
          <p:nvPr/>
        </p:nvCxnSpPr>
        <p:spPr>
          <a:xfrm>
            <a:off x="1741200" y="1619950"/>
            <a:ext cx="156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27"/>
          <p:cNvCxnSpPr/>
          <p:nvPr/>
        </p:nvCxnSpPr>
        <p:spPr>
          <a:xfrm>
            <a:off x="1741200" y="2266950"/>
            <a:ext cx="156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27"/>
          <p:cNvCxnSpPr/>
          <p:nvPr/>
        </p:nvCxnSpPr>
        <p:spPr>
          <a:xfrm>
            <a:off x="1741200" y="2876550"/>
            <a:ext cx="156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27"/>
          <p:cNvCxnSpPr/>
          <p:nvPr/>
        </p:nvCxnSpPr>
        <p:spPr>
          <a:xfrm>
            <a:off x="1741200" y="3486150"/>
            <a:ext cx="156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27"/>
          <p:cNvCxnSpPr/>
          <p:nvPr/>
        </p:nvCxnSpPr>
        <p:spPr>
          <a:xfrm>
            <a:off x="1741200" y="4095750"/>
            <a:ext cx="156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" name="Google Shape;177;p27"/>
          <p:cNvCxnSpPr/>
          <p:nvPr/>
        </p:nvCxnSpPr>
        <p:spPr>
          <a:xfrm>
            <a:off x="1741200" y="4742750"/>
            <a:ext cx="156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27"/>
          <p:cNvCxnSpPr/>
          <p:nvPr/>
        </p:nvCxnSpPr>
        <p:spPr>
          <a:xfrm>
            <a:off x="4441075" y="1032150"/>
            <a:ext cx="2086200" cy="17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27"/>
          <p:cNvCxnSpPr/>
          <p:nvPr/>
        </p:nvCxnSpPr>
        <p:spPr>
          <a:xfrm>
            <a:off x="4467610" y="1686450"/>
            <a:ext cx="2059800" cy="111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27"/>
          <p:cNvCxnSpPr>
            <a:endCxn id="169" idx="1"/>
          </p:cNvCxnSpPr>
          <p:nvPr/>
        </p:nvCxnSpPr>
        <p:spPr>
          <a:xfrm>
            <a:off x="4441072" y="2253150"/>
            <a:ext cx="2086200" cy="55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27"/>
          <p:cNvCxnSpPr>
            <a:endCxn id="169" idx="1"/>
          </p:cNvCxnSpPr>
          <p:nvPr/>
        </p:nvCxnSpPr>
        <p:spPr>
          <a:xfrm>
            <a:off x="4470172" y="2798550"/>
            <a:ext cx="20571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" name="Google Shape;182;p27"/>
          <p:cNvCxnSpPr/>
          <p:nvPr/>
        </p:nvCxnSpPr>
        <p:spPr>
          <a:xfrm flipH="1" rot="10800000">
            <a:off x="4566834" y="2804250"/>
            <a:ext cx="1960500" cy="5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" name="Google Shape;183;p27"/>
          <p:cNvCxnSpPr/>
          <p:nvPr/>
        </p:nvCxnSpPr>
        <p:spPr>
          <a:xfrm flipH="1" rot="10800000">
            <a:off x="4606632" y="2804375"/>
            <a:ext cx="1920600" cy="109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" name="Google Shape;184;p27"/>
          <p:cNvCxnSpPr/>
          <p:nvPr/>
        </p:nvCxnSpPr>
        <p:spPr>
          <a:xfrm flipH="1" rot="10800000">
            <a:off x="4599909" y="2804250"/>
            <a:ext cx="1927500" cy="191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MapReduce</a:t>
            </a:r>
            <a:endParaRPr/>
          </a:p>
        </p:txBody>
      </p:sp>
      <p:sp>
        <p:nvSpPr>
          <p:cNvPr id="190" name="Google Shape;190;p28"/>
          <p:cNvSpPr txBox="1"/>
          <p:nvPr>
            <p:ph idx="1" type="body"/>
          </p:nvPr>
        </p:nvSpPr>
        <p:spPr>
          <a:xfrm>
            <a:off x="199750" y="706410"/>
            <a:ext cx="8944200" cy="38625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Map: </a:t>
            </a:r>
            <a:r>
              <a:rPr lang="pt-BR"/>
              <a:t>Transformar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BR"/>
              <a:t>Reduce:</a:t>
            </a:r>
            <a:r>
              <a:rPr lang="pt-BR"/>
              <a:t> Agregar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MapReduce - Hadoop</a:t>
            </a:r>
            <a:endParaRPr/>
          </a:p>
        </p:txBody>
      </p:sp>
      <p:sp>
        <p:nvSpPr>
          <p:cNvPr id="196" name="Google Shape;196;p29"/>
          <p:cNvSpPr txBox="1"/>
          <p:nvPr>
            <p:ph idx="1" type="body"/>
          </p:nvPr>
        </p:nvSpPr>
        <p:spPr>
          <a:xfrm>
            <a:off x="199750" y="706410"/>
            <a:ext cx="8944200" cy="38625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Map: </a:t>
            </a:r>
            <a:r>
              <a:rPr lang="pt-BR"/>
              <a:t>Transformar blocos ou pedaços dos blocos, gerar resultado intermediário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/>
              <a:t>Reduce:</a:t>
            </a:r>
            <a:r>
              <a:rPr lang="pt-BR"/>
              <a:t> Usar resultado do Map para agregar e produzir resultado final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BR"/>
              <a:t>Framework:</a:t>
            </a:r>
            <a:r>
              <a:rPr lang="pt-BR"/>
              <a:t> Monitora e abstrai todos os desafios de processamento distribuído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Problema</a:t>
            </a:r>
            <a:endParaRPr/>
          </a:p>
        </p:txBody>
      </p:sp>
      <p:pic>
        <p:nvPicPr>
          <p:cNvPr id="202" name="Google Shape;2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47775"/>
            <a:ext cx="8839202" cy="279666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0"/>
          <p:cNvSpPr/>
          <p:nvPr/>
        </p:nvSpPr>
        <p:spPr>
          <a:xfrm>
            <a:off x="348900" y="3757900"/>
            <a:ext cx="1112100" cy="73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TXT de 10TB</a:t>
            </a:r>
            <a:endParaRPr/>
          </a:p>
        </p:txBody>
      </p:sp>
      <p:sp>
        <p:nvSpPr>
          <p:cNvPr id="204" name="Google Shape;204;p30"/>
          <p:cNvSpPr/>
          <p:nvPr/>
        </p:nvSpPr>
        <p:spPr>
          <a:xfrm>
            <a:off x="2107675" y="3684975"/>
            <a:ext cx="1112100" cy="73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Blocos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HDFS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/>
          <p:nvPr>
            <p:ph type="title"/>
          </p:nvPr>
        </p:nvSpPr>
        <p:spPr>
          <a:xfrm>
            <a:off x="199725" y="0"/>
            <a:ext cx="89442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/>
              <a:t>Problema: Como contar quantas x a mesma palavra apareceu</a:t>
            </a:r>
            <a:endParaRPr sz="2700"/>
          </a:p>
        </p:txBody>
      </p:sp>
      <p:pic>
        <p:nvPicPr>
          <p:cNvPr id="210" name="Google Shape;21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47775"/>
            <a:ext cx="8839202" cy="279666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1"/>
          <p:cNvSpPr/>
          <p:nvPr/>
        </p:nvSpPr>
        <p:spPr>
          <a:xfrm>
            <a:off x="348900" y="3757900"/>
            <a:ext cx="1112100" cy="73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TXT de 10TB</a:t>
            </a:r>
            <a:endParaRPr/>
          </a:p>
        </p:txBody>
      </p:sp>
      <p:sp>
        <p:nvSpPr>
          <p:cNvPr id="212" name="Google Shape;212;p31"/>
          <p:cNvSpPr/>
          <p:nvPr/>
        </p:nvSpPr>
        <p:spPr>
          <a:xfrm>
            <a:off x="2107675" y="3684975"/>
            <a:ext cx="1112100" cy="73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Blocos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HDFS</a:t>
            </a:r>
            <a:endParaRPr/>
          </a:p>
        </p:txBody>
      </p:sp>
      <p:sp>
        <p:nvSpPr>
          <p:cNvPr id="213" name="Google Shape;213;p31"/>
          <p:cNvSpPr txBox="1"/>
          <p:nvPr>
            <p:ph idx="1" type="body"/>
          </p:nvPr>
        </p:nvSpPr>
        <p:spPr>
          <a:xfrm>
            <a:off x="199750" y="706410"/>
            <a:ext cx="8944200" cy="38625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Ler o arquivo linha por linha? </a:t>
            </a:r>
            <a:br>
              <a:rPr lang="pt-BR"/>
            </a:br>
            <a:r>
              <a:rPr lang="pt-BR"/>
              <a:t>Manter um contador por palavra distinta?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type="title"/>
          </p:nvPr>
        </p:nvSpPr>
        <p:spPr>
          <a:xfrm>
            <a:off x="199725" y="0"/>
            <a:ext cx="89442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/>
              <a:t>Problema: Como contar quantas x a mesma palavra apareceu</a:t>
            </a:r>
            <a:endParaRPr sz="2700"/>
          </a:p>
        </p:txBody>
      </p:sp>
      <p:pic>
        <p:nvPicPr>
          <p:cNvPr id="219" name="Google Shape;21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47775"/>
            <a:ext cx="8839202" cy="279666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2"/>
          <p:cNvSpPr/>
          <p:nvPr/>
        </p:nvSpPr>
        <p:spPr>
          <a:xfrm>
            <a:off x="348900" y="3757900"/>
            <a:ext cx="1112100" cy="73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TXT de 10TB</a:t>
            </a:r>
            <a:endParaRPr/>
          </a:p>
        </p:txBody>
      </p:sp>
      <p:sp>
        <p:nvSpPr>
          <p:cNvPr id="221" name="Google Shape;221;p32"/>
          <p:cNvSpPr/>
          <p:nvPr/>
        </p:nvSpPr>
        <p:spPr>
          <a:xfrm>
            <a:off x="2107675" y="3684975"/>
            <a:ext cx="1112100" cy="73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Blocos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HDFS</a:t>
            </a:r>
            <a:endParaRPr/>
          </a:p>
        </p:txBody>
      </p:sp>
      <p:sp>
        <p:nvSpPr>
          <p:cNvPr id="222" name="Google Shape;222;p32"/>
          <p:cNvSpPr txBox="1"/>
          <p:nvPr>
            <p:ph idx="1" type="body"/>
          </p:nvPr>
        </p:nvSpPr>
        <p:spPr>
          <a:xfrm>
            <a:off x="199750" y="706407"/>
            <a:ext cx="8944200" cy="10164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Cada datanode pode contar as palavras dos blocos</a:t>
            </a:r>
            <a:br>
              <a:rPr lang="pt-BR"/>
            </a:br>
            <a:r>
              <a:rPr lang="pt-BR"/>
              <a:t>Depois, apenas os contadores das mesmas palavras são somados</a:t>
            </a:r>
            <a:endParaRPr/>
          </a:p>
        </p:txBody>
      </p:sp>
      <p:pic>
        <p:nvPicPr>
          <p:cNvPr descr="Image result for cog" id="223" name="Google Shape;22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9700" y="18354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24" name="Google Shape;22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1975" y="18354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25" name="Google Shape;22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4250" y="18354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26" name="Google Shape;22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6525" y="18354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27" name="Google Shape;22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8800" y="18354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28" name="Google Shape;22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1075" y="18354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29" name="Google Shape;22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3350" y="18354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30" name="Google Shape;23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5625" y="18354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31" name="Google Shape;23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9700" y="2673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32" name="Google Shape;23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1975" y="2673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33" name="Google Shape;23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4250" y="2673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34" name="Google Shape;23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6525" y="2673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35" name="Google Shape;23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8800" y="2673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36" name="Google Shape;23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1075" y="2673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37" name="Google Shape;23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3350" y="2673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38" name="Google Shape;23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5625" y="2673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39" name="Google Shape;23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9700" y="3435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40" name="Google Shape;24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1975" y="3435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41" name="Google Shape;24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4250" y="3435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42" name="Google Shape;24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6525" y="3435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43" name="Google Shape;24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8800" y="3435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44" name="Google Shape;24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1075" y="3435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45" name="Google Shape;24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3350" y="3435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46" name="Google Shape;24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5625" y="3435667"/>
            <a:ext cx="344450" cy="34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 txBox="1"/>
          <p:nvPr>
            <p:ph type="title"/>
          </p:nvPr>
        </p:nvSpPr>
        <p:spPr>
          <a:xfrm>
            <a:off x="199725" y="0"/>
            <a:ext cx="89442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/>
              <a:t>Problema: Como contar quantas x a mesma palavra apareceu</a:t>
            </a:r>
            <a:endParaRPr sz="2700"/>
          </a:p>
        </p:txBody>
      </p:sp>
      <p:pic>
        <p:nvPicPr>
          <p:cNvPr id="252" name="Google Shape;25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47775"/>
            <a:ext cx="8839202" cy="2796666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3"/>
          <p:cNvSpPr/>
          <p:nvPr/>
        </p:nvSpPr>
        <p:spPr>
          <a:xfrm>
            <a:off x="348900" y="3757900"/>
            <a:ext cx="1112100" cy="73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TXT de 10TB</a:t>
            </a:r>
            <a:endParaRPr/>
          </a:p>
        </p:txBody>
      </p:sp>
      <p:sp>
        <p:nvSpPr>
          <p:cNvPr id="254" name="Google Shape;254;p33"/>
          <p:cNvSpPr/>
          <p:nvPr/>
        </p:nvSpPr>
        <p:spPr>
          <a:xfrm>
            <a:off x="2107675" y="3684975"/>
            <a:ext cx="1112100" cy="73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Blocos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HDFS</a:t>
            </a:r>
            <a:endParaRPr/>
          </a:p>
        </p:txBody>
      </p:sp>
      <p:sp>
        <p:nvSpPr>
          <p:cNvPr id="255" name="Google Shape;255;p33"/>
          <p:cNvSpPr txBox="1"/>
          <p:nvPr>
            <p:ph idx="1" type="body"/>
          </p:nvPr>
        </p:nvSpPr>
        <p:spPr>
          <a:xfrm>
            <a:off x="199750" y="706407"/>
            <a:ext cx="8944200" cy="10164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>
                <a:solidFill>
                  <a:srgbClr val="FF0000"/>
                </a:solidFill>
              </a:rPr>
              <a:t>Map</a:t>
            </a:r>
            <a:r>
              <a:rPr b="1" lang="pt-BR"/>
              <a:t>:</a:t>
            </a:r>
            <a:r>
              <a:rPr lang="pt-BR"/>
              <a:t> </a:t>
            </a:r>
            <a:r>
              <a:rPr lang="pt-BR"/>
              <a:t>Cada datanode pode contar as palavras dos blocos</a:t>
            </a:r>
            <a:br>
              <a:rPr lang="pt-BR"/>
            </a:br>
            <a:r>
              <a:rPr b="1" lang="pt-BR">
                <a:solidFill>
                  <a:srgbClr val="FF0000"/>
                </a:solidFill>
              </a:rPr>
              <a:t>Reduce</a:t>
            </a:r>
            <a:r>
              <a:rPr lang="pt-BR"/>
              <a:t>: Depois, apenas os contadores das mesmas palavras são somados</a:t>
            </a:r>
            <a:endParaRPr/>
          </a:p>
        </p:txBody>
      </p:sp>
      <p:pic>
        <p:nvPicPr>
          <p:cNvPr descr="Image result for cog" id="256" name="Google Shape;25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9700" y="18354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57" name="Google Shape;25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1975" y="18354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58" name="Google Shape;25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4250" y="18354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59" name="Google Shape;25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6525" y="18354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60" name="Google Shape;26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8800" y="18354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61" name="Google Shape;26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1075" y="18354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62" name="Google Shape;26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3350" y="18354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63" name="Google Shape;26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5625" y="18354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64" name="Google Shape;26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9700" y="2673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65" name="Google Shape;26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1975" y="2673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66" name="Google Shape;26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4250" y="2673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67" name="Google Shape;26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6525" y="2673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68" name="Google Shape;26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8800" y="2673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69" name="Google Shape;26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1075" y="2673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70" name="Google Shape;27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3350" y="2673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71" name="Google Shape;27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5625" y="2673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72" name="Google Shape;27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9700" y="3435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73" name="Google Shape;27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1975" y="3435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74" name="Google Shape;27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4250" y="3435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75" name="Google Shape;27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6525" y="3435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76" name="Google Shape;2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8800" y="3435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77" name="Google Shape;2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1075" y="3435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78" name="Google Shape;27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3350" y="34356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279" name="Google Shape;27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5625" y="3435667"/>
            <a:ext cx="344450" cy="34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Perguntas</a:t>
            </a:r>
            <a:endParaRPr/>
          </a:p>
        </p:txBody>
      </p:sp>
      <p:sp>
        <p:nvSpPr>
          <p:cNvPr id="285" name="Google Shape;285;p34"/>
          <p:cNvSpPr txBox="1"/>
          <p:nvPr>
            <p:ph idx="1" type="body"/>
          </p:nvPr>
        </p:nvSpPr>
        <p:spPr>
          <a:xfrm>
            <a:off x="199750" y="706407"/>
            <a:ext cx="8944200" cy="12561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a função de map vai “ler” as linhas de um bloco?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Como cada um dos maps, de nodes distintos, serão enviados para a função final de reduce?</a:t>
            </a:r>
            <a:endParaRPr/>
          </a:p>
        </p:txBody>
      </p:sp>
      <p:pic>
        <p:nvPicPr>
          <p:cNvPr descr="Image result for mapreduce logo" id="286" name="Google Shape;286;p34"/>
          <p:cNvPicPr preferRelativeResize="0"/>
          <p:nvPr/>
        </p:nvPicPr>
        <p:blipFill rotWithShape="1">
          <a:blip r:embed="rId3">
            <a:alphaModFix/>
          </a:blip>
          <a:srcRect b="6491" l="7711" r="5051" t="3345"/>
          <a:stretch/>
        </p:blipFill>
        <p:spPr>
          <a:xfrm>
            <a:off x="3433613" y="2602217"/>
            <a:ext cx="2276759" cy="63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Perguntas</a:t>
            </a:r>
            <a:endParaRPr/>
          </a:p>
        </p:txBody>
      </p:sp>
      <p:sp>
        <p:nvSpPr>
          <p:cNvPr id="292" name="Google Shape;292;p35"/>
          <p:cNvSpPr txBox="1"/>
          <p:nvPr>
            <p:ph idx="1" type="body"/>
          </p:nvPr>
        </p:nvSpPr>
        <p:spPr>
          <a:xfrm>
            <a:off x="199750" y="706407"/>
            <a:ext cx="8944200" cy="12561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a função de map vai “ler” as linhas de um bloco?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Como cada um dos maps, de nodes distintos, serão enviados para a função final de reduce?</a:t>
            </a:r>
            <a:endParaRPr/>
          </a:p>
        </p:txBody>
      </p:sp>
      <p:pic>
        <p:nvPicPr>
          <p:cNvPr descr="Image result for mapreduce logo" id="293" name="Google Shape;293;p35"/>
          <p:cNvPicPr preferRelativeResize="0"/>
          <p:nvPr/>
        </p:nvPicPr>
        <p:blipFill rotWithShape="1">
          <a:blip r:embed="rId3">
            <a:alphaModFix/>
          </a:blip>
          <a:srcRect b="6491" l="7711" r="5051" t="3345"/>
          <a:stretch/>
        </p:blipFill>
        <p:spPr>
          <a:xfrm>
            <a:off x="5872013" y="2602217"/>
            <a:ext cx="2276759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175" y="2067042"/>
            <a:ext cx="5476857" cy="1601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Passo a passo</a:t>
            </a:r>
            <a:endParaRPr/>
          </a:p>
        </p:txBody>
      </p:sp>
      <p:pic>
        <p:nvPicPr>
          <p:cNvPr id="300" name="Google Shape;30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2600" y="1275800"/>
            <a:ext cx="5858800" cy="232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Passo 1: Dividir o input</a:t>
            </a:r>
            <a:endParaRPr/>
          </a:p>
        </p:txBody>
      </p:sp>
      <p:pic>
        <p:nvPicPr>
          <p:cNvPr id="306" name="Google Shape;30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2600" y="1123400"/>
            <a:ext cx="5858800" cy="232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7"/>
          <p:cNvSpPr txBox="1"/>
          <p:nvPr>
            <p:ph idx="1" type="body"/>
          </p:nvPr>
        </p:nvSpPr>
        <p:spPr>
          <a:xfrm>
            <a:off x="156125" y="435907"/>
            <a:ext cx="8944200" cy="10089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Depende do número de blocos, parâmetros etc.</a:t>
            </a:r>
            <a:endParaRPr/>
          </a:p>
        </p:txBody>
      </p:sp>
      <p:pic>
        <p:nvPicPr>
          <p:cNvPr id="308" name="Google Shape;30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8575" y="3660475"/>
            <a:ext cx="3393874" cy="1127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9" name="Google Shape;309;p37"/>
          <p:cNvCxnSpPr/>
          <p:nvPr/>
        </p:nvCxnSpPr>
        <p:spPr>
          <a:xfrm>
            <a:off x="2209675" y="2914750"/>
            <a:ext cx="828600" cy="86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37"/>
          <p:cNvCxnSpPr/>
          <p:nvPr/>
        </p:nvCxnSpPr>
        <p:spPr>
          <a:xfrm rot="10800000">
            <a:off x="3648775" y="3038250"/>
            <a:ext cx="719700" cy="75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37"/>
          <p:cNvCxnSpPr/>
          <p:nvPr/>
        </p:nvCxnSpPr>
        <p:spPr>
          <a:xfrm rot="10800000">
            <a:off x="2798575" y="2921925"/>
            <a:ext cx="872100" cy="87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" name="Google Shape;312;p37"/>
          <p:cNvCxnSpPr/>
          <p:nvPr/>
        </p:nvCxnSpPr>
        <p:spPr>
          <a:xfrm rot="10800000">
            <a:off x="2791125" y="1715450"/>
            <a:ext cx="2217000" cy="210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37"/>
          <p:cNvCxnSpPr/>
          <p:nvPr/>
        </p:nvCxnSpPr>
        <p:spPr>
          <a:xfrm rot="10800000">
            <a:off x="2187800" y="1737325"/>
            <a:ext cx="247200" cy="27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37"/>
          <p:cNvCxnSpPr/>
          <p:nvPr/>
        </p:nvCxnSpPr>
        <p:spPr>
          <a:xfrm flipH="1">
            <a:off x="2434900" y="1846250"/>
            <a:ext cx="51000" cy="199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8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Passo 2: Disparar map() em cada split </a:t>
            </a:r>
            <a:endParaRPr/>
          </a:p>
        </p:txBody>
      </p:sp>
      <p:pic>
        <p:nvPicPr>
          <p:cNvPr id="320" name="Google Shape;32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2600" y="1123400"/>
            <a:ext cx="5858800" cy="232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8"/>
          <p:cNvSpPr txBox="1"/>
          <p:nvPr>
            <p:ph idx="1" type="body"/>
          </p:nvPr>
        </p:nvSpPr>
        <p:spPr>
          <a:xfrm>
            <a:off x="156125" y="435907"/>
            <a:ext cx="8944200" cy="10089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Cada bloco, por exemplo</a:t>
            </a:r>
            <a:endParaRPr/>
          </a:p>
        </p:txBody>
      </p:sp>
      <p:pic>
        <p:nvPicPr>
          <p:cNvPr id="322" name="Google Shape;32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8575" y="3660475"/>
            <a:ext cx="3393874" cy="1127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3" name="Google Shape;323;p38"/>
          <p:cNvCxnSpPr/>
          <p:nvPr/>
        </p:nvCxnSpPr>
        <p:spPr>
          <a:xfrm>
            <a:off x="2209675" y="2914750"/>
            <a:ext cx="828600" cy="86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38"/>
          <p:cNvCxnSpPr/>
          <p:nvPr/>
        </p:nvCxnSpPr>
        <p:spPr>
          <a:xfrm rot="10800000">
            <a:off x="3648775" y="3038250"/>
            <a:ext cx="719700" cy="75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38"/>
          <p:cNvCxnSpPr/>
          <p:nvPr/>
        </p:nvCxnSpPr>
        <p:spPr>
          <a:xfrm rot="10800000">
            <a:off x="2798575" y="2921925"/>
            <a:ext cx="872100" cy="87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38"/>
          <p:cNvCxnSpPr/>
          <p:nvPr/>
        </p:nvCxnSpPr>
        <p:spPr>
          <a:xfrm rot="10800000">
            <a:off x="2791125" y="1715450"/>
            <a:ext cx="2217000" cy="210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38"/>
          <p:cNvCxnSpPr/>
          <p:nvPr/>
        </p:nvCxnSpPr>
        <p:spPr>
          <a:xfrm rot="10800000">
            <a:off x="2187800" y="1737325"/>
            <a:ext cx="247200" cy="27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38"/>
          <p:cNvCxnSpPr/>
          <p:nvPr/>
        </p:nvCxnSpPr>
        <p:spPr>
          <a:xfrm flipH="1">
            <a:off x="2434900" y="1846250"/>
            <a:ext cx="51000" cy="199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cog" id="329" name="Google Shape;329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08125" y="3579942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330" name="Google Shape;330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08125" y="41339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331" name="Google Shape;331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8525" y="3656142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332" name="Google Shape;332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8525" y="42101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333" name="Google Shape;333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2725" y="3656142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334" name="Google Shape;334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2725" y="42101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335" name="Google Shape;335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3125" y="3656142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336" name="Google Shape;336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3125" y="42101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337" name="Google Shape;337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93525" y="3656142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338" name="Google Shape;338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93525" y="4210167"/>
            <a:ext cx="344450" cy="34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9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Passo 3: Monitorar todos os maps </a:t>
            </a:r>
            <a:endParaRPr/>
          </a:p>
        </p:txBody>
      </p:sp>
      <p:pic>
        <p:nvPicPr>
          <p:cNvPr id="344" name="Google Shape;34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2600" y="1123400"/>
            <a:ext cx="5858800" cy="232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9"/>
          <p:cNvSpPr txBox="1"/>
          <p:nvPr>
            <p:ph idx="1" type="body"/>
          </p:nvPr>
        </p:nvSpPr>
        <p:spPr>
          <a:xfrm>
            <a:off x="156125" y="435907"/>
            <a:ext cx="8944200" cy="10089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Erros, interrupções etc.</a:t>
            </a:r>
            <a:endParaRPr/>
          </a:p>
        </p:txBody>
      </p:sp>
      <p:pic>
        <p:nvPicPr>
          <p:cNvPr id="346" name="Google Shape;34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8575" y="3660475"/>
            <a:ext cx="3393874" cy="1127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7" name="Google Shape;347;p39"/>
          <p:cNvCxnSpPr/>
          <p:nvPr/>
        </p:nvCxnSpPr>
        <p:spPr>
          <a:xfrm>
            <a:off x="2209675" y="2914750"/>
            <a:ext cx="828600" cy="86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39"/>
          <p:cNvCxnSpPr/>
          <p:nvPr/>
        </p:nvCxnSpPr>
        <p:spPr>
          <a:xfrm rot="10800000">
            <a:off x="3648775" y="3038250"/>
            <a:ext cx="719700" cy="75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39"/>
          <p:cNvCxnSpPr/>
          <p:nvPr/>
        </p:nvCxnSpPr>
        <p:spPr>
          <a:xfrm rot="10800000">
            <a:off x="2798575" y="2921925"/>
            <a:ext cx="872100" cy="87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39"/>
          <p:cNvCxnSpPr/>
          <p:nvPr/>
        </p:nvCxnSpPr>
        <p:spPr>
          <a:xfrm rot="10800000">
            <a:off x="2791125" y="1715450"/>
            <a:ext cx="2217000" cy="210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39"/>
          <p:cNvCxnSpPr/>
          <p:nvPr/>
        </p:nvCxnSpPr>
        <p:spPr>
          <a:xfrm rot="10800000">
            <a:off x="2187800" y="1737325"/>
            <a:ext cx="247200" cy="27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39"/>
          <p:cNvCxnSpPr/>
          <p:nvPr/>
        </p:nvCxnSpPr>
        <p:spPr>
          <a:xfrm flipH="1">
            <a:off x="2434900" y="1846250"/>
            <a:ext cx="51000" cy="199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cog" id="353" name="Google Shape;353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08125" y="3579942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354" name="Google Shape;354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08125" y="41339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355" name="Google Shape;355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8525" y="3656142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356" name="Google Shape;356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8525" y="42101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357" name="Google Shape;357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2725" y="3656142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358" name="Google Shape;358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2725" y="42101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359" name="Google Shape;359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3125" y="3656142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360" name="Google Shape;360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3125" y="4210167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361" name="Google Shape;361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93525" y="3656142"/>
            <a:ext cx="344450" cy="34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362" name="Google Shape;362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93525" y="4210167"/>
            <a:ext cx="344450" cy="34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0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Passo 4: Gerar resultado intermediário que será usado </a:t>
            </a:r>
            <a:endParaRPr/>
          </a:p>
        </p:txBody>
      </p:sp>
      <p:pic>
        <p:nvPicPr>
          <p:cNvPr id="368" name="Google Shape;36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2600" y="1123400"/>
            <a:ext cx="5858800" cy="232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0"/>
          <p:cNvSpPr txBox="1"/>
          <p:nvPr>
            <p:ph idx="1" type="body"/>
          </p:nvPr>
        </p:nvSpPr>
        <p:spPr>
          <a:xfrm>
            <a:off x="156125" y="435907"/>
            <a:ext cx="8944200" cy="10089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Rearmazenar no próprio cluster (append de resultados)</a:t>
            </a:r>
            <a:endParaRPr/>
          </a:p>
        </p:txBody>
      </p:sp>
      <p:pic>
        <p:nvPicPr>
          <p:cNvPr descr="Image result for success  report icon" id="370" name="Google Shape;370;p40"/>
          <p:cNvPicPr preferRelativeResize="0"/>
          <p:nvPr/>
        </p:nvPicPr>
        <p:blipFill rotWithShape="1">
          <a:blip r:embed="rId4">
            <a:alphaModFix/>
          </a:blip>
          <a:srcRect b="59004" l="0" r="0" t="0"/>
          <a:stretch/>
        </p:blipFill>
        <p:spPr>
          <a:xfrm>
            <a:off x="2676650" y="3830581"/>
            <a:ext cx="868825" cy="35617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0"/>
          <p:cNvSpPr/>
          <p:nvPr/>
        </p:nvSpPr>
        <p:spPr>
          <a:xfrm>
            <a:off x="2907500" y="3016525"/>
            <a:ext cx="407100" cy="610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success  report icon" id="372" name="Google Shape;372;p40"/>
          <p:cNvPicPr preferRelativeResize="0"/>
          <p:nvPr/>
        </p:nvPicPr>
        <p:blipFill rotWithShape="1">
          <a:blip r:embed="rId4">
            <a:alphaModFix/>
          </a:blip>
          <a:srcRect b="59004" l="0" r="0" t="0"/>
          <a:stretch/>
        </p:blipFill>
        <p:spPr>
          <a:xfrm>
            <a:off x="2676650" y="4211581"/>
            <a:ext cx="868825" cy="35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373" name="Google Shape;373;p40"/>
          <p:cNvPicPr preferRelativeResize="0"/>
          <p:nvPr/>
        </p:nvPicPr>
        <p:blipFill rotWithShape="1">
          <a:blip r:embed="rId4">
            <a:alphaModFix/>
          </a:blip>
          <a:srcRect b="59004" l="0" r="0" t="0"/>
          <a:stretch/>
        </p:blipFill>
        <p:spPr>
          <a:xfrm>
            <a:off x="2676650" y="4592581"/>
            <a:ext cx="868825" cy="35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1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Passo 5: Disparar o reduce() em uma ou mais instâncias</a:t>
            </a:r>
            <a:endParaRPr/>
          </a:p>
        </p:txBody>
      </p:sp>
      <p:pic>
        <p:nvPicPr>
          <p:cNvPr id="379" name="Google Shape;37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2600" y="1123400"/>
            <a:ext cx="5858800" cy="232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1"/>
          <p:cNvSpPr txBox="1"/>
          <p:nvPr>
            <p:ph idx="1" type="body"/>
          </p:nvPr>
        </p:nvSpPr>
        <p:spPr>
          <a:xfrm>
            <a:off x="156125" y="435907"/>
            <a:ext cx="8944200" cy="10089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Tamanho do resultado intermediário (blocos) também pode determinar</a:t>
            </a:r>
            <a:endParaRPr/>
          </a:p>
        </p:txBody>
      </p:sp>
      <p:pic>
        <p:nvPicPr>
          <p:cNvPr descr="Image result for cog" id="381" name="Google Shape;38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7000" y="1937217"/>
            <a:ext cx="344450" cy="34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2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Passo 6: Gerar resultado final</a:t>
            </a:r>
            <a:endParaRPr/>
          </a:p>
        </p:txBody>
      </p:sp>
      <p:pic>
        <p:nvPicPr>
          <p:cNvPr id="387" name="Google Shape;38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2600" y="1123400"/>
            <a:ext cx="5858800" cy="232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2"/>
          <p:cNvSpPr txBox="1"/>
          <p:nvPr>
            <p:ph idx="1" type="body"/>
          </p:nvPr>
        </p:nvSpPr>
        <p:spPr>
          <a:xfrm>
            <a:off x="156125" y="435907"/>
            <a:ext cx="8944200" cy="10089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Armazenar o resultado final também no cluster</a:t>
            </a:r>
            <a:endParaRPr/>
          </a:p>
        </p:txBody>
      </p:sp>
      <p:pic>
        <p:nvPicPr>
          <p:cNvPr descr="Image result for success  report icon" id="389" name="Google Shape;389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03975" y="1850517"/>
            <a:ext cx="868825" cy="8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3"/>
          <p:cNvSpPr txBox="1"/>
          <p:nvPr>
            <p:ph type="ctrTitle"/>
          </p:nvPr>
        </p:nvSpPr>
        <p:spPr>
          <a:xfrm>
            <a:off x="150300" y="460687"/>
            <a:ext cx="88434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700"/>
              <a:t>MapReduce </a:t>
            </a:r>
            <a:endParaRPr sz="3700"/>
          </a:p>
        </p:txBody>
      </p:sp>
      <p:sp>
        <p:nvSpPr>
          <p:cNvPr id="395" name="Google Shape;395;p43"/>
          <p:cNvSpPr txBox="1"/>
          <p:nvPr>
            <p:ph idx="1" type="subTitle"/>
          </p:nvPr>
        </p:nvSpPr>
        <p:spPr>
          <a:xfrm>
            <a:off x="150300" y="1278450"/>
            <a:ext cx="83328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4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Sequência completa</a:t>
            </a:r>
            <a:endParaRPr/>
          </a:p>
        </p:txBody>
      </p:sp>
      <p:sp>
        <p:nvSpPr>
          <p:cNvPr id="401" name="Google Shape;401;p44"/>
          <p:cNvSpPr/>
          <p:nvPr/>
        </p:nvSpPr>
        <p:spPr>
          <a:xfrm>
            <a:off x="3026289" y="1470762"/>
            <a:ext cx="3091500" cy="49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latin typeface="Calibri"/>
                <a:ea typeface="Calibri"/>
                <a:cs typeface="Calibri"/>
                <a:sym typeface="Calibri"/>
              </a:rPr>
              <a:t>Map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44"/>
          <p:cNvSpPr/>
          <p:nvPr/>
        </p:nvSpPr>
        <p:spPr>
          <a:xfrm>
            <a:off x="2431350" y="2189025"/>
            <a:ext cx="4281300" cy="31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conjunto de key/value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cog" id="403" name="Google Shape;40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0657" y="1470768"/>
            <a:ext cx="397029" cy="3716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4" name="Google Shape;404;p44"/>
          <p:cNvCxnSpPr>
            <a:stCxn id="405" idx="2"/>
            <a:endCxn id="401" idx="0"/>
          </p:cNvCxnSpPr>
          <p:nvPr/>
        </p:nvCxnSpPr>
        <p:spPr>
          <a:xfrm>
            <a:off x="4572039" y="1250862"/>
            <a:ext cx="0" cy="219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6" name="Google Shape;406;p44"/>
          <p:cNvCxnSpPr>
            <a:stCxn id="401" idx="2"/>
            <a:endCxn id="402" idx="0"/>
          </p:cNvCxnSpPr>
          <p:nvPr/>
        </p:nvCxnSpPr>
        <p:spPr>
          <a:xfrm>
            <a:off x="4572039" y="1969362"/>
            <a:ext cx="0" cy="219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7" name="Google Shape;407;p44"/>
          <p:cNvSpPr/>
          <p:nvPr/>
        </p:nvSpPr>
        <p:spPr>
          <a:xfrm>
            <a:off x="3026289" y="2722461"/>
            <a:ext cx="3091500" cy="49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latin typeface="Calibri"/>
                <a:ea typeface="Calibri"/>
                <a:cs typeface="Calibri"/>
                <a:sym typeface="Calibri"/>
              </a:rPr>
              <a:t>Shuffle and Sort</a:t>
            </a:r>
            <a:br>
              <a:rPr lang="pt-BR" sz="1500">
                <a:latin typeface="Calibri"/>
                <a:ea typeface="Calibri"/>
                <a:cs typeface="Calibri"/>
                <a:sym typeface="Calibri"/>
              </a:rPr>
            </a:br>
            <a:r>
              <a:rPr lang="pt-BR" sz="800">
                <a:latin typeface="Calibri"/>
                <a:ea typeface="Calibri"/>
                <a:cs typeface="Calibri"/>
                <a:sym typeface="Calibri"/>
              </a:rPr>
              <a:t>(embaralhar e ordenar)</a:t>
            </a:r>
            <a:endParaRPr sz="4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8" name="Google Shape;408;p44"/>
          <p:cNvCxnSpPr>
            <a:stCxn id="402" idx="2"/>
            <a:endCxn id="407" idx="0"/>
          </p:cNvCxnSpPr>
          <p:nvPr/>
        </p:nvCxnSpPr>
        <p:spPr>
          <a:xfrm>
            <a:off x="4572000" y="2502825"/>
            <a:ext cx="0" cy="219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Image result for cog" id="409" name="Google Shape;40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0657" y="2722459"/>
            <a:ext cx="397029" cy="371646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44"/>
          <p:cNvSpPr/>
          <p:nvPr/>
        </p:nvSpPr>
        <p:spPr>
          <a:xfrm>
            <a:off x="2431350" y="3441749"/>
            <a:ext cx="4281300" cy="31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conjunto agregado de key/[ lista de values]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1" name="Google Shape;411;p44"/>
          <p:cNvCxnSpPr>
            <a:endCxn id="410" idx="0"/>
          </p:cNvCxnSpPr>
          <p:nvPr/>
        </p:nvCxnSpPr>
        <p:spPr>
          <a:xfrm>
            <a:off x="4572000" y="3221849"/>
            <a:ext cx="0" cy="219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2" name="Google Shape;412;p44"/>
          <p:cNvSpPr/>
          <p:nvPr/>
        </p:nvSpPr>
        <p:spPr>
          <a:xfrm>
            <a:off x="3026289" y="3975184"/>
            <a:ext cx="3091500" cy="49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latin typeface="Calibri"/>
                <a:ea typeface="Calibri"/>
                <a:cs typeface="Calibri"/>
                <a:sym typeface="Calibri"/>
              </a:rPr>
              <a:t>Reduce</a:t>
            </a:r>
            <a:endParaRPr sz="5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3" name="Google Shape;413;p44"/>
          <p:cNvCxnSpPr>
            <a:stCxn id="410" idx="2"/>
            <a:endCxn id="412" idx="0"/>
          </p:cNvCxnSpPr>
          <p:nvPr/>
        </p:nvCxnSpPr>
        <p:spPr>
          <a:xfrm>
            <a:off x="4572000" y="3755549"/>
            <a:ext cx="0" cy="219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Image result for cog" id="414" name="Google Shape;41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0657" y="3976208"/>
            <a:ext cx="397029" cy="371646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44"/>
          <p:cNvSpPr/>
          <p:nvPr/>
        </p:nvSpPr>
        <p:spPr>
          <a:xfrm>
            <a:off x="2431350" y="4694472"/>
            <a:ext cx="4281300" cy="31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conjunto de key/value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6" name="Google Shape;416;p44"/>
          <p:cNvCxnSpPr>
            <a:endCxn id="415" idx="0"/>
          </p:cNvCxnSpPr>
          <p:nvPr/>
        </p:nvCxnSpPr>
        <p:spPr>
          <a:xfrm>
            <a:off x="4572000" y="4474572"/>
            <a:ext cx="0" cy="219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7" name="Google Shape;417;p44"/>
          <p:cNvSpPr/>
          <p:nvPr/>
        </p:nvSpPr>
        <p:spPr>
          <a:xfrm>
            <a:off x="2431400" y="937275"/>
            <a:ext cx="4281300" cy="31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Input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mapreduce logo" id="418" name="Google Shape;418;p44"/>
          <p:cNvPicPr preferRelativeResize="0"/>
          <p:nvPr/>
        </p:nvPicPr>
        <p:blipFill rotWithShape="1">
          <a:blip r:embed="rId4">
            <a:alphaModFix/>
          </a:blip>
          <a:srcRect b="6491" l="7711" r="5051" t="3345"/>
          <a:stretch/>
        </p:blipFill>
        <p:spPr>
          <a:xfrm>
            <a:off x="1296646" y="2754348"/>
            <a:ext cx="1562091" cy="43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4"/>
          <p:cNvSpPr txBox="1"/>
          <p:nvPr/>
        </p:nvSpPr>
        <p:spPr>
          <a:xfrm>
            <a:off x="6712650" y="1475850"/>
            <a:ext cx="24312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latin typeface="Calibri"/>
                <a:ea typeface="Calibri"/>
                <a:cs typeface="Calibri"/>
                <a:sym typeface="Calibri"/>
              </a:rPr>
              <a:t>Cada node emite pares de key-value com base no registro de entrada, um registro por vez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44"/>
          <p:cNvSpPr txBox="1"/>
          <p:nvPr/>
        </p:nvSpPr>
        <p:spPr>
          <a:xfrm>
            <a:off x="6712650" y="2754350"/>
            <a:ext cx="2583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latin typeface="Calibri"/>
                <a:ea typeface="Calibri"/>
                <a:cs typeface="Calibri"/>
                <a:sym typeface="Calibri"/>
              </a:rPr>
              <a:t>Gerenciada pelo Hadoop. Transfere resultado dos mappers para reducers agregando por </a:t>
            </a:r>
            <a:r>
              <a:rPr lang="pt-B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44"/>
          <p:cNvSpPr txBox="1"/>
          <p:nvPr/>
        </p:nvSpPr>
        <p:spPr>
          <a:xfrm>
            <a:off x="6712650" y="3980275"/>
            <a:ext cx="24312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latin typeface="Calibri"/>
                <a:ea typeface="Calibri"/>
                <a:cs typeface="Calibri"/>
                <a:sym typeface="Calibri"/>
              </a:rPr>
              <a:t>Cada reducer recebe uma </a:t>
            </a:r>
            <a:r>
              <a:rPr lang="pt-B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r>
              <a:rPr lang="pt-BR" sz="900">
                <a:latin typeface="Calibri"/>
                <a:ea typeface="Calibri"/>
                <a:cs typeface="Calibri"/>
                <a:sym typeface="Calibri"/>
              </a:rPr>
              <a:t> e uma lista de values associados a essa </a:t>
            </a:r>
            <a:r>
              <a:rPr lang="pt-B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r>
              <a:rPr lang="pt-BR" sz="900">
                <a:latin typeface="Calibri"/>
                <a:ea typeface="Calibri"/>
                <a:cs typeface="Calibri"/>
                <a:sym typeface="Calibri"/>
              </a:rPr>
              <a:t>. Reducers emitem então zero ou mais pares key/value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5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MapReduce</a:t>
            </a:r>
            <a:endParaRPr/>
          </a:p>
        </p:txBody>
      </p:sp>
      <p:graphicFrame>
        <p:nvGraphicFramePr>
          <p:cNvPr id="427" name="Google Shape;427;p45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{2C10EBC2-7BE4-47AD-8BD9-168B8F2F506C}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id_usuario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nota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id_restaurante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visitou_em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43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3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b83d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1532046887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27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5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4g45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1516408487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19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1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b83d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1488414887</a:t>
                      </a:r>
                      <a:endParaRPr>
                        <a:solidFill>
                          <a:schemeClr val="dk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43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5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wqi4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1488674087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43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3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43gh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1527899687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27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3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xc19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1524184487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28" name="Google Shape;428;p45"/>
          <p:cNvSpPr txBox="1"/>
          <p:nvPr>
            <p:ph idx="1" type="body"/>
          </p:nvPr>
        </p:nvSpPr>
        <p:spPr>
          <a:xfrm>
            <a:off x="199750" y="1392205"/>
            <a:ext cx="2729400" cy="3633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Input: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6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Exemplo MapReduce</a:t>
            </a:r>
            <a:endParaRPr/>
          </a:p>
        </p:txBody>
      </p:sp>
      <p:graphicFrame>
        <p:nvGraphicFramePr>
          <p:cNvPr id="434" name="Google Shape;434;p46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{2C10EBC2-7BE4-47AD-8BD9-168B8F2F506C}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id_usuario</a:t>
                      </a:r>
                      <a:endParaRPr b="1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nota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id_restaurante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visitou_em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43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3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b83d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1532046887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27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5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4g45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1516408487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19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1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b83d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1488414887</a:t>
                      </a:r>
                      <a:endParaRPr>
                        <a:solidFill>
                          <a:schemeClr val="dk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solidFill>
                      <a:srgbClr val="EAD1D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43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5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wqi4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1488674087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43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3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43gh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1527899687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27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3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xc19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1524184487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435" name="Google Shape;435;p46"/>
          <p:cNvSpPr txBox="1"/>
          <p:nvPr>
            <p:ph idx="1" type="body"/>
          </p:nvPr>
        </p:nvSpPr>
        <p:spPr>
          <a:xfrm>
            <a:off x="199750" y="1392205"/>
            <a:ext cx="2729400" cy="3633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Input: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7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Exemplo MapReduce</a:t>
            </a:r>
            <a:endParaRPr/>
          </a:p>
        </p:txBody>
      </p:sp>
      <p:graphicFrame>
        <p:nvGraphicFramePr>
          <p:cNvPr id="441" name="Google Shape;441;p47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{2C10EBC2-7BE4-47AD-8BD9-168B8F2F506C}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id_usuario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nota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id_restaurante</a:t>
                      </a:r>
                      <a:endParaRPr b="1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visitou_em</a:t>
                      </a:r>
                      <a:endParaRPr b="1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43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3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b83d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1532046887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27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5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4g45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1516408487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19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1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b83d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1488414887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43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5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wqi4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1488674087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43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3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43gh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1527899687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27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3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xc19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Ubuntu"/>
                          <a:ea typeface="Ubuntu"/>
                          <a:cs typeface="Ubuntu"/>
                          <a:sym typeface="Ubuntu"/>
                        </a:rPr>
                        <a:t>1524184487</a:t>
                      </a:r>
                      <a:endParaRPr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2" name="Google Shape;442;p47"/>
          <p:cNvSpPr txBox="1"/>
          <p:nvPr>
            <p:ph idx="1" type="body"/>
          </p:nvPr>
        </p:nvSpPr>
        <p:spPr>
          <a:xfrm>
            <a:off x="199750" y="1392205"/>
            <a:ext cx="2729400" cy="3633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Input: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8"/>
          <p:cNvSpPr txBox="1"/>
          <p:nvPr>
            <p:ph type="title"/>
          </p:nvPr>
        </p:nvSpPr>
        <p:spPr>
          <a:xfrm>
            <a:off x="199725" y="0"/>
            <a:ext cx="89442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/>
              <a:t>Exemplo MapReduce - Quantos restaurantes cada user visitou?</a:t>
            </a:r>
            <a:endParaRPr sz="2600"/>
          </a:p>
        </p:txBody>
      </p:sp>
      <p:sp>
        <p:nvSpPr>
          <p:cNvPr id="448" name="Google Shape;448;p48"/>
          <p:cNvSpPr/>
          <p:nvPr/>
        </p:nvSpPr>
        <p:spPr>
          <a:xfrm>
            <a:off x="3026289" y="1470762"/>
            <a:ext cx="3091500" cy="49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latin typeface="Calibri"/>
                <a:ea typeface="Calibri"/>
                <a:cs typeface="Calibri"/>
                <a:sym typeface="Calibri"/>
              </a:rPr>
              <a:t>Mapper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latin typeface="Calibri"/>
                <a:ea typeface="Calibri"/>
                <a:cs typeface="Calibri"/>
                <a:sym typeface="Calibri"/>
              </a:rPr>
              <a:t>id_usuario:id_restaurante</a:t>
            </a:r>
            <a:br>
              <a:rPr lang="pt-BR" sz="900">
                <a:latin typeface="Calibri"/>
                <a:ea typeface="Calibri"/>
                <a:cs typeface="Calibri"/>
                <a:sym typeface="Calibri"/>
              </a:rPr>
            </a:br>
            <a:r>
              <a:rPr lang="pt-BR" sz="900">
                <a:latin typeface="Calibri"/>
                <a:ea typeface="Calibri"/>
                <a:cs typeface="Calibri"/>
                <a:sym typeface="Calibri"/>
              </a:rPr>
              <a:t>“restaurante visitados pelos usuários”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48"/>
          <p:cNvSpPr/>
          <p:nvPr/>
        </p:nvSpPr>
        <p:spPr>
          <a:xfrm>
            <a:off x="2431350" y="2189025"/>
            <a:ext cx="4281300" cy="31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43:b83d | 27:4g45 | </a:t>
            </a:r>
            <a:r>
              <a:rPr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19:b83d |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43:wqi4| 43:43gh | </a:t>
            </a:r>
            <a:r>
              <a:rPr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27:xc19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cog" id="450" name="Google Shape;45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0657" y="1470768"/>
            <a:ext cx="397029" cy="3716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1" name="Google Shape;451;p48"/>
          <p:cNvCxnSpPr>
            <a:stCxn id="452" idx="2"/>
            <a:endCxn id="448" idx="0"/>
          </p:cNvCxnSpPr>
          <p:nvPr/>
        </p:nvCxnSpPr>
        <p:spPr>
          <a:xfrm>
            <a:off x="4571987" y="1250968"/>
            <a:ext cx="0" cy="219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3" name="Google Shape;453;p48"/>
          <p:cNvCxnSpPr>
            <a:stCxn id="448" idx="2"/>
            <a:endCxn id="449" idx="0"/>
          </p:cNvCxnSpPr>
          <p:nvPr/>
        </p:nvCxnSpPr>
        <p:spPr>
          <a:xfrm>
            <a:off x="4572039" y="1969362"/>
            <a:ext cx="0" cy="219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52" name="Google Shape;452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1319" y="460700"/>
            <a:ext cx="2781336" cy="790268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8"/>
          <p:cNvSpPr/>
          <p:nvPr/>
        </p:nvSpPr>
        <p:spPr>
          <a:xfrm>
            <a:off x="3026289" y="2722461"/>
            <a:ext cx="3091500" cy="49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latin typeface="Calibri"/>
                <a:ea typeface="Calibri"/>
                <a:cs typeface="Calibri"/>
                <a:sym typeface="Calibri"/>
              </a:rPr>
              <a:t>Shuffle and Sort</a:t>
            </a:r>
            <a:br>
              <a:rPr lang="pt-BR" sz="1500">
                <a:latin typeface="Calibri"/>
                <a:ea typeface="Calibri"/>
                <a:cs typeface="Calibri"/>
                <a:sym typeface="Calibri"/>
              </a:rPr>
            </a:br>
            <a:r>
              <a:rPr lang="pt-BR" sz="800">
                <a:latin typeface="Calibri"/>
                <a:ea typeface="Calibri"/>
                <a:cs typeface="Calibri"/>
                <a:sym typeface="Calibri"/>
              </a:rPr>
              <a:t>(embaralhar e ordenar)</a:t>
            </a:r>
            <a:endParaRPr sz="4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5" name="Google Shape;455;p48"/>
          <p:cNvCxnSpPr>
            <a:stCxn id="449" idx="2"/>
            <a:endCxn id="454" idx="0"/>
          </p:cNvCxnSpPr>
          <p:nvPr/>
        </p:nvCxnSpPr>
        <p:spPr>
          <a:xfrm>
            <a:off x="4572000" y="2502825"/>
            <a:ext cx="0" cy="219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Image result for cog" id="456" name="Google Shape;45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0657" y="2722459"/>
            <a:ext cx="397029" cy="371646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48"/>
          <p:cNvSpPr/>
          <p:nvPr/>
        </p:nvSpPr>
        <p:spPr>
          <a:xfrm>
            <a:off x="2431350" y="3441749"/>
            <a:ext cx="4281300" cy="31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19:b83d | 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27:4g45,</a:t>
            </a:r>
            <a:r>
              <a:rPr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xc19 |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43:43gh,b83d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wqi4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8" name="Google Shape;458;p48"/>
          <p:cNvCxnSpPr>
            <a:endCxn id="457" idx="0"/>
          </p:cNvCxnSpPr>
          <p:nvPr/>
        </p:nvCxnSpPr>
        <p:spPr>
          <a:xfrm>
            <a:off x="4572000" y="3221849"/>
            <a:ext cx="0" cy="219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9" name="Google Shape;459;p48"/>
          <p:cNvSpPr/>
          <p:nvPr/>
        </p:nvSpPr>
        <p:spPr>
          <a:xfrm>
            <a:off x="3026289" y="3975184"/>
            <a:ext cx="3091500" cy="49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latin typeface="Calibri"/>
                <a:ea typeface="Calibri"/>
                <a:cs typeface="Calibri"/>
                <a:sym typeface="Calibri"/>
              </a:rPr>
              <a:t>Reducer</a:t>
            </a:r>
            <a:br>
              <a:rPr lang="pt-BR" sz="1500">
                <a:latin typeface="Calibri"/>
                <a:ea typeface="Calibri"/>
                <a:cs typeface="Calibri"/>
                <a:sym typeface="Calibri"/>
              </a:rPr>
            </a:br>
            <a:r>
              <a:rPr lang="pt-BR" sz="900">
                <a:latin typeface="Calibri"/>
                <a:ea typeface="Calibri"/>
                <a:cs typeface="Calibri"/>
                <a:sym typeface="Calibri"/>
              </a:rPr>
              <a:t>função: tamanho(values)</a:t>
            </a:r>
            <a:br>
              <a:rPr lang="pt-BR" sz="900">
                <a:latin typeface="Calibri"/>
                <a:ea typeface="Calibri"/>
                <a:cs typeface="Calibri"/>
                <a:sym typeface="Calibri"/>
              </a:rPr>
            </a:br>
            <a:r>
              <a:rPr lang="pt-BR" sz="900"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pt-BR" sz="900">
                <a:latin typeface="Calibri"/>
                <a:ea typeface="Calibri"/>
                <a:cs typeface="Calibri"/>
                <a:sym typeface="Calibri"/>
              </a:rPr>
              <a:t>quantidade de restaurante visitados”</a:t>
            </a:r>
            <a:endParaRPr sz="5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0" name="Google Shape;460;p48"/>
          <p:cNvCxnSpPr>
            <a:stCxn id="457" idx="2"/>
            <a:endCxn id="459" idx="0"/>
          </p:cNvCxnSpPr>
          <p:nvPr/>
        </p:nvCxnSpPr>
        <p:spPr>
          <a:xfrm>
            <a:off x="4572000" y="3755549"/>
            <a:ext cx="0" cy="219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Image result for cog" id="461" name="Google Shape;46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0657" y="3976208"/>
            <a:ext cx="397029" cy="371646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8"/>
          <p:cNvSpPr/>
          <p:nvPr/>
        </p:nvSpPr>
        <p:spPr>
          <a:xfrm>
            <a:off x="2431350" y="4694472"/>
            <a:ext cx="4281300" cy="31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19:1 | 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27:2</a:t>
            </a:r>
            <a:r>
              <a:rPr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43:3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3" name="Google Shape;463;p48"/>
          <p:cNvCxnSpPr>
            <a:endCxn id="462" idx="0"/>
          </p:cNvCxnSpPr>
          <p:nvPr/>
        </p:nvCxnSpPr>
        <p:spPr>
          <a:xfrm>
            <a:off x="4572000" y="4474572"/>
            <a:ext cx="0" cy="219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Image result for mapreduce logo" id="464" name="Google Shape;464;p48"/>
          <p:cNvPicPr preferRelativeResize="0"/>
          <p:nvPr/>
        </p:nvPicPr>
        <p:blipFill rotWithShape="1">
          <a:blip r:embed="rId5">
            <a:alphaModFix/>
          </a:blip>
          <a:srcRect b="6491" l="7711" r="5051" t="3345"/>
          <a:stretch/>
        </p:blipFill>
        <p:spPr>
          <a:xfrm>
            <a:off x="1296646" y="2754348"/>
            <a:ext cx="1562091" cy="43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9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MapReduce - Exemplo 2</a:t>
            </a:r>
            <a:endParaRPr/>
          </a:p>
        </p:txBody>
      </p:sp>
      <p:pic>
        <p:nvPicPr>
          <p:cNvPr id="470" name="Google Shape;470;p49"/>
          <p:cNvPicPr preferRelativeResize="0"/>
          <p:nvPr/>
        </p:nvPicPr>
        <p:blipFill rotWithShape="1">
          <a:blip r:embed="rId3">
            <a:alphaModFix/>
          </a:blip>
          <a:srcRect b="88131" l="0" r="0" t="0"/>
          <a:stretch/>
        </p:blipFill>
        <p:spPr>
          <a:xfrm>
            <a:off x="361100" y="608500"/>
            <a:ext cx="8173625" cy="52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9"/>
          <p:cNvPicPr preferRelativeResize="0"/>
          <p:nvPr/>
        </p:nvPicPr>
        <p:blipFill rotWithShape="1">
          <a:blip r:embed="rId3">
            <a:alphaModFix/>
          </a:blip>
          <a:srcRect b="0" l="21857" r="58374" t="11870"/>
          <a:stretch/>
        </p:blipFill>
        <p:spPr>
          <a:xfrm>
            <a:off x="2147626" y="1131025"/>
            <a:ext cx="1615751" cy="388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49"/>
          <p:cNvPicPr preferRelativeResize="0"/>
          <p:nvPr/>
        </p:nvPicPr>
        <p:blipFill rotWithShape="1">
          <a:blip r:embed="rId3">
            <a:alphaModFix/>
          </a:blip>
          <a:srcRect b="0" l="0" r="78143" t="11870"/>
          <a:stretch/>
        </p:blipFill>
        <p:spPr>
          <a:xfrm>
            <a:off x="361100" y="1131025"/>
            <a:ext cx="1786525" cy="388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49"/>
          <p:cNvPicPr preferRelativeResize="0"/>
          <p:nvPr/>
        </p:nvPicPr>
        <p:blipFill rotWithShape="1">
          <a:blip r:embed="rId3">
            <a:alphaModFix/>
          </a:blip>
          <a:srcRect b="0" l="41626" r="39429" t="11870"/>
          <a:stretch/>
        </p:blipFill>
        <p:spPr>
          <a:xfrm>
            <a:off x="3763375" y="1131025"/>
            <a:ext cx="1548426" cy="388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49"/>
          <p:cNvPicPr preferRelativeResize="0"/>
          <p:nvPr/>
        </p:nvPicPr>
        <p:blipFill rotWithShape="1">
          <a:blip r:embed="rId3">
            <a:alphaModFix/>
          </a:blip>
          <a:srcRect b="0" l="60568" r="19663" t="11870"/>
          <a:stretch/>
        </p:blipFill>
        <p:spPr>
          <a:xfrm>
            <a:off x="5311800" y="1131025"/>
            <a:ext cx="1615751" cy="388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49"/>
          <p:cNvPicPr preferRelativeResize="0"/>
          <p:nvPr/>
        </p:nvPicPr>
        <p:blipFill rotWithShape="1">
          <a:blip r:embed="rId3">
            <a:alphaModFix/>
          </a:blip>
          <a:srcRect b="0" l="80232" r="0" t="11870"/>
          <a:stretch/>
        </p:blipFill>
        <p:spPr>
          <a:xfrm>
            <a:off x="6918974" y="1131025"/>
            <a:ext cx="1615751" cy="3880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0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Resumindo</a:t>
            </a:r>
            <a:endParaRPr/>
          </a:p>
        </p:txBody>
      </p:sp>
      <p:pic>
        <p:nvPicPr>
          <p:cNvPr id="481" name="Google Shape;48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88300"/>
            <a:ext cx="8839197" cy="4290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1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Resumindo</a:t>
            </a:r>
            <a:endParaRPr/>
          </a:p>
        </p:txBody>
      </p:sp>
      <p:pic>
        <p:nvPicPr>
          <p:cNvPr id="487" name="Google Shape;487;p51"/>
          <p:cNvPicPr preferRelativeResize="0"/>
          <p:nvPr/>
        </p:nvPicPr>
        <p:blipFill rotWithShape="1">
          <a:blip r:embed="rId3">
            <a:alphaModFix/>
          </a:blip>
          <a:srcRect b="55966" l="0" r="0" t="0"/>
          <a:stretch/>
        </p:blipFill>
        <p:spPr>
          <a:xfrm>
            <a:off x="199725" y="739850"/>
            <a:ext cx="8522699" cy="179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51"/>
          <p:cNvPicPr preferRelativeResize="0"/>
          <p:nvPr/>
        </p:nvPicPr>
        <p:blipFill rotWithShape="1">
          <a:blip r:embed="rId3">
            <a:alphaModFix/>
          </a:blip>
          <a:srcRect b="21949" l="0" r="0" t="44031"/>
          <a:stretch/>
        </p:blipFill>
        <p:spPr>
          <a:xfrm>
            <a:off x="199725" y="2536775"/>
            <a:ext cx="8522699" cy="138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51"/>
          <p:cNvPicPr preferRelativeResize="0"/>
          <p:nvPr/>
        </p:nvPicPr>
        <p:blipFill rotWithShape="1">
          <a:blip r:embed="rId3">
            <a:alphaModFix/>
          </a:blip>
          <a:srcRect b="0" l="0" r="0" t="78765"/>
          <a:stretch/>
        </p:blipFill>
        <p:spPr>
          <a:xfrm>
            <a:off x="199725" y="3954150"/>
            <a:ext cx="8522699" cy="86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2"/>
          <p:cNvSpPr txBox="1"/>
          <p:nvPr>
            <p:ph type="ctrTitle"/>
          </p:nvPr>
        </p:nvSpPr>
        <p:spPr>
          <a:xfrm>
            <a:off x="150300" y="460687"/>
            <a:ext cx="88434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Prática MapReduce</a:t>
            </a:r>
            <a:endParaRPr/>
          </a:p>
        </p:txBody>
      </p:sp>
      <p:sp>
        <p:nvSpPr>
          <p:cNvPr id="495" name="Google Shape;495;p52"/>
          <p:cNvSpPr txBox="1"/>
          <p:nvPr>
            <p:ph idx="1" type="subTitle"/>
          </p:nvPr>
        </p:nvSpPr>
        <p:spPr>
          <a:xfrm>
            <a:off x="150300" y="1278450"/>
            <a:ext cx="83328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The Data Society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3"/>
          <p:cNvSpPr txBox="1"/>
          <p:nvPr>
            <p:ph type="ctrTitle"/>
          </p:nvPr>
        </p:nvSpPr>
        <p:spPr>
          <a:xfrm>
            <a:off x="300800" y="1565345"/>
            <a:ext cx="88434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Backup</a:t>
            </a:r>
            <a:endParaRPr/>
          </a:p>
        </p:txBody>
      </p:sp>
      <p:sp>
        <p:nvSpPr>
          <p:cNvPr id="501" name="Google Shape;501;p53"/>
          <p:cNvSpPr txBox="1"/>
          <p:nvPr>
            <p:ph idx="1" type="subTitle"/>
          </p:nvPr>
        </p:nvSpPr>
        <p:spPr>
          <a:xfrm>
            <a:off x="300800" y="2351002"/>
            <a:ext cx="83328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54"/>
          <p:cNvPicPr preferRelativeResize="0"/>
          <p:nvPr/>
        </p:nvPicPr>
        <p:blipFill rotWithShape="1">
          <a:blip r:embed="rId3">
            <a:alphaModFix/>
          </a:blip>
          <a:srcRect b="28881" l="0" r="0" t="0"/>
          <a:stretch/>
        </p:blipFill>
        <p:spPr>
          <a:xfrm>
            <a:off x="937650" y="762926"/>
            <a:ext cx="6723775" cy="2340926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54"/>
          <p:cNvSpPr/>
          <p:nvPr/>
        </p:nvSpPr>
        <p:spPr>
          <a:xfrm>
            <a:off x="988550" y="1413875"/>
            <a:ext cx="785100" cy="319800"/>
          </a:xfrm>
          <a:prstGeom prst="rect">
            <a:avLst/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54"/>
          <p:cNvSpPr/>
          <p:nvPr/>
        </p:nvSpPr>
        <p:spPr>
          <a:xfrm rot="-8860">
            <a:off x="1911673" y="1413690"/>
            <a:ext cx="116400" cy="319800"/>
          </a:xfrm>
          <a:prstGeom prst="rect">
            <a:avLst/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54"/>
          <p:cNvSpPr/>
          <p:nvPr/>
        </p:nvSpPr>
        <p:spPr>
          <a:xfrm>
            <a:off x="2078900" y="1413875"/>
            <a:ext cx="675900" cy="319800"/>
          </a:xfrm>
          <a:prstGeom prst="rect">
            <a:avLst/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54"/>
          <p:cNvSpPr/>
          <p:nvPr/>
        </p:nvSpPr>
        <p:spPr>
          <a:xfrm>
            <a:off x="3169138" y="1413875"/>
            <a:ext cx="391200" cy="319800"/>
          </a:xfrm>
          <a:prstGeom prst="rect">
            <a:avLst/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54"/>
          <p:cNvSpPr/>
          <p:nvPr/>
        </p:nvSpPr>
        <p:spPr>
          <a:xfrm>
            <a:off x="3590012" y="1413875"/>
            <a:ext cx="1200000" cy="319800"/>
          </a:xfrm>
          <a:prstGeom prst="rect">
            <a:avLst/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54"/>
          <p:cNvSpPr/>
          <p:nvPr/>
        </p:nvSpPr>
        <p:spPr>
          <a:xfrm>
            <a:off x="4823750" y="1413875"/>
            <a:ext cx="1943400" cy="319800"/>
          </a:xfrm>
          <a:prstGeom prst="rect">
            <a:avLst/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54"/>
          <p:cNvSpPr/>
          <p:nvPr/>
        </p:nvSpPr>
        <p:spPr>
          <a:xfrm>
            <a:off x="988550" y="2118675"/>
            <a:ext cx="785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00CEF6"/>
                </a:solidFill>
                <a:latin typeface="Calibri"/>
                <a:ea typeface="Calibri"/>
                <a:cs typeface="Calibri"/>
                <a:sym typeface="Calibri"/>
              </a:rPr>
              <a:t>Permissões</a:t>
            </a:r>
            <a:endParaRPr b="1" sz="900">
              <a:solidFill>
                <a:srgbClr val="00CE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54"/>
          <p:cNvSpPr/>
          <p:nvPr/>
        </p:nvSpPr>
        <p:spPr>
          <a:xfrm>
            <a:off x="1577325" y="2466900"/>
            <a:ext cx="785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Fator Replicação</a:t>
            </a:r>
            <a:endParaRPr b="1"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54"/>
          <p:cNvSpPr/>
          <p:nvPr/>
        </p:nvSpPr>
        <p:spPr>
          <a:xfrm>
            <a:off x="2024300" y="2815125"/>
            <a:ext cx="785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Grupo e Usuário</a:t>
            </a:r>
            <a:endParaRPr b="1"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54"/>
          <p:cNvSpPr/>
          <p:nvPr/>
        </p:nvSpPr>
        <p:spPr>
          <a:xfrm>
            <a:off x="2972200" y="2118675"/>
            <a:ext cx="785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Tamanho</a:t>
            </a:r>
            <a:endParaRPr b="1"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54"/>
          <p:cNvSpPr/>
          <p:nvPr/>
        </p:nvSpPr>
        <p:spPr>
          <a:xfrm>
            <a:off x="3590000" y="2466900"/>
            <a:ext cx="1200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 modificação</a:t>
            </a:r>
            <a:endParaRPr b="1"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54"/>
          <p:cNvSpPr/>
          <p:nvPr/>
        </p:nvSpPr>
        <p:spPr>
          <a:xfrm>
            <a:off x="5195450" y="2815125"/>
            <a:ext cx="1200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Nome e caminho</a:t>
            </a:r>
            <a:endParaRPr b="1"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9" name="Google Shape;519;p54"/>
          <p:cNvCxnSpPr>
            <a:stCxn id="507" idx="2"/>
            <a:endCxn id="513" idx="0"/>
          </p:cNvCxnSpPr>
          <p:nvPr/>
        </p:nvCxnSpPr>
        <p:spPr>
          <a:xfrm flipH="1" rot="-5400000">
            <a:off x="1188950" y="1925825"/>
            <a:ext cx="384900" cy="600"/>
          </a:xfrm>
          <a:prstGeom prst="bentConnector3">
            <a:avLst>
              <a:gd fmla="val 50013" name="adj1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" name="Google Shape;520;p54"/>
          <p:cNvCxnSpPr>
            <a:stCxn id="514" idx="0"/>
            <a:endCxn id="508" idx="2"/>
          </p:cNvCxnSpPr>
          <p:nvPr/>
        </p:nvCxnSpPr>
        <p:spPr>
          <a:xfrm rot="-5400000">
            <a:off x="1603425" y="2099850"/>
            <a:ext cx="733500" cy="600"/>
          </a:xfrm>
          <a:prstGeom prst="bentConnector3">
            <a:avLst>
              <a:gd fmla="val 49984" name="adj1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1" name="Google Shape;521;p54"/>
          <p:cNvCxnSpPr>
            <a:stCxn id="515" idx="0"/>
            <a:endCxn id="509" idx="2"/>
          </p:cNvCxnSpPr>
          <p:nvPr/>
        </p:nvCxnSpPr>
        <p:spPr>
          <a:xfrm rot="-5400000">
            <a:off x="1876400" y="2274075"/>
            <a:ext cx="1081500" cy="6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54"/>
          <p:cNvCxnSpPr>
            <a:stCxn id="516" idx="0"/>
            <a:endCxn id="510" idx="2"/>
          </p:cNvCxnSpPr>
          <p:nvPr/>
        </p:nvCxnSpPr>
        <p:spPr>
          <a:xfrm rot="-5400000">
            <a:off x="3172600" y="1925925"/>
            <a:ext cx="384900" cy="600"/>
          </a:xfrm>
          <a:prstGeom prst="bentConnector3">
            <a:avLst>
              <a:gd fmla="val 50013" name="adj1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" name="Google Shape;523;p54"/>
          <p:cNvCxnSpPr>
            <a:stCxn id="517" idx="0"/>
            <a:endCxn id="511" idx="2"/>
          </p:cNvCxnSpPr>
          <p:nvPr/>
        </p:nvCxnSpPr>
        <p:spPr>
          <a:xfrm rot="-5400000">
            <a:off x="3823700" y="2100000"/>
            <a:ext cx="733200" cy="600"/>
          </a:xfrm>
          <a:prstGeom prst="bentConnector3">
            <a:avLst>
              <a:gd fmla="val 50002" name="adj1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54"/>
          <p:cNvCxnSpPr>
            <a:stCxn id="518" idx="0"/>
            <a:endCxn id="512" idx="2"/>
          </p:cNvCxnSpPr>
          <p:nvPr/>
        </p:nvCxnSpPr>
        <p:spPr>
          <a:xfrm rot="-5400000">
            <a:off x="5255000" y="2274075"/>
            <a:ext cx="1081500" cy="6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5" name="Google Shape;525;p54"/>
          <p:cNvPicPr preferRelativeResize="0"/>
          <p:nvPr/>
        </p:nvPicPr>
        <p:blipFill rotWithShape="1">
          <a:blip r:embed="rId3">
            <a:alphaModFix/>
          </a:blip>
          <a:srcRect b="1089" l="0" r="0" t="95049"/>
          <a:stretch/>
        </p:blipFill>
        <p:spPr>
          <a:xfrm>
            <a:off x="937650" y="3103850"/>
            <a:ext cx="6723775" cy="12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5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Data-Exemplo</a:t>
            </a:r>
            <a:endParaRPr/>
          </a:p>
        </p:txBody>
      </p:sp>
      <p:sp>
        <p:nvSpPr>
          <p:cNvPr id="531" name="Google Shape;531;p55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32" name="Google Shape;532;p55"/>
          <p:cNvSpPr/>
          <p:nvPr/>
        </p:nvSpPr>
        <p:spPr>
          <a:xfrm rot="10800000">
            <a:off x="103917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3" name="Google Shape;533;p55"/>
          <p:cNvSpPr/>
          <p:nvPr/>
        </p:nvSpPr>
        <p:spPr>
          <a:xfrm>
            <a:off x="103907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Produção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[Fontes de Dados]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4" name="Google Shape;534;p55"/>
          <p:cNvSpPr/>
          <p:nvPr/>
        </p:nvSpPr>
        <p:spPr>
          <a:xfrm rot="10800000">
            <a:off x="2697350" y="1213975"/>
            <a:ext cx="3749400" cy="3100200"/>
          </a:xfrm>
          <a:prstGeom prst="round2SameRect">
            <a:avLst>
              <a:gd fmla="val 5836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55"/>
          <p:cNvSpPr/>
          <p:nvPr/>
        </p:nvSpPr>
        <p:spPr>
          <a:xfrm>
            <a:off x="2697275" y="1134125"/>
            <a:ext cx="37494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Ecossistema Big Data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6" name="Google Shape;536;p55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7" name="Google Shape;537;p55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8" name="Google Shape;538;p55"/>
          <p:cNvSpPr/>
          <p:nvPr/>
        </p:nvSpPr>
        <p:spPr>
          <a:xfrm>
            <a:off x="3991588" y="1875300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Streaming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9" name="Google Shape;539;p55"/>
          <p:cNvSpPr/>
          <p:nvPr/>
        </p:nvSpPr>
        <p:spPr>
          <a:xfrm>
            <a:off x="5364175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Organização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0" name="Google Shape;540;p55"/>
          <p:cNvSpPr/>
          <p:nvPr/>
        </p:nvSpPr>
        <p:spPr>
          <a:xfrm>
            <a:off x="3991588" y="2693875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Batch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1" name="Google Shape;541;p55"/>
          <p:cNvSpPr/>
          <p:nvPr/>
        </p:nvSpPr>
        <p:spPr>
          <a:xfrm>
            <a:off x="2844925" y="3405475"/>
            <a:ext cx="3477600" cy="2577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Sistema de Arquivos Distribuídos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2" name="Google Shape;542;p55"/>
          <p:cNvSpPr/>
          <p:nvPr/>
        </p:nvSpPr>
        <p:spPr>
          <a:xfrm>
            <a:off x="2844925" y="3753350"/>
            <a:ext cx="3477600" cy="4482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Processamento, Armazenamento, Rede, Infraestrutura 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3" name="Google Shape;543;p55"/>
          <p:cNvSpPr/>
          <p:nvPr/>
        </p:nvSpPr>
        <p:spPr>
          <a:xfrm>
            <a:off x="2337000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55"/>
          <p:cNvSpPr/>
          <p:nvPr/>
        </p:nvSpPr>
        <p:spPr>
          <a:xfrm>
            <a:off x="2834300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Ingestão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5" name="Google Shape;545;p55"/>
          <p:cNvSpPr/>
          <p:nvPr/>
        </p:nvSpPr>
        <p:spPr>
          <a:xfrm>
            <a:off x="3815850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55"/>
          <p:cNvSpPr/>
          <p:nvPr/>
        </p:nvSpPr>
        <p:spPr>
          <a:xfrm>
            <a:off x="3815850" y="29325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55"/>
          <p:cNvSpPr/>
          <p:nvPr/>
        </p:nvSpPr>
        <p:spPr>
          <a:xfrm>
            <a:off x="5184125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55"/>
          <p:cNvSpPr/>
          <p:nvPr/>
        </p:nvSpPr>
        <p:spPr>
          <a:xfrm>
            <a:off x="5184138" y="2810828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55"/>
          <p:cNvSpPr/>
          <p:nvPr/>
        </p:nvSpPr>
        <p:spPr>
          <a:xfrm rot="10800000">
            <a:off x="5184125" y="30468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55"/>
          <p:cNvSpPr/>
          <p:nvPr/>
        </p:nvSpPr>
        <p:spPr>
          <a:xfrm>
            <a:off x="6500788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55"/>
          <p:cNvSpPr txBox="1"/>
          <p:nvPr/>
        </p:nvSpPr>
        <p:spPr>
          <a:xfrm>
            <a:off x="1039100" y="18026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Humano-Humano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[Redes Sociais]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[Smart Devices]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Máquina-Máquina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[Supervisório]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Transações Business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2" name="Google Shape;552;p55"/>
          <p:cNvSpPr txBox="1"/>
          <p:nvPr/>
        </p:nvSpPr>
        <p:spPr>
          <a:xfrm>
            <a:off x="6861150" y="17994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Diagnóstico</a:t>
            </a:r>
            <a:endParaRPr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Predição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Visualização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Sumarização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Relatórios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heus - Facen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