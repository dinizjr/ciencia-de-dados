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309" r:id="rId3"/>
    <p:sldId id="311" r:id="rId4"/>
    <p:sldId id="312" r:id="rId5"/>
    <p:sldId id="313" r:id="rId6"/>
    <p:sldId id="308" r:id="rId7"/>
    <p:sldId id="315" r:id="rId8"/>
    <p:sldId id="316" r:id="rId9"/>
    <p:sldId id="314" r:id="rId10"/>
    <p:sldId id="318" r:id="rId11"/>
    <p:sldId id="319" r:id="rId12"/>
    <p:sldId id="321" r:id="rId13"/>
    <p:sldId id="320" r:id="rId14"/>
    <p:sldId id="322" r:id="rId15"/>
    <p:sldId id="325" r:id="rId16"/>
    <p:sldId id="326" r:id="rId17"/>
    <p:sldId id="327" r:id="rId18"/>
    <p:sldId id="328" r:id="rId19"/>
    <p:sldId id="329" r:id="rId20"/>
    <p:sldId id="332" r:id="rId21"/>
    <p:sldId id="330" r:id="rId22"/>
    <p:sldId id="331" r:id="rId23"/>
    <p:sldId id="333" r:id="rId24"/>
    <p:sldId id="335" r:id="rId25"/>
    <p:sldId id="336" r:id="rId26"/>
    <p:sldId id="337" r:id="rId27"/>
    <p:sldId id="338" r:id="rId28"/>
    <p:sldId id="339" r:id="rId29"/>
    <p:sldId id="341" r:id="rId30"/>
    <p:sldId id="342" r:id="rId31"/>
    <p:sldId id="343" r:id="rId32"/>
    <p:sldId id="344" r:id="rId33"/>
    <p:sldId id="317" r:id="rId34"/>
    <p:sldId id="310" r:id="rId35"/>
  </p:sldIdLst>
  <p:sldSz cx="9144000" cy="5143500" type="screen16x9"/>
  <p:notesSz cx="6858000" cy="9144000"/>
  <p:embeddedFontLst>
    <p:embeddedFont>
      <p:font typeface="Oswald" panose="020B0604020202020204" charset="0"/>
      <p:regular r:id="rId37"/>
      <p:bold r:id="rId38"/>
    </p:embeddedFont>
    <p:embeddedFont>
      <p:font typeface="Alien League" panose="020B0604020202020204" charset="0"/>
      <p:regular r:id="rId39"/>
    </p:embeddedFont>
    <p:embeddedFont>
      <p:font typeface="Source Sans Pr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D722C9-3CAB-4DCC-862C-09F11F744D65}">
  <a:tblStyle styleId="{37D722C9-3CAB-4DCC-862C-09F11F744D65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108" y="46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Moura Evangelista" userId="1c6633a31e9b3934" providerId="Windows Live" clId="Web-{68A5F542-C607-4E38-AA45-73FC6E1DF2D1}"/>
    <pc:docChg chg="modSld">
      <pc:chgData name="Tiago Moura Evangelista" userId="1c6633a31e9b3934" providerId="Windows Live" clId="Web-{68A5F542-C607-4E38-AA45-73FC6E1DF2D1}" dt="2018-04-16T22:28:46.197" v="4"/>
      <pc:docMkLst>
        <pc:docMk/>
      </pc:docMkLst>
      <pc:sldChg chg="modSp">
        <pc:chgData name="Tiago Moura Evangelista" userId="1c6633a31e9b3934" providerId="Windows Live" clId="Web-{68A5F542-C607-4E38-AA45-73FC6E1DF2D1}" dt="2018-04-16T22:28:44.447" v="2"/>
        <pc:sldMkLst>
          <pc:docMk/>
          <pc:sldMk cId="0" sldId="256"/>
        </pc:sldMkLst>
        <pc:spChg chg="mod">
          <ac:chgData name="Tiago Moura Evangelista" userId="1c6633a31e9b3934" providerId="Windows Live" clId="Web-{68A5F542-C607-4E38-AA45-73FC6E1DF2D1}" dt="2018-04-16T22:28:44.447" v="2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799993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904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228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725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892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310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591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651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205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516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987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067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561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830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120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560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879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6745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241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053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357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101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4813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15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477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691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0533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852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4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41484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208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8269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44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0" t="0" r="0" b="0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0" t="0" r="0" b="0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 rot="8100000">
            <a:off x="1847980" y="18145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" name="Shape 36"/>
          <p:cNvSpPr/>
          <p:nvPr/>
        </p:nvSpPr>
        <p:spPr>
          <a:xfrm rot="8100000">
            <a:off x="6038980" y="20984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/>
          <p:nvPr/>
        </p:nvSpPr>
        <p:spPr>
          <a:xfrm rot="8100000">
            <a:off x="7181980" y="21317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8" name="Shape 38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39" name="Shape 39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40" name="Shape 40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41" name="Shape 41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42" name="Shape 42"/>
          <p:cNvGrpSpPr/>
          <p:nvPr/>
        </p:nvGrpSpPr>
        <p:grpSpPr>
          <a:xfrm>
            <a:off x="-42837" y="2005087"/>
            <a:ext cx="9229574" cy="642787"/>
            <a:chOff x="-42837" y="4443487"/>
            <a:chExt cx="9229574" cy="642787"/>
          </a:xfrm>
        </p:grpSpPr>
        <p:sp>
          <p:nvSpPr>
            <p:cNvPr id="43" name="Shape 43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" name="Shape 50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" name="Shape 52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" name="Shape 61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8" name="Shape 68"/>
          <p:cNvSpPr/>
          <p:nvPr/>
        </p:nvSpPr>
        <p:spPr>
          <a:xfrm>
            <a:off x="2990700" y="21478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/>
          <p:nvPr/>
        </p:nvSpPr>
        <p:spPr>
          <a:xfrm>
            <a:off x="1085700" y="24335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4895700" y="20776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" name="Shape 71"/>
          <p:cNvSpPr/>
          <p:nvPr/>
        </p:nvSpPr>
        <p:spPr>
          <a:xfrm rot="8100000">
            <a:off x="8699949" y="18907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ctrTitle"/>
          </p:nvPr>
        </p:nvSpPr>
        <p:spPr>
          <a:xfrm>
            <a:off x="2847975" y="3363425"/>
            <a:ext cx="5610300" cy="11597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-28575" y="4446775"/>
            <a:ext cx="9191625" cy="712477"/>
          </a:xfrm>
          <a:custGeom>
            <a:avLst/>
            <a:gdLst/>
            <a:ahLst/>
            <a:cxnLst/>
            <a:rect l="0" t="0" r="0" b="0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-28575" y="4578111"/>
            <a:ext cx="9191625" cy="584438"/>
          </a:xfrm>
          <a:custGeom>
            <a:avLst/>
            <a:gdLst/>
            <a:ahLst/>
            <a:cxnLst/>
            <a:rect l="0" t="0" r="0" b="0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 rot="8100000">
            <a:off x="1847980" y="42529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3" name="Shape 163"/>
          <p:cNvSpPr/>
          <p:nvPr/>
        </p:nvSpPr>
        <p:spPr>
          <a:xfrm rot="8100000">
            <a:off x="6038980" y="45368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/>
          <p:nvPr/>
        </p:nvSpPr>
        <p:spPr>
          <a:xfrm rot="8100000">
            <a:off x="7181980" y="45701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165" name="Shape 16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66" name="Shape 166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67" name="Shape 167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68" name="Shape 168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169" name="Shape 169"/>
          <p:cNvGrpSpPr/>
          <p:nvPr/>
        </p:nvGrpSpPr>
        <p:grpSpPr>
          <a:xfrm>
            <a:off x="-42837" y="4443487"/>
            <a:ext cx="9229574" cy="642787"/>
            <a:chOff x="-42837" y="4443487"/>
            <a:chExt cx="9229574" cy="642787"/>
          </a:xfrm>
        </p:grpSpPr>
        <p:sp>
          <p:nvSpPr>
            <p:cNvPr id="170" name="Shape 170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" name="Shape 171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" name="Shape 174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" name="Shape 176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" name="Shape 177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" name="Shape 181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" name="Shape 182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" name="Shape 183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" name="Shape 184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" name="Shape 185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" name="Shape 186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" name="Shape 187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" name="Shape 192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95" name="Shape 195"/>
          <p:cNvSpPr/>
          <p:nvPr/>
        </p:nvSpPr>
        <p:spPr>
          <a:xfrm>
            <a:off x="2990700" y="45862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6" name="Shape 196"/>
          <p:cNvSpPr/>
          <p:nvPr/>
        </p:nvSpPr>
        <p:spPr>
          <a:xfrm>
            <a:off x="1085700" y="48719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7" name="Shape 197"/>
          <p:cNvSpPr/>
          <p:nvPr/>
        </p:nvSpPr>
        <p:spPr>
          <a:xfrm>
            <a:off x="4895700" y="45160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8" name="Shape 198"/>
          <p:cNvSpPr/>
          <p:nvPr/>
        </p:nvSpPr>
        <p:spPr>
          <a:xfrm rot="8100000">
            <a:off x="8699949" y="43291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 6"/>
          <p:cNvGrpSpPr/>
          <p:nvPr/>
        </p:nvGrpSpPr>
        <p:grpSpPr>
          <a:xfrm>
            <a:off x="381000" y="7"/>
            <a:ext cx="8382000" cy="5162348"/>
            <a:chOff x="381000" y="-18750"/>
            <a:chExt cx="8382000" cy="5180999"/>
          </a:xfrm>
        </p:grpSpPr>
        <p:cxnSp>
          <p:nvCxnSpPr>
            <p:cNvPr id="7" name="Shape 7"/>
            <p:cNvCxnSpPr/>
            <p:nvPr/>
          </p:nvCxnSpPr>
          <p:spPr>
            <a:xfrm>
              <a:off x="76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" name="Shape 8"/>
            <p:cNvCxnSpPr/>
            <p:nvPr/>
          </p:nvCxnSpPr>
          <p:spPr>
            <a:xfrm>
              <a:off x="1524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" name="Shape 9"/>
            <p:cNvCxnSpPr/>
            <p:nvPr/>
          </p:nvCxnSpPr>
          <p:spPr>
            <a:xfrm>
              <a:off x="2286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" name="Shape 10"/>
            <p:cNvCxnSpPr/>
            <p:nvPr/>
          </p:nvCxnSpPr>
          <p:spPr>
            <a:xfrm>
              <a:off x="3048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" name="Shape 11"/>
            <p:cNvCxnSpPr/>
            <p:nvPr/>
          </p:nvCxnSpPr>
          <p:spPr>
            <a:xfrm>
              <a:off x="3810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2" name="Shape 12"/>
            <p:cNvCxnSpPr/>
            <p:nvPr/>
          </p:nvCxnSpPr>
          <p:spPr>
            <a:xfrm>
              <a:off x="457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3" name="Shape 13"/>
            <p:cNvCxnSpPr/>
            <p:nvPr/>
          </p:nvCxnSpPr>
          <p:spPr>
            <a:xfrm>
              <a:off x="5334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4" name="Shape 14"/>
            <p:cNvCxnSpPr/>
            <p:nvPr/>
          </p:nvCxnSpPr>
          <p:spPr>
            <a:xfrm>
              <a:off x="6096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5" name="Shape 15"/>
            <p:cNvCxnSpPr/>
            <p:nvPr/>
          </p:nvCxnSpPr>
          <p:spPr>
            <a:xfrm>
              <a:off x="6858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6" name="Shape 16"/>
            <p:cNvCxnSpPr/>
            <p:nvPr/>
          </p:nvCxnSpPr>
          <p:spPr>
            <a:xfrm>
              <a:off x="7620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7" name="Shape 17"/>
            <p:cNvCxnSpPr/>
            <p:nvPr/>
          </p:nvCxnSpPr>
          <p:spPr>
            <a:xfrm>
              <a:off x="838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8" name="Shape 18"/>
            <p:cNvCxnSpPr/>
            <p:nvPr/>
          </p:nvCxnSpPr>
          <p:spPr>
            <a:xfrm>
              <a:off x="38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19" name="Shape 19"/>
            <p:cNvCxnSpPr/>
            <p:nvPr/>
          </p:nvCxnSpPr>
          <p:spPr>
            <a:xfrm>
              <a:off x="114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0" name="Shape 20"/>
            <p:cNvCxnSpPr/>
            <p:nvPr/>
          </p:nvCxnSpPr>
          <p:spPr>
            <a:xfrm>
              <a:off x="1905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1" name="Shape 21"/>
            <p:cNvCxnSpPr/>
            <p:nvPr/>
          </p:nvCxnSpPr>
          <p:spPr>
            <a:xfrm>
              <a:off x="2667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2" name="Shape 22"/>
            <p:cNvCxnSpPr/>
            <p:nvPr/>
          </p:nvCxnSpPr>
          <p:spPr>
            <a:xfrm>
              <a:off x="3429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3" name="Shape 23"/>
            <p:cNvCxnSpPr/>
            <p:nvPr/>
          </p:nvCxnSpPr>
          <p:spPr>
            <a:xfrm>
              <a:off x="419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4" name="Shape 24"/>
            <p:cNvCxnSpPr/>
            <p:nvPr/>
          </p:nvCxnSpPr>
          <p:spPr>
            <a:xfrm>
              <a:off x="495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5" name="Shape 25"/>
            <p:cNvCxnSpPr/>
            <p:nvPr/>
          </p:nvCxnSpPr>
          <p:spPr>
            <a:xfrm>
              <a:off x="5715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6" name="Shape 26"/>
            <p:cNvCxnSpPr/>
            <p:nvPr/>
          </p:nvCxnSpPr>
          <p:spPr>
            <a:xfrm>
              <a:off x="6477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7" name="Shape 27"/>
            <p:cNvCxnSpPr/>
            <p:nvPr/>
          </p:nvCxnSpPr>
          <p:spPr>
            <a:xfrm>
              <a:off x="7239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8" name="Shape 28"/>
            <p:cNvCxnSpPr/>
            <p:nvPr/>
          </p:nvCxnSpPr>
          <p:spPr>
            <a:xfrm>
              <a:off x="800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9" name="Shape 29"/>
            <p:cNvCxnSpPr/>
            <p:nvPr/>
          </p:nvCxnSpPr>
          <p:spPr>
            <a:xfrm>
              <a:off x="876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</p:grpSp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28324A"/>
              </a:buClr>
              <a:buSzPct val="100000"/>
              <a:buFont typeface="Source Sans Pro"/>
              <a:buChar char="◉"/>
              <a:defRPr sz="20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480"/>
              </a:spcBef>
              <a:buClr>
                <a:srgbClr val="28324A"/>
              </a:buClr>
              <a:buSzPct val="100000"/>
              <a:buFont typeface="Source Sans Pro"/>
              <a:buChar char="◉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48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ctrTitle"/>
          </p:nvPr>
        </p:nvSpPr>
        <p:spPr>
          <a:xfrm>
            <a:off x="3533700" y="3363838"/>
            <a:ext cx="5610300" cy="1159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Algoritmos Genéticos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084168" y="267494"/>
            <a:ext cx="3137397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t-BR" sz="2000" dirty="0">
                <a:latin typeface="Alien League" pitchFamily="2" charset="0"/>
              </a:rPr>
              <a:t>Tiago Moura Evangelista</a:t>
            </a:r>
          </a:p>
          <a:p>
            <a:r>
              <a:rPr lang="pt-BR" sz="2000" dirty="0">
                <a:latin typeface="Alien League" pitchFamily="2" charset="0"/>
              </a:rPr>
              <a:t>Prof. Dr. Celso Camilo</a:t>
            </a:r>
          </a:p>
          <a:p>
            <a:r>
              <a:rPr lang="pt-BR" sz="2000" dirty="0">
                <a:latin typeface="Alien League" pitchFamily="2" charset="0"/>
              </a:rPr>
              <a:t>Inteligência Computacional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Darwin (1859) em sua “A Origem das Espécies” apresenta sua teoria a respeito da seleção e evolução dos indivíduos na natureza.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i="1" dirty="0">
                <a:latin typeface="+mj-lt"/>
              </a:rPr>
              <a:t>“</a:t>
            </a:r>
            <a:r>
              <a:rPr lang="pt-BR" sz="3200" i="1" dirty="0"/>
              <a:t>As espécies evoluem pelo principio da seleção natural e sobrevivência do mais apto.</a:t>
            </a:r>
            <a:r>
              <a:rPr lang="pt-BR" sz="3000" i="1" dirty="0">
                <a:latin typeface="+mj-lt"/>
              </a:rPr>
              <a:t>”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800468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 err="1">
                <a:latin typeface="+mj-lt"/>
              </a:rPr>
              <a:t>Gregor</a:t>
            </a:r>
            <a:r>
              <a:rPr lang="pt-BR" sz="3000" dirty="0">
                <a:latin typeface="+mj-lt"/>
              </a:rPr>
              <a:t> Mendel (1865) apresenta uma coletânea de experimentos resultantes do cruzamento genético entre ervilhas.</a:t>
            </a:r>
          </a:p>
          <a:p>
            <a:pPr algn="ctr">
              <a:buNone/>
            </a:pPr>
            <a:endParaRPr lang="pt-BR" sz="3000" i="1" dirty="0">
              <a:latin typeface="+mj-lt"/>
            </a:endParaRPr>
          </a:p>
          <a:p>
            <a:pPr algn="ctr">
              <a:buNone/>
            </a:pPr>
            <a:r>
              <a:rPr lang="pt-BR" sz="3000" i="1" dirty="0">
                <a:latin typeface="+mj-lt"/>
              </a:rPr>
              <a:t>Pai da Genética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907404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Teoria da Evolução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108012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Tem seu início a partir da conceituação integrada entre a seleção natural e a genética.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19" y="1923678"/>
            <a:ext cx="7459762" cy="259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2589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Teoria da Evolução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38437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Como base da </a:t>
            </a:r>
            <a:r>
              <a:rPr lang="pt-BR" sz="3000" dirty="0" err="1">
                <a:latin typeface="+mj-lt"/>
              </a:rPr>
              <a:t>metaheurística</a:t>
            </a:r>
            <a:r>
              <a:rPr lang="pt-BR" sz="3000" dirty="0">
                <a:latin typeface="+mj-lt"/>
              </a:rPr>
              <a:t> dos algoritmos genéticos, temos que: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i="1" dirty="0">
                <a:latin typeface="+mj-lt"/>
              </a:rPr>
              <a:t> Os indivíduos mais adaptados sobrevivem e transmitem suas características para as gerações seguintes</a:t>
            </a:r>
          </a:p>
        </p:txBody>
      </p:sp>
    </p:spTree>
    <p:extLst>
      <p:ext uri="{BB962C8B-B14F-4D97-AF65-F5344CB8AC3E}">
        <p14:creationId xmlns:p14="http://schemas.microsoft.com/office/powerpoint/2010/main" val="58568300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419622"/>
            <a:ext cx="9144000" cy="302433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Técnica de Inteligência Artificial criada a partir da imitação de determinados processos observados na evolução natural das espécies, para otimização e solução de problemas complexos.</a:t>
            </a:r>
          </a:p>
          <a:p>
            <a:pPr algn="ctr">
              <a:buNone/>
            </a:pPr>
            <a:r>
              <a:rPr lang="pt-BR" sz="3000" dirty="0">
                <a:latin typeface="+mj-lt"/>
              </a:rPr>
              <a:t>(GOLDBERG,1989)</a:t>
            </a:r>
          </a:p>
        </p:txBody>
      </p:sp>
    </p:spTree>
    <p:extLst>
      <p:ext uri="{BB962C8B-B14F-4D97-AF65-F5344CB8AC3E}">
        <p14:creationId xmlns:p14="http://schemas.microsoft.com/office/powerpoint/2010/main" val="396486159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915566"/>
            <a:ext cx="9144000" cy="3528392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Caráter Estocástico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Trabalha com uma população de soluções simultâneas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Utiliza apenas informações de custo e recompensa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Trabalham com uma codificação dos parâmetros</a:t>
            </a:r>
          </a:p>
          <a:p>
            <a:pPr marL="542925" lvl="2" indent="355600">
              <a:buFont typeface="Courier New" panose="02070309020205020404" pitchFamily="49" charset="0"/>
              <a:buChar char="o"/>
            </a:pPr>
            <a:r>
              <a:rPr lang="pt-BR" sz="2500" dirty="0">
                <a:latin typeface="+mj-lt"/>
              </a:rPr>
              <a:t>Não com os parâmetros em si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182857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Não requer outras informações auxiliares</a:t>
            </a:r>
          </a:p>
          <a:p>
            <a:pPr marL="542925" lvl="2" indent="355600">
              <a:buFont typeface="Courier New" panose="02070309020205020404" pitchFamily="49" charset="0"/>
              <a:buChar char="o"/>
            </a:pPr>
            <a:r>
              <a:rPr lang="pt-BR" sz="2500" dirty="0">
                <a:latin typeface="+mj-lt"/>
              </a:rPr>
              <a:t>Gradiente, Derivadas, Código Inerente...</a:t>
            </a:r>
            <a:endParaRPr lang="pt-BR" sz="27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Facilidade de Implementação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Paralelismo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Parâmetros Contínuos ou Discretos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Regras de Transição Probabilísticas</a:t>
            </a:r>
          </a:p>
          <a:p>
            <a:pPr marL="898525" indent="-355600">
              <a:buFont typeface="Courier New" panose="02070309020205020404" pitchFamily="49" charset="0"/>
              <a:buChar char="o"/>
            </a:pPr>
            <a:r>
              <a:rPr lang="pt-BR" sz="2500" dirty="0">
                <a:latin typeface="+mj-lt"/>
              </a:rPr>
              <a:t>Ao invés de Determinísticas</a:t>
            </a:r>
          </a:p>
        </p:txBody>
      </p:sp>
    </p:spTree>
    <p:extLst>
      <p:ext uri="{BB962C8B-B14F-4D97-AF65-F5344CB8AC3E}">
        <p14:creationId xmlns:p14="http://schemas.microsoft.com/office/powerpoint/2010/main" val="295536886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8820472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Espaço de Busca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Representações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Cromossomos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Função Objetivo (fitness)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Factibilidade</a:t>
            </a:r>
          </a:p>
          <a:p>
            <a:pPr marL="622300" lvl="2" indent="-457200">
              <a:buFont typeface="Courier New" panose="02070309020205020404" pitchFamily="49" charset="0"/>
              <a:buChar char="o"/>
              <a:tabLst>
                <a:tab pos="622300" algn="l"/>
              </a:tabLst>
            </a:pPr>
            <a:r>
              <a:rPr lang="pt-BR" sz="2500" i="1" dirty="0">
                <a:latin typeface="+mj-lt"/>
              </a:rPr>
              <a:t>Ou não...</a:t>
            </a: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Operadores Genéticos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Elitismo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  <p:sp>
        <p:nvSpPr>
          <p:cNvPr id="4" name="Shape 486"/>
          <p:cNvSpPr txBox="1">
            <a:spLocks/>
          </p:cNvSpPr>
          <p:nvPr/>
        </p:nvSpPr>
        <p:spPr>
          <a:xfrm>
            <a:off x="4644008" y="843904"/>
            <a:ext cx="4644008" cy="360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Char char="◉"/>
              <a:defRPr sz="20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Char char="◉"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ct val="100000"/>
              <a:buFont typeface="Source Sans Pro"/>
              <a:buNone/>
              <a:defRPr sz="1800" b="0" i="0" u="none" strike="noStrike" cap="none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>
              <a:buNone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403603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Espaço de Busca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Conjunto todas as soluções possíveis (ótimas ou não) para a função objetivo em questão.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Espaço onde serão inseridos um contingente finito de indivíduos na inicialização, e que serão responsáveis pela 1ª época na busca pela otimização do problema.</a:t>
            </a:r>
          </a:p>
        </p:txBody>
      </p:sp>
    </p:spTree>
    <p:extLst>
      <p:ext uri="{BB962C8B-B14F-4D97-AF65-F5344CB8AC3E}">
        <p14:creationId xmlns:p14="http://schemas.microsoft.com/office/powerpoint/2010/main" val="2578669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Representações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419622"/>
            <a:ext cx="9144000" cy="302433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pt-BR" sz="3000" dirty="0">
                <a:latin typeface="+mj-lt"/>
              </a:rPr>
              <a:t>Também chamado de codificação, depende de vários aspectos do problema, como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Natureza das variáveis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Natureza da decisão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104255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Representações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419622"/>
            <a:ext cx="9144000" cy="302433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pt-BR" sz="3000" dirty="0">
                <a:latin typeface="+mj-lt"/>
              </a:rPr>
              <a:t>Influência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Operadores Genéticos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Função Objetivo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Condição de Parada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865109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Cromossomos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Faz parte do item anterior “Representação”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O cromossomo é o responsável pela representação (codificação) de cada indivíduo único da população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Nele são realizadas as operações responsáveis pela evolução da busca/otimização.</a:t>
            </a:r>
          </a:p>
        </p:txBody>
      </p:sp>
    </p:spTree>
    <p:extLst>
      <p:ext uri="{BB962C8B-B14F-4D97-AF65-F5344CB8AC3E}">
        <p14:creationId xmlns:p14="http://schemas.microsoft.com/office/powerpoint/2010/main" val="95666196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 Objetivo (</a:t>
            </a:r>
            <a:r>
              <a:rPr lang="en" sz="5000" i="1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Responsável por avaliar a adaptabilidade de cada possível solução ao ambiente em questão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Atribui uma nota para cada cromossomo de forma a possibilitar a avaliação posterior sobre sua contribuição na resolução do problema, ou não.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Define a qualidade do indivíduo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Inerente ao Problema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063098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Factibilidade (ou não…)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Escolhida a codificação para um problema podem ocorrer vários casos de infactibilidade que dependem da forma em</a:t>
            </a:r>
          </a:p>
          <a:p>
            <a:pPr algn="ctr">
              <a:buNone/>
            </a:pPr>
            <a:r>
              <a:rPr lang="pt-BR" sz="3000" dirty="0">
                <a:latin typeface="+mj-lt"/>
              </a:rPr>
              <a:t>que é especificada a codificação, da natureza do problema e dos operadores genéticos escolhidos ou projetados.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981040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Factibilidade (ou não…)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000" dirty="0">
                <a:latin typeface="+mj-lt"/>
              </a:rPr>
              <a:t>Toda configuração gerada é factível e os operadores mantém esta característica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000" dirty="0">
                <a:latin typeface="+mj-lt"/>
              </a:rPr>
              <a:t>A população inicial é factível, porém os operadores genéticos podem criar configurações infactíveis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000" dirty="0">
                <a:latin typeface="+mj-lt"/>
              </a:rPr>
              <a:t>A população inicial é factível </a:t>
            </a:r>
            <a:r>
              <a:rPr lang="pt-BR" sz="3000" dirty="0" err="1">
                <a:latin typeface="+mj-lt"/>
              </a:rPr>
              <a:t>einfactível</a:t>
            </a:r>
            <a:r>
              <a:rPr lang="pt-BR" sz="3000" dirty="0">
                <a:latin typeface="+mj-lt"/>
              </a:rPr>
              <a:t>, e os operadores mantém esta </a:t>
            </a:r>
            <a:r>
              <a:rPr lang="pt-BR" sz="3000" dirty="0" err="1">
                <a:latin typeface="+mj-lt"/>
              </a:rPr>
              <a:t>caracteristica</a:t>
            </a:r>
            <a:endParaRPr lang="pt-BR" sz="3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61151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Factibilidade (ou não…)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131590"/>
            <a:ext cx="9144000" cy="3312368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pt-BR" sz="3000" dirty="0">
                <a:latin typeface="+mj-lt"/>
              </a:rPr>
              <a:t>Solução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Contornar as populações infactíveis eliminando-as ou tratando-as com heurísticas velozes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Penalizar a função objetivo para os casos de infactibilidade</a:t>
            </a:r>
          </a:p>
        </p:txBody>
      </p:sp>
    </p:spTree>
    <p:extLst>
      <p:ext uri="{BB962C8B-B14F-4D97-AF65-F5344CB8AC3E}">
        <p14:creationId xmlns:p14="http://schemas.microsoft.com/office/powerpoint/2010/main" val="74949209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563638"/>
            <a:ext cx="9144000" cy="288032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Tem por objetivo escolher dentre a população atual quais os indivíduos que melhor colaboram para a resolução do problema, definindo assim se poderão repassar seus genes para a próxima geração de indivíduos.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</a:t>
            </a:r>
          </a:p>
        </p:txBody>
      </p:sp>
    </p:spTree>
    <p:extLst>
      <p:ext uri="{BB962C8B-B14F-4D97-AF65-F5344CB8AC3E}">
        <p14:creationId xmlns:p14="http://schemas.microsoft.com/office/powerpoint/2010/main" val="69515091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851670"/>
            <a:ext cx="9144000" cy="2592288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Cada cromossomo tem o direito de gerar um numero de descendentes proporcional ao valor da adaptação</a:t>
            </a:r>
          </a:p>
          <a:p>
            <a:pPr>
              <a:buNone/>
            </a:pPr>
            <a:endParaRPr lang="pt-BR" sz="3000" dirty="0">
              <a:latin typeface="+mj-lt"/>
            </a:endParaRPr>
          </a:p>
          <a:p>
            <a:pPr>
              <a:buNone/>
            </a:pPr>
            <a:r>
              <a:rPr lang="pt-BR" sz="3000" dirty="0">
                <a:latin typeface="+mj-lt"/>
              </a:rPr>
              <a:t>Probabilidade da seleção : 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 Proporcional - Roleta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3603616"/>
            <a:ext cx="1296169" cy="87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4144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 Proporcional - Roleta</a:t>
            </a:r>
          </a:p>
        </p:txBody>
      </p:sp>
      <p:pic>
        <p:nvPicPr>
          <p:cNvPr id="1026" name="Picture 2" descr="http://www.obitko.com/tutorials/genetic-algorithms/portuguese/images/rwsgraph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79662"/>
            <a:ext cx="5878733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414687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Número não-inteiro de descendentes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Padronização dos problemas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Trata de formas diferentes problemas de maximização e minimização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Convergência Prematura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Perda de Seletividade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 Proporcional - Problemas</a:t>
            </a:r>
          </a:p>
        </p:txBody>
      </p:sp>
    </p:spTree>
    <p:extLst>
      <p:ext uri="{BB962C8B-B14F-4D97-AF65-F5344CB8AC3E}">
        <p14:creationId xmlns:p14="http://schemas.microsoft.com/office/powerpoint/2010/main" val="3068174927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Difere significativamente da seleção proporcional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Computacionalmente Rápida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Estratégia igual para Maximizações e Minimizações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Depende apenas de valores relativos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Número de descendentes inteiro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 por Torneio</a:t>
            </a:r>
          </a:p>
        </p:txBody>
      </p:sp>
    </p:spTree>
    <p:extLst>
      <p:ext uri="{BB962C8B-B14F-4D97-AF65-F5344CB8AC3E}">
        <p14:creationId xmlns:p14="http://schemas.microsoft.com/office/powerpoint/2010/main" val="177101228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Escolher inicialmente com a mesma probabilidade n indivíduos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Selecionar o cromossomo com maior aptidão dentre os n escolhidos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Repetir até completar a população desejada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 por Torneio - Método</a:t>
            </a:r>
          </a:p>
        </p:txBody>
      </p:sp>
    </p:spTree>
    <p:extLst>
      <p:ext uri="{BB962C8B-B14F-4D97-AF65-F5344CB8AC3E}">
        <p14:creationId xmlns:p14="http://schemas.microsoft.com/office/powerpoint/2010/main" val="3049074846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Utilizado após a operação de seleção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Troca genética entre pares de cromossomos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Origina novos indivíduos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Propaga características positivas dos indivíduos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Permite explorar áreas desconhecidas do espaço de busca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Cruzamento ou Recombinação</a:t>
            </a:r>
          </a:p>
        </p:txBody>
      </p:sp>
    </p:spTree>
    <p:extLst>
      <p:ext uri="{BB962C8B-B14F-4D97-AF65-F5344CB8AC3E}">
        <p14:creationId xmlns:p14="http://schemas.microsoft.com/office/powerpoint/2010/main" val="259800176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Ponto Único : Escolhe-se um ponto aleatório para realizar a troca de material genético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Cruzamento ou Recombinação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357080"/>
            <a:ext cx="5578538" cy="210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60048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Ponto Duplo : Escolhem-se dois pontos aleatórios para realizar a troca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Cruzamento ou Recombinação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355726"/>
            <a:ext cx="554492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6541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2139702"/>
            <a:ext cx="9144000" cy="230425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Pontos Aleatórios: podemos criar uma máscara para determinar qual material virá de cada ancestral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Cruzamento ou Recombinação</a:t>
            </a:r>
          </a:p>
        </p:txBody>
      </p:sp>
    </p:spTree>
    <p:extLst>
      <p:ext uri="{BB962C8B-B14F-4D97-AF65-F5344CB8AC3E}">
        <p14:creationId xmlns:p14="http://schemas.microsoft.com/office/powerpoint/2010/main" val="1390852736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Cruzamento ou Recombinação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700" y="1203598"/>
            <a:ext cx="4254599" cy="32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27818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Após a criação da nova população, são realizadas Mutações, a uma taxa significativamente baixa, nos indivíduos recém-criados.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Mutação</a:t>
            </a:r>
          </a:p>
        </p:txBody>
      </p:sp>
    </p:spTree>
    <p:extLst>
      <p:ext uri="{BB962C8B-B14F-4D97-AF65-F5344CB8AC3E}">
        <p14:creationId xmlns:p14="http://schemas.microsoft.com/office/powerpoint/2010/main" val="215900983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Ela assegura diversidade genética a população, bem como também permitir a melhor exploração do espaço de busca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Mutação</a:t>
            </a:r>
          </a:p>
        </p:txBody>
      </p:sp>
    </p:spTree>
    <p:extLst>
      <p:ext uri="{BB962C8B-B14F-4D97-AF65-F5344CB8AC3E}">
        <p14:creationId xmlns:p14="http://schemas.microsoft.com/office/powerpoint/2010/main" val="1331309205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Genéticos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1347614"/>
            <a:ext cx="9144000" cy="3096344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Estratégias diversas na literatura:</a:t>
            </a:r>
          </a:p>
          <a:p>
            <a:pPr marL="457200" indent="-457200" algn="ctr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Cada mutação independe da condição dos outros genes e </a:t>
            </a:r>
            <a:r>
              <a:rPr lang="pt-BR" sz="3000" dirty="0" err="1">
                <a:latin typeface="+mj-lt"/>
              </a:rPr>
              <a:t>cromossonos</a:t>
            </a:r>
            <a:endParaRPr lang="pt-BR" sz="3000" dirty="0">
              <a:latin typeface="+mj-lt"/>
            </a:endParaRPr>
          </a:p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pt-BR" sz="3000" dirty="0">
                <a:latin typeface="+mj-lt"/>
              </a:rPr>
              <a:t>Taxa de Mutação relativa a toda a população recém-criada</a:t>
            </a:r>
          </a:p>
          <a:p>
            <a:pPr marL="457200" indent="-457200" algn="ctr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 algn="ctr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  <p:sp>
        <p:nvSpPr>
          <p:cNvPr id="4" name="Shape 485"/>
          <p:cNvSpPr txBox="1">
            <a:spLocks/>
          </p:cNvSpPr>
          <p:nvPr/>
        </p:nvSpPr>
        <p:spPr>
          <a:xfrm>
            <a:off x="-22747" y="843904"/>
            <a:ext cx="9144000" cy="5037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ct val="100000"/>
              <a:buFont typeface="Oswald"/>
              <a:buNone/>
              <a:defRPr sz="2000" b="1" i="0" u="none" strike="noStrike" cap="none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 sz="4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Mutação</a:t>
            </a:r>
          </a:p>
        </p:txBody>
      </p:sp>
    </p:spTree>
    <p:extLst>
      <p:ext uri="{BB962C8B-B14F-4D97-AF65-F5344CB8AC3E}">
        <p14:creationId xmlns:p14="http://schemas.microsoft.com/office/powerpoint/2010/main" val="2892415168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Elitismo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sz="3000" dirty="0">
                <a:latin typeface="+mj-lt"/>
              </a:rPr>
              <a:t>Conceito que questiona se podemos destruir o melhor individuo durante o processo.</a:t>
            </a:r>
          </a:p>
          <a:p>
            <a:pPr algn="ctr">
              <a:buNone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r>
              <a:rPr lang="pt-BR" sz="3000" dirty="0">
                <a:latin typeface="+mj-lt"/>
              </a:rPr>
              <a:t>Repassar ou não repassar os melhores indivíduos para a população de descendentes?</a:t>
            </a:r>
          </a:p>
          <a:p>
            <a:pPr marL="457200" indent="-457200" algn="ctr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marL="457200" indent="-457200" algn="ctr">
              <a:buFont typeface="Wingdings" panose="05000000000000000000" pitchFamily="2" charset="2"/>
              <a:buChar char="§"/>
            </a:pPr>
            <a:endParaRPr lang="pt-BR" sz="3000" dirty="0">
              <a:latin typeface="+mj-lt"/>
            </a:endParaRPr>
          </a:p>
          <a:p>
            <a:pPr algn="ctr">
              <a:buNone/>
            </a:pP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0874963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0" y="6908"/>
            <a:ext cx="9144000" cy="83665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5000" dirty="0">
                <a:solidFill>
                  <a:srgbClr val="009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Algoritmo</a:t>
            </a: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0" y="843558"/>
            <a:ext cx="9144000" cy="360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3000" dirty="0">
                <a:latin typeface="+mj-lt"/>
              </a:rPr>
              <a:t>Gerar a população inicial.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000" dirty="0">
                <a:latin typeface="+mj-lt"/>
              </a:rPr>
              <a:t>Avaliar cada indivíduo da população.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000" dirty="0">
                <a:latin typeface="+mj-lt"/>
              </a:rPr>
              <a:t>Enquanto o critério de parada não for satisfeito:</a:t>
            </a:r>
          </a:p>
          <a:p>
            <a:pPr marL="987425" lvl="6" indent="-457200">
              <a:buFont typeface="+mj-lt"/>
              <a:buAutoNum type="romanUcPeriod"/>
            </a:pPr>
            <a:r>
              <a:rPr lang="pt-BR" sz="2300" dirty="0">
                <a:latin typeface="+mj-lt"/>
              </a:rPr>
              <a:t>Selecionar os indivíduos mais aptos.</a:t>
            </a:r>
          </a:p>
          <a:p>
            <a:pPr marL="987425" lvl="6" indent="-457200">
              <a:buFont typeface="+mj-lt"/>
              <a:buAutoNum type="romanUcPeriod"/>
            </a:pPr>
            <a:r>
              <a:rPr lang="pt-BR" sz="2300" dirty="0">
                <a:latin typeface="+mj-lt"/>
              </a:rPr>
              <a:t>Criar novos indivíduos aplicando os operadores </a:t>
            </a:r>
            <a:r>
              <a:rPr lang="pt-BR" sz="2300" i="1" dirty="0">
                <a:latin typeface="+mj-lt"/>
              </a:rPr>
              <a:t>crossover</a:t>
            </a:r>
            <a:r>
              <a:rPr lang="pt-BR" sz="2300" dirty="0">
                <a:latin typeface="+mj-lt"/>
              </a:rPr>
              <a:t> e mutação</a:t>
            </a:r>
          </a:p>
          <a:p>
            <a:pPr marL="987425" lvl="6" indent="-457200">
              <a:buFont typeface="+mj-lt"/>
              <a:buAutoNum type="romanUcPeriod"/>
            </a:pPr>
            <a:r>
              <a:rPr lang="pt-BR" sz="2300" dirty="0">
                <a:latin typeface="+mj-lt"/>
              </a:rPr>
              <a:t>Armazenar os novos indivíduos em uma nova população</a:t>
            </a:r>
          </a:p>
          <a:p>
            <a:pPr marL="987425" lvl="6" indent="-457200">
              <a:buFont typeface="+mj-lt"/>
              <a:buAutoNum type="romanUcPeriod"/>
            </a:pPr>
            <a:r>
              <a:rPr lang="pt-BR" sz="2300" dirty="0">
                <a:latin typeface="+mj-lt"/>
              </a:rPr>
              <a:t>Avaliar cada indivíduo da nova população</a:t>
            </a:r>
          </a:p>
        </p:txBody>
      </p:sp>
    </p:spTree>
    <p:extLst>
      <p:ext uri="{BB962C8B-B14F-4D97-AF65-F5344CB8AC3E}">
        <p14:creationId xmlns:p14="http://schemas.microsoft.com/office/powerpoint/2010/main" val="2132414566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ctrTitle"/>
          </p:nvPr>
        </p:nvSpPr>
        <p:spPr>
          <a:xfrm>
            <a:off x="3533700" y="3363838"/>
            <a:ext cx="5610300" cy="1159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Algoritmos Genéticos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084168" y="267494"/>
            <a:ext cx="31373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Alien League" pitchFamily="2" charset="0"/>
              </a:rPr>
              <a:t>Tiago Moura Evangelista</a:t>
            </a:r>
          </a:p>
          <a:p>
            <a:r>
              <a:rPr lang="pt-BR" sz="2000" dirty="0">
                <a:latin typeface="Alien League" pitchFamily="2" charset="0"/>
              </a:rPr>
              <a:t>Prof. Dr. Celso </a:t>
            </a:r>
            <a:r>
              <a:rPr lang="pt-BR" sz="2000" dirty="0" err="1">
                <a:latin typeface="Alien League" pitchFamily="2" charset="0"/>
              </a:rPr>
              <a:t>camilo</a:t>
            </a:r>
            <a:endParaRPr lang="pt-BR" sz="2000" dirty="0">
              <a:latin typeface="Alien League" pitchFamily="2" charset="0"/>
            </a:endParaRPr>
          </a:p>
          <a:p>
            <a:r>
              <a:rPr lang="pt-BR" sz="2000" dirty="0">
                <a:latin typeface="Alien League" pitchFamily="2" charset="0"/>
              </a:rPr>
              <a:t>Inteligência Computacional</a:t>
            </a:r>
          </a:p>
        </p:txBody>
      </p:sp>
    </p:spTree>
    <p:extLst>
      <p:ext uri="{BB962C8B-B14F-4D97-AF65-F5344CB8AC3E}">
        <p14:creationId xmlns:p14="http://schemas.microsoft.com/office/powerpoint/2010/main" val="174973132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909</Words>
  <Application>Microsoft Office PowerPoint</Application>
  <PresentationFormat>Apresentação na tela (16:9)</PresentationFormat>
  <Paragraphs>162</Paragraphs>
  <Slides>34</Slides>
  <Notes>34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Quince template</vt:lpstr>
      <vt:lpstr>Algoritmos Genéticos</vt:lpstr>
      <vt:lpstr>Inspiração</vt:lpstr>
      <vt:lpstr>Inspiração</vt:lpstr>
      <vt:lpstr>Teoria da Evolução</vt:lpstr>
      <vt:lpstr>Teoria da Evolução</vt:lpstr>
      <vt:lpstr>Definição</vt:lpstr>
      <vt:lpstr>Definição</vt:lpstr>
      <vt:lpstr>Definição</vt:lpstr>
      <vt:lpstr>Conceitos</vt:lpstr>
      <vt:lpstr>Espaço de Busca</vt:lpstr>
      <vt:lpstr>Representações</vt:lpstr>
      <vt:lpstr>Representações</vt:lpstr>
      <vt:lpstr>Cromossomos</vt:lpstr>
      <vt:lpstr>Função Objetivo (Fitness)</vt:lpstr>
      <vt:lpstr>Factibilidade (ou não…)</vt:lpstr>
      <vt:lpstr>Factibilidade (ou não…)</vt:lpstr>
      <vt:lpstr>Factibilidade (ou não…)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Elitismo</vt:lpstr>
      <vt:lpstr>O Algoritmo</vt:lpstr>
      <vt:lpstr>Algoritmos Genéticos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Algorítmo Genético</dc:title>
  <cp:lastModifiedBy>Tiago Moura Evangelista</cp:lastModifiedBy>
  <cp:revision>27</cp:revision>
  <dcterms:modified xsi:type="dcterms:W3CDTF">2018-04-16T22:31:42Z</dcterms:modified>
</cp:coreProperties>
</file>